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0000"/>
    <a:srgbClr val="3B49FF"/>
    <a:srgbClr val="D86ECC"/>
    <a:srgbClr val="98288B"/>
    <a:srgbClr val="F5C2A5"/>
    <a:srgbClr val="DAA600"/>
    <a:srgbClr val="D5D000"/>
    <a:srgbClr val="A3AAFF"/>
    <a:srgbClr val="8FE2FF"/>
    <a:srgbClr val="2662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E541D2-8E7A-418A-82FB-8CC874E03681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3A7DF6-5451-4AEC-AA29-DD308A6386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874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3A7DF6-5451-4AEC-AA29-DD308A6386E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8263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E4338-82A6-22BD-354B-BBE0C44782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779809-0902-B82D-D4DC-5DAA3AFA08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8271A-0795-2542-9A63-229406AD4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921AD-BF03-4ABE-B985-D6A851D51F7C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5DDE1-5EBF-4DB6-913E-747288D2C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3D6FC0-F9F2-A7DA-FC13-762B80B76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484F7-A4E1-4729-B1BE-30A293A74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523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79BF9-D6C0-23EF-91BC-366986021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3CD93-0097-7459-A69B-C300B2EAD1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80B58D-8545-59ED-1F81-D99FE3C19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921AD-BF03-4ABE-B985-D6A851D51F7C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D8FF66-992C-4A9F-1A17-F3EFE194C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28629B-51E2-0A30-D456-D5D8028FC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484F7-A4E1-4729-B1BE-30A293A74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700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62AD2-323F-F727-4316-64A508D30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B52FE2-8FF3-5533-D03A-9341652794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327B28-30BA-B633-4EA7-AD50A4959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921AD-BF03-4ABE-B985-D6A851D51F7C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AF5850-3D49-7084-80CF-04F1AA80F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E8071E-8E72-1262-23D8-E6431CA70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484F7-A4E1-4729-B1BE-30A293A74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853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CE7E2-C0BE-EF81-2B26-005253A84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8D487-1585-D35B-CCA3-DB746C7BDE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80C2BC-FD33-2937-54D8-DF2971C0D4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6234DF-011B-BB97-27FA-6E48C3851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921AD-BF03-4ABE-B985-D6A851D51F7C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A74F67-B9E6-1EA6-F37A-356526629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023C99-2EA2-FB72-1643-15BC9D977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484F7-A4E1-4729-B1BE-30A293A74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369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107D1-D400-9F16-5C1B-1458752F3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3BFE8B-39B3-3683-4586-5095B63D8A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4F2AB0-A429-951A-8CE1-698D6959B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799C4D-EF43-9F50-5B19-B6BEA3DDC5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86CF3B-2251-6481-D020-6FC61765B3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D701E6-46AF-3EC1-F0D2-164980B64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921AD-BF03-4ABE-B985-D6A851D51F7C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926930-6EBD-0C42-AD71-B83171003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A25F53-EA1D-D4C8-5165-9FF56F539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484F7-A4E1-4729-B1BE-30A293A74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58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E5A27-04F4-34CA-FF38-FD528DDE0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88EBB1-219E-53D8-A8A8-49BCC7421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921AD-BF03-4ABE-B985-D6A851D51F7C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FA8199-5069-5A46-887F-BDD0ABCBE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4AAA69-635E-DF02-84A8-6A0D1FE06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484F7-A4E1-4729-B1BE-30A293A74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191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02A726-90CF-232D-F9FD-484095591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921AD-BF03-4ABE-B985-D6A851D51F7C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5B6F1F-9EA0-7449-2B0A-276E7FBAC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8066C4-918A-98ED-7FDD-8997AE0FF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484F7-A4E1-4729-B1BE-30A293A74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861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1C6D1-76D8-CA60-D1C0-233B543DF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74720-CF67-9694-D320-CDA506849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F534E3-F98C-A89F-3DE1-E19FABCAC5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6EE640-8873-5AFE-3758-67735C752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921AD-BF03-4ABE-B985-D6A851D51F7C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6670C8-669A-D0C4-0B33-775AB7F36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30B527-4603-E44B-3C04-736FD66BF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484F7-A4E1-4729-B1BE-30A293A74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845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DC334-AAC0-84C7-BE06-A97BB326B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3D3079-3810-1080-EA5B-55B7F38FD7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CDD8A5-C6E9-47B1-18E1-1382ACFB78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F60441-CA62-F192-8FE5-32EB24366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921AD-BF03-4ABE-B985-D6A851D51F7C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3D373E-A76B-FD67-591A-2A047437B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A7958D-4C00-FEEC-CBA8-34BF62A8D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484F7-A4E1-4729-B1BE-30A293A74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263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FC59F-CABD-1196-9198-04B4D2265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C032FE-95D7-68A8-67ED-0D26AFFEE4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44FBD-1FBA-E414-2FC9-CC6ECE499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921AD-BF03-4ABE-B985-D6A851D51F7C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D6DF79-26AC-7681-0C78-E403A918F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FCC26-48AC-E8ED-E242-1F4ADAED5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484F7-A4E1-4729-B1BE-30A293A74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053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483668-6F7A-A16D-61A9-B9B3E91360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50A2B9-27B8-E812-18D6-453A2B2832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675808-AF13-58A1-B48E-DDEDCBDAE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921AD-BF03-4ABE-B985-D6A851D51F7C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8FE5F6-223F-59DC-CC91-6E42CEC01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91F12-BDBF-C391-F21B-579285F2E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484F7-A4E1-4729-B1BE-30A293A74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198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68A8B6-A177-6706-272D-756976F04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4E0582-200D-1A43-197F-D627BFCF31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3FBA2-3128-64EB-C39B-55050C6493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8921AD-BF03-4ABE-B985-D6A851D51F7C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25B73D-4A4E-7B6D-5735-97013880E8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5E7E3B-5E12-F820-A6C5-9DC48140BB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F484F7-A4E1-4729-B1BE-30A293A74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69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C4655A9-E6E2-5C02-3297-898B4E432AC7}"/>
              </a:ext>
            </a:extLst>
          </p:cNvPr>
          <p:cNvSpPr/>
          <p:nvPr/>
        </p:nvSpPr>
        <p:spPr>
          <a:xfrm>
            <a:off x="9633857" y="1725385"/>
            <a:ext cx="1970314" cy="718457"/>
          </a:xfrm>
          <a:prstGeom prst="roundRect">
            <a:avLst/>
          </a:prstGeom>
          <a:solidFill>
            <a:srgbClr val="DAB6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rebuchet MS" panose="020B0603020202020204" pitchFamily="34" charset="0"/>
              </a:rPr>
              <a:t>Training Dataset (75%)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75A1102-5844-18D2-3B1D-DDF346287B86}"/>
              </a:ext>
            </a:extLst>
          </p:cNvPr>
          <p:cNvSpPr/>
          <p:nvPr/>
        </p:nvSpPr>
        <p:spPr>
          <a:xfrm>
            <a:off x="6787244" y="1295393"/>
            <a:ext cx="2264228" cy="1153885"/>
          </a:xfrm>
          <a:prstGeom prst="roundRect">
            <a:avLst/>
          </a:prstGeom>
          <a:solidFill>
            <a:srgbClr val="A3AAFF"/>
          </a:solidFill>
          <a:ln>
            <a:solidFill>
              <a:srgbClr val="A3AA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rebuchet MS" panose="020B0603020202020204" pitchFamily="34" charset="0"/>
              </a:rPr>
              <a:t>Data Standardization using </a:t>
            </a:r>
            <a:r>
              <a:rPr lang="en-US" sz="1400" b="1" dirty="0" err="1">
                <a:solidFill>
                  <a:schemeClr val="tx1"/>
                </a:solidFill>
                <a:latin typeface="Trebuchet MS" panose="020B0603020202020204" pitchFamily="34" charset="0"/>
              </a:rPr>
              <a:t>StandardScaler</a:t>
            </a:r>
            <a:endParaRPr lang="en-US" sz="1400" b="1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0ACC756-5D99-5503-14C3-C1301D28C5B8}"/>
              </a:ext>
            </a:extLst>
          </p:cNvPr>
          <p:cNvSpPr/>
          <p:nvPr/>
        </p:nvSpPr>
        <p:spPr>
          <a:xfrm>
            <a:off x="6787244" y="2737765"/>
            <a:ext cx="2264228" cy="1153885"/>
          </a:xfrm>
          <a:prstGeom prst="roundRect">
            <a:avLst/>
          </a:prstGeom>
          <a:solidFill>
            <a:srgbClr val="F5C2A5"/>
          </a:solidFill>
          <a:ln>
            <a:solidFill>
              <a:srgbClr val="F5C2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rebuchet MS" panose="020B0603020202020204" pitchFamily="34" charset="0"/>
              </a:rPr>
              <a:t>Machine Learning Models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A26FBF-B791-42AE-F050-9F0E0C7138B0}"/>
              </a:ext>
            </a:extLst>
          </p:cNvPr>
          <p:cNvSpPr/>
          <p:nvPr/>
        </p:nvSpPr>
        <p:spPr>
          <a:xfrm>
            <a:off x="3603172" y="1295393"/>
            <a:ext cx="2492828" cy="576943"/>
          </a:xfrm>
          <a:prstGeom prst="rect">
            <a:avLst/>
          </a:prstGeom>
          <a:solidFill>
            <a:srgbClr val="3B49FF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Trebuchet MS" panose="020B0603020202020204" pitchFamily="34" charset="0"/>
              </a:rPr>
              <a:t>Mean Square Error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C1E2148-9D36-6409-B8AB-EFDA9ADE7C2E}"/>
              </a:ext>
            </a:extLst>
          </p:cNvPr>
          <p:cNvSpPr/>
          <p:nvPr/>
        </p:nvSpPr>
        <p:spPr>
          <a:xfrm>
            <a:off x="3731081" y="5486397"/>
            <a:ext cx="2166255" cy="8164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rebuchet MS" panose="020B0603020202020204" pitchFamily="34" charset="0"/>
              </a:rPr>
              <a:t>Model Prediction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9EA1AE2-39F4-C2DD-0DB8-40EA68032635}"/>
              </a:ext>
            </a:extLst>
          </p:cNvPr>
          <p:cNvSpPr/>
          <p:nvPr/>
        </p:nvSpPr>
        <p:spPr>
          <a:xfrm>
            <a:off x="185056" y="2443842"/>
            <a:ext cx="2948438" cy="1262741"/>
          </a:xfrm>
          <a:prstGeom prst="ellipse">
            <a:avLst/>
          </a:prstGeom>
          <a:solidFill>
            <a:srgbClr val="FFC000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rebuchet MS" panose="020B0603020202020204" pitchFamily="34" charset="0"/>
              </a:rPr>
              <a:t>Real Time Prediction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22CD851-AA75-C542-2834-B2F20B9350DD}"/>
              </a:ext>
            </a:extLst>
          </p:cNvPr>
          <p:cNvSpPr/>
          <p:nvPr/>
        </p:nvSpPr>
        <p:spPr>
          <a:xfrm>
            <a:off x="185056" y="5775767"/>
            <a:ext cx="2514601" cy="527058"/>
          </a:xfrm>
          <a:prstGeom prst="rect">
            <a:avLst/>
          </a:prstGeom>
          <a:solidFill>
            <a:srgbClr val="E6F466"/>
          </a:solidFill>
          <a:ln>
            <a:solidFill>
              <a:srgbClr val="E6F4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rebuchet MS" panose="020B0603020202020204" pitchFamily="34" charset="0"/>
              </a:rPr>
              <a:t>Real Time Sample Data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82BF0F7-3FF4-695A-5653-27026B68F3FB}"/>
              </a:ext>
            </a:extLst>
          </p:cNvPr>
          <p:cNvSpPr/>
          <p:nvPr/>
        </p:nvSpPr>
        <p:spPr>
          <a:xfrm>
            <a:off x="4020311" y="163285"/>
            <a:ext cx="1551210" cy="576943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Trebuchet MS" panose="020B0603020202020204" pitchFamily="34" charset="0"/>
              </a:rPr>
              <a:t>Data </a:t>
            </a:r>
          </a:p>
          <a:p>
            <a:pPr algn="ctr"/>
            <a:r>
              <a:rPr lang="en-US" sz="1400" b="1" dirty="0">
                <a:latin typeface="Trebuchet MS" panose="020B0603020202020204" pitchFamily="34" charset="0"/>
              </a:rPr>
              <a:t>Collection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36CD91B-C8CD-03B9-595E-4391DFB68F5F}"/>
              </a:ext>
            </a:extLst>
          </p:cNvPr>
          <p:cNvSpPr/>
          <p:nvPr/>
        </p:nvSpPr>
        <p:spPr>
          <a:xfrm>
            <a:off x="6250469" y="163285"/>
            <a:ext cx="1730828" cy="576943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Trebuchet MS" panose="020B0603020202020204" pitchFamily="34" charset="0"/>
              </a:rPr>
              <a:t>Data Preprocessing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6CA8C77-A3EB-2E54-DB65-4FA7DA35A99A}"/>
              </a:ext>
            </a:extLst>
          </p:cNvPr>
          <p:cNvSpPr/>
          <p:nvPr/>
        </p:nvSpPr>
        <p:spPr>
          <a:xfrm>
            <a:off x="9116134" y="132807"/>
            <a:ext cx="1866897" cy="664028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Trebuchet MS" panose="020B0603020202020204" pitchFamily="34" charset="0"/>
              </a:rPr>
              <a:t>Featured Model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E520C50-F27C-81A3-680E-BE51EAC6FE37}"/>
              </a:ext>
            </a:extLst>
          </p:cNvPr>
          <p:cNvSpPr/>
          <p:nvPr/>
        </p:nvSpPr>
        <p:spPr>
          <a:xfrm>
            <a:off x="3603172" y="2084613"/>
            <a:ext cx="2492828" cy="576943"/>
          </a:xfrm>
          <a:prstGeom prst="rect">
            <a:avLst/>
          </a:prstGeom>
          <a:solidFill>
            <a:srgbClr val="3B49FF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Trebuchet MS" panose="020B0603020202020204" pitchFamily="34" charset="0"/>
              </a:rPr>
              <a:t>Mean Absolute Error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3F3ABFE-D6EA-BEAA-E471-F2EBF3FBAC4A}"/>
              </a:ext>
            </a:extLst>
          </p:cNvPr>
          <p:cNvSpPr/>
          <p:nvPr/>
        </p:nvSpPr>
        <p:spPr>
          <a:xfrm>
            <a:off x="3597728" y="2873833"/>
            <a:ext cx="2492828" cy="576943"/>
          </a:xfrm>
          <a:prstGeom prst="rect">
            <a:avLst/>
          </a:prstGeom>
          <a:solidFill>
            <a:srgbClr val="3B49FF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Trebuchet MS" panose="020B0603020202020204" pitchFamily="34" charset="0"/>
              </a:rPr>
              <a:t>Root Mean Square Error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23F3F20-3872-ED29-3E99-3AEB8CD99096}"/>
              </a:ext>
            </a:extLst>
          </p:cNvPr>
          <p:cNvSpPr/>
          <p:nvPr/>
        </p:nvSpPr>
        <p:spPr>
          <a:xfrm>
            <a:off x="3597728" y="3657597"/>
            <a:ext cx="2492828" cy="576943"/>
          </a:xfrm>
          <a:prstGeom prst="rect">
            <a:avLst/>
          </a:prstGeom>
          <a:solidFill>
            <a:srgbClr val="3B49FF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Trebuchet MS" panose="020B0603020202020204" pitchFamily="34" charset="0"/>
              </a:rPr>
              <a:t>Root Mean Square Percent Error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7047D8D-4E9A-9A37-9E56-120453FF3EFE}"/>
              </a:ext>
            </a:extLst>
          </p:cNvPr>
          <p:cNvSpPr/>
          <p:nvPr/>
        </p:nvSpPr>
        <p:spPr>
          <a:xfrm>
            <a:off x="3597728" y="4441361"/>
            <a:ext cx="2492828" cy="576943"/>
          </a:xfrm>
          <a:prstGeom prst="rect">
            <a:avLst/>
          </a:prstGeom>
          <a:solidFill>
            <a:srgbClr val="3B49FF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Trebuchet MS" panose="020B0603020202020204" pitchFamily="34" charset="0"/>
              </a:rPr>
              <a:t>R-squared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0EFCC31-0967-4C6D-351A-99CA4E6B1A2B}"/>
              </a:ext>
            </a:extLst>
          </p:cNvPr>
          <p:cNvSpPr/>
          <p:nvPr/>
        </p:nvSpPr>
        <p:spPr>
          <a:xfrm>
            <a:off x="9633857" y="2803075"/>
            <a:ext cx="1970314" cy="718457"/>
          </a:xfrm>
          <a:prstGeom prst="roundRect">
            <a:avLst/>
          </a:prstGeom>
          <a:solidFill>
            <a:srgbClr val="DAB6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rebuchet MS" panose="020B0603020202020204" pitchFamily="34" charset="0"/>
              </a:rPr>
              <a:t>5 fold-cross validation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2228A696-85B6-6C04-A4D3-E762B9A58271}"/>
              </a:ext>
            </a:extLst>
          </p:cNvPr>
          <p:cNvSpPr/>
          <p:nvPr/>
        </p:nvSpPr>
        <p:spPr>
          <a:xfrm>
            <a:off x="9633857" y="3880765"/>
            <a:ext cx="1970314" cy="718457"/>
          </a:xfrm>
          <a:prstGeom prst="roundRect">
            <a:avLst/>
          </a:prstGeom>
          <a:solidFill>
            <a:srgbClr val="DAB6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rebuchet MS" panose="020B0603020202020204" pitchFamily="34" charset="0"/>
              </a:rPr>
              <a:t>Testing Dataset (25%)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B37C975-263F-2468-CD61-B5BFF54ED182}"/>
              </a:ext>
            </a:extLst>
          </p:cNvPr>
          <p:cNvSpPr/>
          <p:nvPr/>
        </p:nvSpPr>
        <p:spPr>
          <a:xfrm>
            <a:off x="6787244" y="4180137"/>
            <a:ext cx="2264228" cy="1153885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rebuchet MS" panose="020B0603020202020204" pitchFamily="34" charset="0"/>
              </a:rPr>
              <a:t>Deep Learning Algorithms 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2B21E47-FFB6-B3DA-C243-EF71708D0E01}"/>
              </a:ext>
            </a:extLst>
          </p:cNvPr>
          <p:cNvCxnSpPr>
            <a:stCxn id="17" idx="3"/>
            <a:endCxn id="18" idx="1"/>
          </p:cNvCxnSpPr>
          <p:nvPr/>
        </p:nvCxnSpPr>
        <p:spPr>
          <a:xfrm>
            <a:off x="5571521" y="451757"/>
            <a:ext cx="678948" cy="0"/>
          </a:xfrm>
          <a:prstGeom prst="straightConnector1">
            <a:avLst/>
          </a:prstGeom>
          <a:ln w="41275">
            <a:solidFill>
              <a:srgbClr val="DA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9937B64B-BC71-61E3-91DF-B4654B51B22E}"/>
              </a:ext>
            </a:extLst>
          </p:cNvPr>
          <p:cNvSpPr/>
          <p:nvPr/>
        </p:nvSpPr>
        <p:spPr>
          <a:xfrm>
            <a:off x="3505200" y="1159338"/>
            <a:ext cx="2699659" cy="3935173"/>
          </a:xfrm>
          <a:prstGeom prst="rect">
            <a:avLst/>
          </a:prstGeom>
          <a:noFill/>
          <a:ln>
            <a:solidFill>
              <a:srgbClr val="DA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latin typeface="Trebuchet MS" panose="020B0603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CE37703-E79D-E420-B012-5751687AD58B}"/>
              </a:ext>
            </a:extLst>
          </p:cNvPr>
          <p:cNvSpPr/>
          <p:nvPr/>
        </p:nvSpPr>
        <p:spPr>
          <a:xfrm>
            <a:off x="6672941" y="1159338"/>
            <a:ext cx="2481945" cy="4261747"/>
          </a:xfrm>
          <a:prstGeom prst="rect">
            <a:avLst/>
          </a:prstGeom>
          <a:noFill/>
          <a:ln>
            <a:solidFill>
              <a:srgbClr val="D86ECC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Trebuchet MS" panose="020B0603020202020204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38DC369-0CA2-A620-DC12-01F615A024C4}"/>
              </a:ext>
            </a:extLst>
          </p:cNvPr>
          <p:cNvSpPr/>
          <p:nvPr/>
        </p:nvSpPr>
        <p:spPr>
          <a:xfrm>
            <a:off x="9535885" y="1627426"/>
            <a:ext cx="2269672" cy="3102405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latin typeface="Trebuchet MS" panose="020B0603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4A0DEE6-26FA-5814-5BC5-1572D0B1D674}"/>
              </a:ext>
            </a:extLst>
          </p:cNvPr>
          <p:cNvSpPr txBox="1"/>
          <p:nvPr/>
        </p:nvSpPr>
        <p:spPr>
          <a:xfrm>
            <a:off x="10007154" y="1319190"/>
            <a:ext cx="9893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rebuchet MS" panose="020B0603020202020204" pitchFamily="34" charset="0"/>
              </a:rPr>
              <a:t>Data Split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3A72B83-C2BE-26F4-C224-471D57C87191}"/>
              </a:ext>
            </a:extLst>
          </p:cNvPr>
          <p:cNvSpPr txBox="1"/>
          <p:nvPr/>
        </p:nvSpPr>
        <p:spPr>
          <a:xfrm>
            <a:off x="6432800" y="836316"/>
            <a:ext cx="31030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rebuchet MS" panose="020B0603020202020204" pitchFamily="34" charset="0"/>
              </a:rPr>
              <a:t>Pipeline Creation &amp; Model Training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307DEF5-D37F-AA4E-E9C3-DF347862AC59}"/>
              </a:ext>
            </a:extLst>
          </p:cNvPr>
          <p:cNvSpPr txBox="1"/>
          <p:nvPr/>
        </p:nvSpPr>
        <p:spPr>
          <a:xfrm>
            <a:off x="3900443" y="838608"/>
            <a:ext cx="16113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rebuchet MS" panose="020B0603020202020204" pitchFamily="34" charset="0"/>
              </a:rPr>
              <a:t>Model Evaluation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612C455-3026-55F4-C90A-A5BDDF747E1D}"/>
              </a:ext>
            </a:extLst>
          </p:cNvPr>
          <p:cNvCxnSpPr>
            <a:cxnSpLocks/>
            <a:stCxn id="19" idx="3"/>
          </p:cNvCxnSpPr>
          <p:nvPr/>
        </p:nvCxnSpPr>
        <p:spPr>
          <a:xfrm flipV="1">
            <a:off x="10983031" y="445928"/>
            <a:ext cx="1023912" cy="18893"/>
          </a:xfrm>
          <a:prstGeom prst="line">
            <a:avLst/>
          </a:prstGeom>
          <a:ln w="41275">
            <a:solidFill>
              <a:srgbClr val="FF000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55868AB8-DE17-2423-87F1-07E3473E730F}"/>
              </a:ext>
            </a:extLst>
          </p:cNvPr>
          <p:cNvCxnSpPr>
            <a:cxnSpLocks/>
          </p:cNvCxnSpPr>
          <p:nvPr/>
        </p:nvCxnSpPr>
        <p:spPr>
          <a:xfrm flipH="1" flipV="1">
            <a:off x="9154886" y="2072954"/>
            <a:ext cx="487134" cy="1"/>
          </a:xfrm>
          <a:prstGeom prst="straightConnector1">
            <a:avLst/>
          </a:prstGeom>
          <a:ln w="412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91492227-A2D0-400E-A8AD-A14995889478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7919358" y="2449278"/>
            <a:ext cx="0" cy="288487"/>
          </a:xfrm>
          <a:prstGeom prst="straightConnector1">
            <a:avLst/>
          </a:prstGeom>
          <a:ln w="412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2397332C-8D48-C3C9-07FA-B5B130EDDC44}"/>
              </a:ext>
            </a:extLst>
          </p:cNvPr>
          <p:cNvCxnSpPr>
            <a:cxnSpLocks/>
            <a:stCxn id="14" idx="1"/>
            <a:endCxn id="15" idx="6"/>
          </p:cNvCxnSpPr>
          <p:nvPr/>
        </p:nvCxnSpPr>
        <p:spPr>
          <a:xfrm rot="10800000">
            <a:off x="3133495" y="3075213"/>
            <a:ext cx="597587" cy="2819398"/>
          </a:xfrm>
          <a:prstGeom prst="bentConnector3">
            <a:avLst/>
          </a:prstGeom>
          <a:ln w="41275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F0ACC460-5E67-6819-B276-66294D4DC27C}"/>
              </a:ext>
            </a:extLst>
          </p:cNvPr>
          <p:cNvCxnSpPr>
            <a:endCxn id="26" idx="3"/>
          </p:cNvCxnSpPr>
          <p:nvPr/>
        </p:nvCxnSpPr>
        <p:spPr>
          <a:xfrm rot="5400000">
            <a:off x="11260883" y="2416243"/>
            <a:ext cx="1089349" cy="402772"/>
          </a:xfrm>
          <a:prstGeom prst="bentConnector2">
            <a:avLst/>
          </a:prstGeom>
          <a:ln w="41275">
            <a:solidFill>
              <a:srgbClr val="3B49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AC85C734-A95C-AD2B-24C2-9D6F01E266C0}"/>
              </a:ext>
            </a:extLst>
          </p:cNvPr>
          <p:cNvCxnSpPr>
            <a:cxnSpLocks/>
            <a:endCxn id="4" idx="3"/>
          </p:cNvCxnSpPr>
          <p:nvPr/>
        </p:nvCxnSpPr>
        <p:spPr>
          <a:xfrm rot="5400000">
            <a:off x="10986214" y="1063885"/>
            <a:ext cx="1638686" cy="402772"/>
          </a:xfrm>
          <a:prstGeom prst="bentConnector2">
            <a:avLst/>
          </a:prstGeom>
          <a:ln w="41275">
            <a:solidFill>
              <a:srgbClr val="FF0000"/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82AA81D4-D20F-397D-34C0-198421DC7E7E}"/>
              </a:ext>
            </a:extLst>
          </p:cNvPr>
          <p:cNvCxnSpPr/>
          <p:nvPr/>
        </p:nvCxnSpPr>
        <p:spPr>
          <a:xfrm rot="5400000">
            <a:off x="11260882" y="3488480"/>
            <a:ext cx="1089349" cy="402772"/>
          </a:xfrm>
          <a:prstGeom prst="bentConnector2">
            <a:avLst/>
          </a:prstGeom>
          <a:ln w="412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B1183717-B5A1-58A5-749F-47081FF120F9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2699657" y="6030682"/>
            <a:ext cx="1031424" cy="8614"/>
          </a:xfrm>
          <a:prstGeom prst="straightConnector1">
            <a:avLst/>
          </a:prstGeom>
          <a:ln w="41275">
            <a:solidFill>
              <a:srgbClr val="D86EC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: Elbow 86">
            <a:extLst>
              <a:ext uri="{FF2B5EF4-FFF2-40B4-BE49-F238E27FC236}">
                <a16:creationId xmlns:a16="http://schemas.microsoft.com/office/drawing/2014/main" id="{590099BF-0082-A70A-FAE2-B952F3D8BD4E}"/>
              </a:ext>
            </a:extLst>
          </p:cNvPr>
          <p:cNvCxnSpPr>
            <a:cxnSpLocks/>
            <a:stCxn id="27" idx="1"/>
          </p:cNvCxnSpPr>
          <p:nvPr/>
        </p:nvCxnSpPr>
        <p:spPr>
          <a:xfrm rot="10800000" flipV="1">
            <a:off x="4133853" y="4239994"/>
            <a:ext cx="5500005" cy="2569012"/>
          </a:xfrm>
          <a:prstGeom prst="bentConnector3">
            <a:avLst>
              <a:gd name="adj1" fmla="val 3488"/>
            </a:avLst>
          </a:prstGeom>
          <a:ln w="412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DCF58225-F8F1-EA96-7802-1442A750F720}"/>
              </a:ext>
            </a:extLst>
          </p:cNvPr>
          <p:cNvCxnSpPr/>
          <p:nvPr/>
        </p:nvCxnSpPr>
        <p:spPr>
          <a:xfrm flipV="1">
            <a:off x="4133853" y="6302825"/>
            <a:ext cx="0" cy="506182"/>
          </a:xfrm>
          <a:prstGeom prst="straightConnector1">
            <a:avLst/>
          </a:prstGeom>
          <a:ln w="412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: Elbow 99">
            <a:extLst>
              <a:ext uri="{FF2B5EF4-FFF2-40B4-BE49-F238E27FC236}">
                <a16:creationId xmlns:a16="http://schemas.microsoft.com/office/drawing/2014/main" id="{CBA9C38C-0FA3-690F-A523-FDB1F352A790}"/>
              </a:ext>
            </a:extLst>
          </p:cNvPr>
          <p:cNvCxnSpPr>
            <a:cxnSpLocks/>
            <a:stCxn id="26" idx="1"/>
          </p:cNvCxnSpPr>
          <p:nvPr/>
        </p:nvCxnSpPr>
        <p:spPr>
          <a:xfrm rot="10800000" flipV="1">
            <a:off x="4814209" y="3162303"/>
            <a:ext cx="4819649" cy="3510639"/>
          </a:xfrm>
          <a:prstGeom prst="bentConnector3">
            <a:avLst>
              <a:gd name="adj1" fmla="val 7086"/>
            </a:avLst>
          </a:prstGeom>
          <a:ln w="41275">
            <a:solidFill>
              <a:srgbClr val="3B49F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773BB829-7B1D-D86C-D8F3-EC329F21B520}"/>
              </a:ext>
            </a:extLst>
          </p:cNvPr>
          <p:cNvCxnSpPr>
            <a:endCxn id="14" idx="2"/>
          </p:cNvCxnSpPr>
          <p:nvPr/>
        </p:nvCxnSpPr>
        <p:spPr>
          <a:xfrm flipV="1">
            <a:off x="4814208" y="6302825"/>
            <a:ext cx="1" cy="370118"/>
          </a:xfrm>
          <a:prstGeom prst="straightConnector1">
            <a:avLst/>
          </a:prstGeom>
          <a:ln w="41275">
            <a:solidFill>
              <a:srgbClr val="3B49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: Elbow 115">
            <a:extLst>
              <a:ext uri="{FF2B5EF4-FFF2-40B4-BE49-F238E27FC236}">
                <a16:creationId xmlns:a16="http://schemas.microsoft.com/office/drawing/2014/main" id="{4C09B23C-5E65-DBA9-7B9D-BEF8A862D615}"/>
              </a:ext>
            </a:extLst>
          </p:cNvPr>
          <p:cNvCxnSpPr>
            <a:stCxn id="35" idx="2"/>
          </p:cNvCxnSpPr>
          <p:nvPr/>
        </p:nvCxnSpPr>
        <p:spPr>
          <a:xfrm rot="5400000">
            <a:off x="6110971" y="4752972"/>
            <a:ext cx="1134831" cy="2471057"/>
          </a:xfrm>
          <a:prstGeom prst="bentConnector2">
            <a:avLst/>
          </a:prstGeom>
          <a:ln w="412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B99128CB-F646-61AB-3028-28BC94152AF6}"/>
              </a:ext>
            </a:extLst>
          </p:cNvPr>
          <p:cNvCxnSpPr>
            <a:cxnSpLocks/>
          </p:cNvCxnSpPr>
          <p:nvPr/>
        </p:nvCxnSpPr>
        <p:spPr>
          <a:xfrm flipH="1" flipV="1">
            <a:off x="5442858" y="6302825"/>
            <a:ext cx="10885" cy="253091"/>
          </a:xfrm>
          <a:prstGeom prst="straightConnector1">
            <a:avLst/>
          </a:prstGeom>
          <a:ln w="412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5C1D1C55-C9C7-608E-34E6-4F2FC26A87A2}"/>
              </a:ext>
            </a:extLst>
          </p:cNvPr>
          <p:cNvCxnSpPr>
            <a:stCxn id="8" idx="2"/>
            <a:endCxn id="28" idx="0"/>
          </p:cNvCxnSpPr>
          <p:nvPr/>
        </p:nvCxnSpPr>
        <p:spPr>
          <a:xfrm>
            <a:off x="7919358" y="3891650"/>
            <a:ext cx="0" cy="288487"/>
          </a:xfrm>
          <a:prstGeom prst="straightConnector1">
            <a:avLst/>
          </a:prstGeom>
          <a:ln w="412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0F80D478-A81C-DA17-DCBC-085B60C7AB85}"/>
              </a:ext>
            </a:extLst>
          </p:cNvPr>
          <p:cNvCxnSpPr/>
          <p:nvPr/>
        </p:nvCxnSpPr>
        <p:spPr>
          <a:xfrm flipV="1">
            <a:off x="4133853" y="5094511"/>
            <a:ext cx="0" cy="391886"/>
          </a:xfrm>
          <a:prstGeom prst="straightConnector1">
            <a:avLst/>
          </a:prstGeom>
          <a:ln w="412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3AC13601-5D81-9865-A721-7AE6207F44BE}"/>
              </a:ext>
            </a:extLst>
          </p:cNvPr>
          <p:cNvCxnSpPr>
            <a:stCxn id="14" idx="0"/>
          </p:cNvCxnSpPr>
          <p:nvPr/>
        </p:nvCxnSpPr>
        <p:spPr>
          <a:xfrm flipH="1" flipV="1">
            <a:off x="4814208" y="5094511"/>
            <a:ext cx="1" cy="391886"/>
          </a:xfrm>
          <a:prstGeom prst="straightConnector1">
            <a:avLst/>
          </a:prstGeom>
          <a:ln w="41275">
            <a:solidFill>
              <a:srgbClr val="3B49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0C1C2C56-71A8-1DF4-2E0E-6E7FCE127476}"/>
              </a:ext>
            </a:extLst>
          </p:cNvPr>
          <p:cNvCxnSpPr/>
          <p:nvPr/>
        </p:nvCxnSpPr>
        <p:spPr>
          <a:xfrm flipV="1">
            <a:off x="5453743" y="5094511"/>
            <a:ext cx="0" cy="391886"/>
          </a:xfrm>
          <a:prstGeom prst="straightConnector1">
            <a:avLst/>
          </a:prstGeom>
          <a:ln w="412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map with a blue line&#10;&#10;AI-generated content may be incorrect.">
            <a:extLst>
              <a:ext uri="{FF2B5EF4-FFF2-40B4-BE49-F238E27FC236}">
                <a16:creationId xmlns:a16="http://schemas.microsoft.com/office/drawing/2014/main" id="{FB03F3C4-9CF6-7227-D5D4-66E0F77656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93" y="22291"/>
            <a:ext cx="3095465" cy="1530909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7EDA815-5FD3-BE95-43BA-6FAFE4F7E828}"/>
              </a:ext>
            </a:extLst>
          </p:cNvPr>
          <p:cNvCxnSpPr>
            <a:stCxn id="18" idx="3"/>
            <a:endCxn id="19" idx="1"/>
          </p:cNvCxnSpPr>
          <p:nvPr/>
        </p:nvCxnSpPr>
        <p:spPr>
          <a:xfrm>
            <a:off x="7981297" y="451757"/>
            <a:ext cx="1134837" cy="13064"/>
          </a:xfrm>
          <a:prstGeom prst="straightConnector1">
            <a:avLst/>
          </a:prstGeom>
          <a:ln w="41275">
            <a:solidFill>
              <a:srgbClr val="DA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363932E-0D2E-9D95-B56B-D5BE93F88594}"/>
              </a:ext>
            </a:extLst>
          </p:cNvPr>
          <p:cNvCxnSpPr>
            <a:stCxn id="19" idx="3"/>
          </p:cNvCxnSpPr>
          <p:nvPr/>
        </p:nvCxnSpPr>
        <p:spPr>
          <a:xfrm flipV="1">
            <a:off x="10983031" y="458993"/>
            <a:ext cx="801133" cy="5828"/>
          </a:xfrm>
          <a:prstGeom prst="straightConnector1">
            <a:avLst/>
          </a:prstGeom>
          <a:ln w="41275">
            <a:solidFill>
              <a:srgbClr val="DA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DE1CB101-CB28-B658-7584-7D23A2CF4465}"/>
              </a:ext>
            </a:extLst>
          </p:cNvPr>
          <p:cNvSpPr txBox="1"/>
          <p:nvPr/>
        </p:nvSpPr>
        <p:spPr>
          <a:xfrm>
            <a:off x="914114" y="1503003"/>
            <a:ext cx="10869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rebuchet MS" panose="020B0603020202020204" pitchFamily="34" charset="0"/>
              </a:rPr>
              <a:t>Study Area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07DAA36F-482E-2F36-FD13-C54944499674}"/>
              </a:ext>
            </a:extLst>
          </p:cNvPr>
          <p:cNvCxnSpPr>
            <a:stCxn id="3" idx="3"/>
            <a:endCxn id="17" idx="1"/>
          </p:cNvCxnSpPr>
          <p:nvPr/>
        </p:nvCxnSpPr>
        <p:spPr>
          <a:xfrm flipV="1">
            <a:off x="3118758" y="451757"/>
            <a:ext cx="901553" cy="335989"/>
          </a:xfrm>
          <a:prstGeom prst="straightConnector1">
            <a:avLst/>
          </a:prstGeom>
          <a:ln w="41275">
            <a:solidFill>
              <a:srgbClr val="DA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7666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66</Words>
  <Application>Microsoft Office PowerPoint</Application>
  <PresentationFormat>Widescreen</PresentationFormat>
  <Paragraphs>23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Trebuchet MS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mastercardscholar33</dc:creator>
  <cp:lastModifiedBy>PATRICK MUSAZA</cp:lastModifiedBy>
  <cp:revision>3</cp:revision>
  <dcterms:created xsi:type="dcterms:W3CDTF">2025-12-11T11:53:40Z</dcterms:created>
  <dcterms:modified xsi:type="dcterms:W3CDTF">2025-12-11T14:07:27Z</dcterms:modified>
</cp:coreProperties>
</file>