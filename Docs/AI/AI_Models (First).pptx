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5" r:id="rId2"/>
    <p:sldId id="262" r:id="rId3"/>
    <p:sldId id="265" r:id="rId4"/>
    <p:sldId id="259" r:id="rId5"/>
    <p:sldId id="267" r:id="rId6"/>
    <p:sldId id="281" r:id="rId7"/>
    <p:sldId id="268" r:id="rId8"/>
    <p:sldId id="269" r:id="rId9"/>
    <p:sldId id="270" r:id="rId10"/>
    <p:sldId id="283" r:id="rId11"/>
    <p:sldId id="271" r:id="rId12"/>
    <p:sldId id="284" r:id="rId13"/>
    <p:sldId id="272" r:id="rId14"/>
    <p:sldId id="277" r:id="rId15"/>
    <p:sldId id="278" r:id="rId16"/>
    <p:sldId id="279" r:id="rId17"/>
    <p:sldId id="280" r:id="rId18"/>
    <p:sldId id="273" r:id="rId19"/>
  </p:sldIdLst>
  <p:sldSz cx="12192000" cy="6858000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Jost" panose="020B0604020202020204" charset="0"/>
      <p:regular r:id="rId24"/>
      <p:bold r:id="rId25"/>
    </p:embeddedFont>
  </p:embeddedFontLst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318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70" d="100"/>
          <a:sy n="70" d="100"/>
        </p:scale>
        <p:origin x="5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0423B3-A4CC-4418-8B58-2620195B03D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8F84665-8953-4B93-BE9A-1C3040E81F8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5DAD1BD-562D-423F-9D9F-F8A108AAD5FC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7B258A0-8F1C-470C-9710-6318991147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3765F5E8-4AB8-4D37-9694-BFD5791B05F6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99FA4FFC-B885-435A-BB83-668B03FF45A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08AD857A-AE05-49B6-8946-F4A130846A16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D279302-DF05-4671-8D6F-F8B17F320E3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2FB9111-94D6-4750-9A94-9EAC63E629B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0629E1E-2076-4A62-BBE2-C204510467D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8052F3D-7885-43C2-B554-B9884DE4C67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S4FvNl6Lc9jwjAZpKC361j6sGcr4rVl4/view?usp=sharing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vgWwTZQTYGPoxVsXimBCKlxNOQ8hlFH9/view?usp=sharing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F8140-A421-44CA-0E6D-94BDAED0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94489280771">
            <a:extLst>
              <a:ext uri="{FF2B5EF4-FFF2-40B4-BE49-F238E27FC236}">
                <a16:creationId xmlns:a16="http://schemas.microsoft.com/office/drawing/2014/main" id="{84AB86C3-1180-706D-80B0-BD81A4139F02}"/>
              </a:ext>
            </a:extLst>
          </p:cNvPr>
          <p:cNvSpPr/>
          <p:nvPr/>
        </p:nvSpPr>
        <p:spPr>
          <a:xfrm>
            <a:off x="-1676400" y="-1397669"/>
            <a:ext cx="3089717" cy="3089726"/>
          </a:xfrm>
          <a:custGeom>
            <a:avLst/>
            <a:gdLst/>
            <a:ahLst/>
            <a:cxnLst/>
            <a:rect l="l" t="t" r="r" b="b"/>
            <a:pathLst>
              <a:path w="3089717" h="3089726">
                <a:moveTo>
                  <a:pt x="0" y="513140"/>
                </a:moveTo>
                <a:arcTo wR="513140" hR="513140" stAng="10800000" swAng="5400000"/>
                <a:lnTo>
                  <a:pt x="2576576" y="0"/>
                </a:lnTo>
                <a:arcTo wR="513140" hR="513140" stAng="16200000" swAng="5400000"/>
                <a:lnTo>
                  <a:pt x="3089716" y="2576585"/>
                </a:lnTo>
                <a:arcTo wR="513140" hR="513140" stAng="0" swAng="5400000"/>
                <a:lnTo>
                  <a:pt x="513140" y="3089726"/>
                </a:lnTo>
                <a:arcTo wR="513140" hR="513140" stAng="5400000" swAng="5400000"/>
                <a:close/>
              </a:path>
            </a:pathLst>
          </a:custGeom>
          <a:solidFill>
            <a:srgbClr val="0C2068">
              <a:alpha val="69804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3" name="Shape98784248067">
            <a:extLst>
              <a:ext uri="{FF2B5EF4-FFF2-40B4-BE49-F238E27FC236}">
                <a16:creationId xmlns:a16="http://schemas.microsoft.com/office/drawing/2014/main" id="{5BAF54B7-76E5-2F46-D667-8E03D14685DC}"/>
              </a:ext>
            </a:extLst>
          </p:cNvPr>
          <p:cNvSpPr/>
          <p:nvPr/>
        </p:nvSpPr>
        <p:spPr>
          <a:xfrm>
            <a:off x="11353800" y="3200400"/>
            <a:ext cx="3089717" cy="5227386"/>
          </a:xfrm>
          <a:custGeom>
            <a:avLst/>
            <a:gdLst/>
            <a:ahLst/>
            <a:cxnLst/>
            <a:rect l="l" t="t" r="r" b="b"/>
            <a:pathLst>
              <a:path w="3089717" h="5227386">
                <a:moveTo>
                  <a:pt x="0" y="513140"/>
                </a:moveTo>
                <a:arcTo wR="513140" hR="513140" stAng="10800000" swAng="5400000"/>
                <a:lnTo>
                  <a:pt x="2576576" y="0"/>
                </a:lnTo>
                <a:arcTo wR="513140" hR="513140" stAng="16200000" swAng="5400000"/>
                <a:lnTo>
                  <a:pt x="3089717" y="4714246"/>
                </a:lnTo>
                <a:arcTo wR="513140" hR="513140" stAng="0" swAng="5400000"/>
                <a:lnTo>
                  <a:pt x="513140" y="5227386"/>
                </a:lnTo>
                <a:arcTo wR="513140" hR="513140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B76A1-879C-E21C-824D-506C3022723C}"/>
              </a:ext>
            </a:extLst>
          </p:cNvPr>
          <p:cNvSpPr txBox="1"/>
          <p:nvPr/>
        </p:nvSpPr>
        <p:spPr>
          <a:xfrm>
            <a:off x="152400" y="0"/>
            <a:ext cx="12192000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4400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400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  </a:t>
            </a:r>
            <a:r>
              <a:rPr lang="en-US" sz="4400" b="1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UNIVERSITY OF RWANDA</a:t>
            </a:r>
          </a:p>
          <a:p>
            <a:r>
              <a:rPr lang="en-US" dirty="0"/>
              <a:t>      COLLEGE OF SCIENCE AND TECHNOLOGY</a:t>
            </a:r>
          </a:p>
          <a:p>
            <a:r>
              <a:rPr lang="en-US" dirty="0"/>
              <a:t>      Y3 CSE</a:t>
            </a:r>
          </a:p>
          <a:p>
            <a:r>
              <a:rPr lang="en-US" dirty="0"/>
              <a:t>    </a:t>
            </a:r>
          </a:p>
          <a:p>
            <a:endParaRPr lang="en-US" dirty="0"/>
          </a:p>
          <a:p>
            <a:r>
              <a:rPr lang="en-US" dirty="0"/>
              <a:t>      </a:t>
            </a:r>
            <a:r>
              <a:rPr lang="en-US" sz="2400" b="1" dirty="0"/>
              <a:t>Group 4: </a:t>
            </a:r>
            <a:r>
              <a:rPr lang="en-US" sz="2400" b="1" dirty="0" err="1"/>
              <a:t>TransConnect</a:t>
            </a:r>
            <a:endParaRPr lang="en-US" sz="2400" b="1" dirty="0"/>
          </a:p>
          <a:p>
            <a:endParaRPr lang="en-US" b="1" dirty="0"/>
          </a:p>
          <a:p>
            <a:pPr lvl="1"/>
            <a:r>
              <a:rPr lang="en-US" dirty="0"/>
              <a:t>      Members: 	MUSAZA PATRICK 	(</a:t>
            </a:r>
            <a:r>
              <a:rPr lang="en-US" b="1" dirty="0"/>
              <a:t>223019061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                           	MANZI NSENGA IVAN 	(</a:t>
            </a:r>
            <a:r>
              <a:rPr lang="en-US" b="1" dirty="0"/>
              <a:t>223004392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Module: Computing Intelligence &amp; Applications</a:t>
            </a:r>
          </a:p>
          <a:p>
            <a:r>
              <a:rPr lang="en-US" dirty="0"/>
              <a:t>      Date: 11</a:t>
            </a:r>
            <a:r>
              <a:rPr lang="en-US" baseline="30000" dirty="0"/>
              <a:t>th</a:t>
            </a:r>
            <a:r>
              <a:rPr lang="en-US" dirty="0"/>
              <a:t> September 2025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12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B99DCA-FFAE-C911-A02D-0A4F11D58E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18619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466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98784248070"/>
          <p:cNvSpPr/>
          <p:nvPr/>
        </p:nvSpPr>
        <p:spPr>
          <a:xfrm rot="20510412">
            <a:off x="-2452818" y="4588346"/>
            <a:ext cx="2855415" cy="2793210"/>
          </a:xfrm>
          <a:custGeom>
            <a:avLst/>
            <a:gdLst/>
            <a:ahLst/>
            <a:cxnLst/>
            <a:rect l="l" t="t" r="r" b="b"/>
            <a:pathLst>
              <a:path w="2855415" h="2793210">
                <a:moveTo>
                  <a:pt x="0" y="400015"/>
                </a:moveTo>
                <a:arcTo wR="400015" hR="400015" stAng="10800000" swAng="5400000"/>
                <a:lnTo>
                  <a:pt x="2455399" y="0"/>
                </a:lnTo>
                <a:arcTo wR="400015" hR="400015" stAng="16200000" swAng="5400000"/>
                <a:lnTo>
                  <a:pt x="2855415" y="2393194"/>
                </a:lnTo>
                <a:arcTo wR="400015" hR="400015" stAng="0" swAng="5400000"/>
                <a:lnTo>
                  <a:pt x="400015" y="2793209"/>
                </a:lnTo>
                <a:arcTo wR="400015" hR="400015" stAng="5400000" swAng="5400000"/>
                <a:close/>
              </a:path>
            </a:pathLst>
          </a:custGeom>
          <a:solidFill>
            <a:srgbClr val="0D1026">
              <a:alpha val="69804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4" name="Shape103079215366"/>
          <p:cNvSpPr/>
          <p:nvPr/>
        </p:nvSpPr>
        <p:spPr>
          <a:xfrm rot="20510412">
            <a:off x="1151325" y="6040462"/>
            <a:ext cx="1581406" cy="1546956"/>
          </a:xfrm>
          <a:custGeom>
            <a:avLst/>
            <a:gdLst/>
            <a:ahLst/>
            <a:cxnLst/>
            <a:rect l="l" t="t" r="r" b="b"/>
            <a:pathLst>
              <a:path w="1581406" h="1546956">
                <a:moveTo>
                  <a:pt x="0" y="319477"/>
                </a:moveTo>
                <a:arcTo wR="319477" hR="319477" stAng="10800000" swAng="5400000"/>
                <a:lnTo>
                  <a:pt x="1261928" y="0"/>
                </a:lnTo>
                <a:arcTo wR="319477" hR="319477" stAng="16200000" swAng="5400000"/>
                <a:lnTo>
                  <a:pt x="1581405" y="1227479"/>
                </a:lnTo>
                <a:arcTo wR="319477" hR="319477" stAng="0" swAng="5400000"/>
                <a:lnTo>
                  <a:pt x="319477" y="1546955"/>
                </a:lnTo>
                <a:arcTo wR="319477" hR="319477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5" name="Shape107374182662"/>
          <p:cNvSpPr/>
          <p:nvPr/>
        </p:nvSpPr>
        <p:spPr>
          <a:xfrm>
            <a:off x="766762" y="1773777"/>
            <a:ext cx="514362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6" name="Shape111669149958"/>
          <p:cNvSpPr/>
          <p:nvPr/>
        </p:nvSpPr>
        <p:spPr>
          <a:xfrm>
            <a:off x="852836" y="1812267"/>
            <a:ext cx="364511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7" name="Shape115964117254"/>
          <p:cNvSpPr/>
          <p:nvPr/>
        </p:nvSpPr>
        <p:spPr>
          <a:xfrm>
            <a:off x="806543" y="1854215"/>
            <a:ext cx="372760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2"/>
                </a:lnTo>
                <a:arcTo wR="66408" hR="66408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28" name="Shape12025908455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5908" y="1894960"/>
            <a:ext cx="275731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79"/>
                </a:lnTo>
                <a:lnTo>
                  <a:pt x="0" y="231579"/>
                </a:lnTo>
                <a:close/>
              </a:path>
            </a:pathLst>
          </a:custGeom>
        </p:spPr>
      </p:pic>
      <p:sp>
        <p:nvSpPr>
          <p:cNvPr id="29" name="Shape124554051846"/>
          <p:cNvSpPr/>
          <p:nvPr/>
        </p:nvSpPr>
        <p:spPr>
          <a:xfrm>
            <a:off x="1287656" y="1773777"/>
            <a:ext cx="5036944" cy="596385"/>
          </a:xfrm>
          <a:custGeom>
            <a:avLst/>
            <a:gdLst/>
            <a:ahLst/>
            <a:cxnLst/>
            <a:rect l="l" t="t" r="r" b="b"/>
            <a:pathLst>
              <a:path w="4230406" h="596385">
                <a:moveTo>
                  <a:pt x="0" y="0"/>
                </a:moveTo>
                <a:lnTo>
                  <a:pt x="4230406" y="0"/>
                </a:lnTo>
                <a:lnTo>
                  <a:pt x="4230406" y="596385"/>
                </a:lnTo>
                <a:lnTo>
                  <a:pt x="0" y="596385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1. Linear Regression – simple baseline model</a:t>
            </a:r>
          </a:p>
        </p:txBody>
      </p:sp>
      <p:sp>
        <p:nvSpPr>
          <p:cNvPr id="30" name="Shape128849019142"/>
          <p:cNvSpPr/>
          <p:nvPr/>
        </p:nvSpPr>
        <p:spPr>
          <a:xfrm>
            <a:off x="766762" y="2621621"/>
            <a:ext cx="514362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1" name="Shape133143986438"/>
          <p:cNvSpPr/>
          <p:nvPr/>
        </p:nvSpPr>
        <p:spPr>
          <a:xfrm>
            <a:off x="852836" y="2660112"/>
            <a:ext cx="364511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2" name="Shape137438953734"/>
          <p:cNvSpPr/>
          <p:nvPr/>
        </p:nvSpPr>
        <p:spPr>
          <a:xfrm>
            <a:off x="806543" y="2702060"/>
            <a:ext cx="372760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33" name="Shape141733921030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08" y="2742805"/>
            <a:ext cx="275731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34" name="Shape146028888326"/>
          <p:cNvSpPr/>
          <p:nvPr/>
        </p:nvSpPr>
        <p:spPr>
          <a:xfrm>
            <a:off x="1287656" y="2621623"/>
            <a:ext cx="5036944" cy="596385"/>
          </a:xfrm>
          <a:custGeom>
            <a:avLst/>
            <a:gdLst/>
            <a:ahLst/>
            <a:cxnLst/>
            <a:rect l="l" t="t" r="r" b="b"/>
            <a:pathLst>
              <a:path w="4230406" h="596385">
                <a:moveTo>
                  <a:pt x="0" y="0"/>
                </a:moveTo>
                <a:lnTo>
                  <a:pt x="4230406" y="0"/>
                </a:lnTo>
                <a:lnTo>
                  <a:pt x="4230406" y="596384"/>
                </a:lnTo>
                <a:lnTo>
                  <a:pt x="0" y="596384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2. 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Random Forest </a:t>
            </a:r>
            <a:r>
              <a:rPr sz="1800" dirty="0">
                <a:solidFill>
                  <a:srgbClr val="000000"/>
                </a:solidFill>
                <a:latin typeface="+mn-lt"/>
              </a:rPr>
              <a:t>– stronger non‑linear model</a:t>
            </a:r>
          </a:p>
        </p:txBody>
      </p:sp>
      <p:sp>
        <p:nvSpPr>
          <p:cNvPr id="35" name="Shape150323855622"/>
          <p:cNvSpPr/>
          <p:nvPr/>
        </p:nvSpPr>
        <p:spPr>
          <a:xfrm>
            <a:off x="766762" y="457200"/>
            <a:ext cx="8302752" cy="1060050"/>
          </a:xfrm>
          <a:custGeom>
            <a:avLst/>
            <a:gdLst/>
            <a:ahLst/>
            <a:cxnLst/>
            <a:rect l="l" t="t" r="r" b="b"/>
            <a:pathLst>
              <a:path w="4781045" h="1060050">
                <a:moveTo>
                  <a:pt x="0" y="0"/>
                </a:moveTo>
                <a:lnTo>
                  <a:pt x="4781045" y="0"/>
                </a:lnTo>
                <a:lnTo>
                  <a:pt x="4781045" y="1060050"/>
                </a:lnTo>
                <a:lnTo>
                  <a:pt x="0" y="106005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0D1026"/>
                </a:solidFill>
                <a:latin typeface="+mn-lt"/>
              </a:rPr>
              <a:t>Selected Models for </a:t>
            </a:r>
            <a:r>
              <a:rPr sz="4000" b="1" dirty="0" err="1">
                <a:solidFill>
                  <a:srgbClr val="0D1026"/>
                </a:solidFill>
                <a:latin typeface="+mn-lt"/>
              </a:rPr>
              <a:t>TransConnect</a:t>
            </a:r>
            <a:endParaRPr sz="4000" b="1" dirty="0">
              <a:solidFill>
                <a:srgbClr val="0D1026"/>
              </a:solidFill>
              <a:latin typeface="+mn-l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7BF4B6-C4AD-8533-73F8-A5F15B48109A}"/>
              </a:ext>
            </a:extLst>
          </p:cNvPr>
          <p:cNvGrpSpPr/>
          <p:nvPr/>
        </p:nvGrpSpPr>
        <p:grpSpPr>
          <a:xfrm>
            <a:off x="5687468" y="2167287"/>
            <a:ext cx="5130479" cy="4665284"/>
            <a:chOff x="0" y="0"/>
            <a:chExt cx="4076700" cy="41148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53D33DD-3C75-2B0C-3295-44A7CC106FEC}"/>
                </a:ext>
              </a:extLst>
            </p:cNvPr>
            <p:cNvSpPr/>
            <p:nvPr/>
          </p:nvSpPr>
          <p:spPr>
            <a:xfrm>
              <a:off x="0" y="0"/>
              <a:ext cx="4025900" cy="41148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EFB182C-B76C-5DBA-97C6-B378B824D3D7}"/>
                </a:ext>
              </a:extLst>
            </p:cNvPr>
            <p:cNvSpPr/>
            <p:nvPr/>
          </p:nvSpPr>
          <p:spPr>
            <a:xfrm>
              <a:off x="215900" y="152400"/>
              <a:ext cx="3835400" cy="38925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21BCFA3-5DA4-17D5-0B8B-8BE992598078}"/>
                </a:ext>
              </a:extLst>
            </p:cNvPr>
            <p:cNvSpPr/>
            <p:nvPr/>
          </p:nvSpPr>
          <p:spPr>
            <a:xfrm>
              <a:off x="317500" y="215900"/>
              <a:ext cx="3759200" cy="3778250"/>
            </a:xfrm>
            <a:prstGeom prst="ellipse">
              <a:avLst/>
            </a:prstGeom>
            <a:blipFill dpi="0" rotWithShape="1">
              <a:blip r:embed="rId6"/>
              <a:srcRect/>
              <a:stretch>
                <a:fillRect r="18000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Shape34359738630">
            <a:extLst>
              <a:ext uri="{FF2B5EF4-FFF2-40B4-BE49-F238E27FC236}">
                <a16:creationId xmlns:a16="http://schemas.microsoft.com/office/drawing/2014/main" id="{D6E50E33-8D09-1272-1BD0-812AA76E4CD4}"/>
              </a:ext>
            </a:extLst>
          </p:cNvPr>
          <p:cNvSpPr/>
          <p:nvPr/>
        </p:nvSpPr>
        <p:spPr>
          <a:xfrm>
            <a:off x="9906000" y="1904253"/>
            <a:ext cx="9338127" cy="5635950"/>
          </a:xfrm>
          <a:custGeom>
            <a:avLst/>
            <a:gdLst/>
            <a:ahLst/>
            <a:cxnLst/>
            <a:rect l="l" t="t" r="r" b="b"/>
            <a:pathLst>
              <a:path w="9338127" h="5635950">
                <a:moveTo>
                  <a:pt x="0" y="847139"/>
                </a:moveTo>
                <a:arcTo wR="847139" hR="847139" stAng="10800000" swAng="5400000"/>
                <a:lnTo>
                  <a:pt x="8490987" y="0"/>
                </a:lnTo>
                <a:arcTo wR="847139" hR="847139" stAng="16200000" swAng="5400000"/>
                <a:lnTo>
                  <a:pt x="9338127" y="4788810"/>
                </a:lnTo>
                <a:arcTo wR="847139" hR="847139" stAng="0" swAng="5400000"/>
                <a:lnTo>
                  <a:pt x="847139" y="5635950"/>
                </a:lnTo>
                <a:arcTo wR="847139" hR="847139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201863463177"/>
          <p:cNvSpPr/>
          <p:nvPr/>
        </p:nvSpPr>
        <p:spPr>
          <a:xfrm rot="20441632">
            <a:off x="-849520" y="-610236"/>
            <a:ext cx="8308548" cy="8673241"/>
          </a:xfrm>
          <a:custGeom>
            <a:avLst/>
            <a:gdLst/>
            <a:ahLst/>
            <a:cxnLst/>
            <a:rect l="l" t="t" r="r" b="b"/>
            <a:pathLst>
              <a:path w="8308548" h="8673241">
                <a:moveTo>
                  <a:pt x="3046131" y="0"/>
                </a:moveTo>
                <a:lnTo>
                  <a:pt x="8308548" y="1843503"/>
                </a:lnTo>
                <a:lnTo>
                  <a:pt x="8308548" y="7710338"/>
                </a:lnTo>
                <a:cubicBezTo>
                  <a:pt x="8308548" y="8242135"/>
                  <a:pt x="7877443" y="8673241"/>
                  <a:pt x="7345645" y="8673241"/>
                </a:cubicBezTo>
                <a:lnTo>
                  <a:pt x="7061391" y="8673241"/>
                </a:lnTo>
                <a:lnTo>
                  <a:pt x="0" y="6199531"/>
                </a:lnTo>
                <a:lnTo>
                  <a:pt x="2171788" y="0"/>
                </a:lnTo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8" name="Shape206158430473"/>
          <p:cNvSpPr/>
          <p:nvPr/>
        </p:nvSpPr>
        <p:spPr>
          <a:xfrm rot="20441632">
            <a:off x="7277075" y="-983644"/>
            <a:ext cx="5135342" cy="4057877"/>
          </a:xfrm>
          <a:custGeom>
            <a:avLst/>
            <a:gdLst/>
            <a:ahLst/>
            <a:cxnLst/>
            <a:rect l="l" t="t" r="r" b="b"/>
            <a:pathLst>
              <a:path w="5135342" h="4057877">
                <a:moveTo>
                  <a:pt x="0" y="0"/>
                </a:moveTo>
                <a:lnTo>
                  <a:pt x="5135342" y="1798986"/>
                </a:lnTo>
                <a:lnTo>
                  <a:pt x="4344018" y="4057877"/>
                </a:lnTo>
                <a:lnTo>
                  <a:pt x="740265" y="4057877"/>
                </a:lnTo>
                <a:cubicBezTo>
                  <a:pt x="331427" y="4057877"/>
                  <a:pt x="0" y="3726449"/>
                  <a:pt x="0" y="3317611"/>
                </a:cubicBezTo>
                <a:close/>
              </a:path>
            </a:pathLst>
          </a:custGeom>
          <a:solidFill>
            <a:srgbClr val="0D1026">
              <a:alpha val="81961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9" name="Shape210453397769"/>
          <p:cNvSpPr/>
          <p:nvPr/>
        </p:nvSpPr>
        <p:spPr>
          <a:xfrm rot="20441632">
            <a:off x="8424052" y="3852432"/>
            <a:ext cx="1524283" cy="1485313"/>
          </a:xfrm>
          <a:custGeom>
            <a:avLst/>
            <a:gdLst/>
            <a:ahLst/>
            <a:cxnLst/>
            <a:rect l="l" t="t" r="r" b="b"/>
            <a:pathLst>
              <a:path w="1524283" h="1485313">
                <a:moveTo>
                  <a:pt x="0" y="536613"/>
                </a:moveTo>
                <a:arcTo wR="536613" hR="536613" stAng="10800000" swAng="5400000"/>
                <a:lnTo>
                  <a:pt x="987669" y="0"/>
                </a:lnTo>
                <a:arcTo wR="536613" hR="536613" stAng="16200000" swAng="5400000"/>
                <a:lnTo>
                  <a:pt x="1524282" y="948699"/>
                </a:lnTo>
                <a:arcTo wR="536613" hR="536613" stAng="0" swAng="5400000"/>
                <a:lnTo>
                  <a:pt x="536613" y="1485312"/>
                </a:lnTo>
                <a:arcTo wR="536613" hR="536613" stAng="5400000" swAng="5400000"/>
                <a:close/>
              </a:path>
            </a:pathLst>
          </a:custGeom>
          <a:solidFill>
            <a:srgbClr val="0D1026">
              <a:alpha val="58039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0" name="Shape214748365065"/>
          <p:cNvSpPr/>
          <p:nvPr/>
        </p:nvSpPr>
        <p:spPr>
          <a:xfrm>
            <a:off x="931139" y="3387556"/>
            <a:ext cx="5179024" cy="182880"/>
          </a:xfrm>
          <a:custGeom>
            <a:avLst/>
            <a:gdLst/>
            <a:ahLst/>
            <a:cxnLst/>
            <a:rect l="l" t="t" r="r" b="b"/>
            <a:pathLst>
              <a:path w="5179024" h="182880">
                <a:moveTo>
                  <a:pt x="0" y="0"/>
                </a:moveTo>
                <a:lnTo>
                  <a:pt x="5179024" y="0"/>
                </a:lnTo>
                <a:lnTo>
                  <a:pt x="5179024" y="182879"/>
                </a:lnTo>
                <a:lnTo>
                  <a:pt x="0" y="1828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200">
                <a:solidFill>
                  <a:srgbClr val="FFFFFF"/>
                </a:solidFill>
                <a:latin typeface="+mn-lt"/>
              </a:rPr>
              <a:t>Key Features:</a:t>
            </a:r>
          </a:p>
        </p:txBody>
      </p:sp>
      <p:sp>
        <p:nvSpPr>
          <p:cNvPr id="51" name="Shape219043332361"/>
          <p:cNvSpPr/>
          <p:nvPr/>
        </p:nvSpPr>
        <p:spPr>
          <a:xfrm>
            <a:off x="931139" y="3707596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2" name="Shape223338299657"/>
          <p:cNvSpPr/>
          <p:nvPr/>
        </p:nvSpPr>
        <p:spPr>
          <a:xfrm>
            <a:off x="1017215" y="3746086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ECE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3" name="Shape227633266953"/>
          <p:cNvSpPr/>
          <p:nvPr/>
        </p:nvSpPr>
        <p:spPr>
          <a:xfrm>
            <a:off x="970921" y="3788034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4" name="Shape231928234249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286" y="3828779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55" name="Shape236223201545"/>
          <p:cNvSpPr/>
          <p:nvPr/>
        </p:nvSpPr>
        <p:spPr>
          <a:xfrm>
            <a:off x="1452039" y="3707596"/>
            <a:ext cx="4658124" cy="182880"/>
          </a:xfrm>
          <a:custGeom>
            <a:avLst/>
            <a:gdLst/>
            <a:ahLst/>
            <a:cxnLst/>
            <a:rect l="l" t="t" r="r" b="b"/>
            <a:pathLst>
              <a:path w="4658124" h="182880">
                <a:moveTo>
                  <a:pt x="0" y="0"/>
                </a:moveTo>
                <a:lnTo>
                  <a:pt x="4658123" y="0"/>
                </a:lnTo>
                <a:lnTo>
                  <a:pt x="4658123" y="182879"/>
                </a:lnTo>
                <a:lnTo>
                  <a:pt x="0" y="1828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200">
                <a:solidFill>
                  <a:srgbClr val="FFFFFF"/>
                </a:solidFill>
                <a:latin typeface="+mn-lt"/>
              </a:rPr>
              <a:t>Simple, Fast, and Computationally Efficient</a:t>
            </a:r>
          </a:p>
        </p:txBody>
      </p:sp>
      <p:sp>
        <p:nvSpPr>
          <p:cNvPr id="56" name="Shape240518168841"/>
          <p:cNvSpPr/>
          <p:nvPr/>
        </p:nvSpPr>
        <p:spPr>
          <a:xfrm>
            <a:off x="931138" y="4261516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7" name="Shape244813136137"/>
          <p:cNvSpPr/>
          <p:nvPr/>
        </p:nvSpPr>
        <p:spPr>
          <a:xfrm>
            <a:off x="1017215" y="4300006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ECE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8" name="Shape249108103433"/>
          <p:cNvSpPr/>
          <p:nvPr/>
        </p:nvSpPr>
        <p:spPr>
          <a:xfrm>
            <a:off x="970920" y="4341954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9" name="Shape253403070729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286" y="4382699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60" name="Shape257698038025"/>
          <p:cNvSpPr/>
          <p:nvPr/>
        </p:nvSpPr>
        <p:spPr>
          <a:xfrm>
            <a:off x="1452038" y="4261517"/>
            <a:ext cx="4658124" cy="182880"/>
          </a:xfrm>
          <a:custGeom>
            <a:avLst/>
            <a:gdLst/>
            <a:ahLst/>
            <a:cxnLst/>
            <a:rect l="l" t="t" r="r" b="b"/>
            <a:pathLst>
              <a:path w="4658124" h="182880">
                <a:moveTo>
                  <a:pt x="0" y="0"/>
                </a:moveTo>
                <a:lnTo>
                  <a:pt x="4658123" y="0"/>
                </a:lnTo>
                <a:lnTo>
                  <a:pt x="4658123" y="182879"/>
                </a:lnTo>
                <a:lnTo>
                  <a:pt x="0" y="1828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200">
                <a:solidFill>
                  <a:srgbClr val="FFFFFF"/>
                </a:solidFill>
                <a:latin typeface="+mn-lt"/>
              </a:rPr>
              <a:t>Highly Interpretable</a:t>
            </a:r>
          </a:p>
        </p:txBody>
      </p:sp>
      <p:sp>
        <p:nvSpPr>
          <p:cNvPr id="61" name="Shape261993005321"/>
          <p:cNvSpPr/>
          <p:nvPr/>
        </p:nvSpPr>
        <p:spPr>
          <a:xfrm>
            <a:off x="931138" y="4815436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2" name="Shape266287972617"/>
          <p:cNvSpPr/>
          <p:nvPr/>
        </p:nvSpPr>
        <p:spPr>
          <a:xfrm>
            <a:off x="1017215" y="4853925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ECE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3" name="Shape270582939913"/>
          <p:cNvSpPr/>
          <p:nvPr/>
        </p:nvSpPr>
        <p:spPr>
          <a:xfrm>
            <a:off x="970920" y="4895873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64" name="Shape274877907209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0286" y="4936620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65" name="Shape279172874505"/>
          <p:cNvSpPr/>
          <p:nvPr/>
        </p:nvSpPr>
        <p:spPr>
          <a:xfrm>
            <a:off x="1452038" y="4815436"/>
            <a:ext cx="4658124" cy="365760"/>
          </a:xfrm>
          <a:custGeom>
            <a:avLst/>
            <a:gdLst/>
            <a:ahLst/>
            <a:cxnLst/>
            <a:rect l="l" t="t" r="r" b="b"/>
            <a:pathLst>
              <a:path w="4658124" h="365760">
                <a:moveTo>
                  <a:pt x="0" y="0"/>
                </a:moveTo>
                <a:lnTo>
                  <a:pt x="4658123" y="0"/>
                </a:lnTo>
                <a:lnTo>
                  <a:pt x="4658123" y="365759"/>
                </a:lnTo>
                <a:lnTo>
                  <a:pt x="0" y="3657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200">
                <a:solidFill>
                  <a:srgbClr val="FFFFFF"/>
                </a:solidFill>
                <a:latin typeface="+mn-lt"/>
              </a:rPr>
              <a:t>Works Well on Linearly Related Data (travel time, distance, time of day, road features)</a:t>
            </a:r>
          </a:p>
        </p:txBody>
      </p:sp>
      <p:sp>
        <p:nvSpPr>
          <p:cNvPr id="66" name="Shape283467841801"/>
          <p:cNvSpPr/>
          <p:nvPr/>
        </p:nvSpPr>
        <p:spPr>
          <a:xfrm>
            <a:off x="7556300" y="1071691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7" name="Shape287762809097"/>
          <p:cNvSpPr/>
          <p:nvPr/>
        </p:nvSpPr>
        <p:spPr>
          <a:xfrm>
            <a:off x="7642377" y="1110181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ECE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8" name="Shape292057776393"/>
          <p:cNvSpPr/>
          <p:nvPr/>
        </p:nvSpPr>
        <p:spPr>
          <a:xfrm>
            <a:off x="7596082" y="1152129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69" name="Shape296352743689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35448" y="1192875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70" name="Shape300647710985"/>
          <p:cNvSpPr/>
          <p:nvPr/>
        </p:nvSpPr>
        <p:spPr>
          <a:xfrm>
            <a:off x="8077200" y="1071693"/>
            <a:ext cx="4658124" cy="182880"/>
          </a:xfrm>
          <a:custGeom>
            <a:avLst/>
            <a:gdLst/>
            <a:ahLst/>
            <a:cxnLst/>
            <a:rect l="l" t="t" r="r" b="b"/>
            <a:pathLst>
              <a:path w="4658124" h="182880">
                <a:moveTo>
                  <a:pt x="0" y="0"/>
                </a:moveTo>
                <a:lnTo>
                  <a:pt x="4658123" y="0"/>
                </a:lnTo>
                <a:lnTo>
                  <a:pt x="4658123" y="182879"/>
                </a:lnTo>
                <a:lnTo>
                  <a:pt x="0" y="1828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b="1" dirty="0">
                <a:solidFill>
                  <a:srgbClr val="FFFFFF"/>
                </a:solidFill>
                <a:latin typeface="+mn-lt"/>
              </a:rPr>
              <a:t>Advantages</a:t>
            </a:r>
            <a:r>
              <a:rPr sz="1400" dirty="0">
                <a:solidFill>
                  <a:srgbClr val="FFFFFF"/>
                </a:solidFill>
                <a:latin typeface="+mn-lt"/>
              </a:rPr>
              <a:t>: easy, fast, interpretable</a:t>
            </a:r>
          </a:p>
        </p:txBody>
      </p:sp>
      <p:sp>
        <p:nvSpPr>
          <p:cNvPr id="71" name="Shape304942678281"/>
          <p:cNvSpPr/>
          <p:nvPr/>
        </p:nvSpPr>
        <p:spPr>
          <a:xfrm>
            <a:off x="7556300" y="1656091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2" name="Shape309237645577"/>
          <p:cNvSpPr/>
          <p:nvPr/>
        </p:nvSpPr>
        <p:spPr>
          <a:xfrm>
            <a:off x="7642377" y="1694581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ECE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3" name="Shape313532612873"/>
          <p:cNvSpPr/>
          <p:nvPr/>
        </p:nvSpPr>
        <p:spPr>
          <a:xfrm>
            <a:off x="7596082" y="1736529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74" name="Shape317827580169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35448" y="1777275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75" name="Shape322122547465"/>
          <p:cNvSpPr/>
          <p:nvPr/>
        </p:nvSpPr>
        <p:spPr>
          <a:xfrm>
            <a:off x="8077200" y="1656092"/>
            <a:ext cx="4658124" cy="182880"/>
          </a:xfrm>
          <a:custGeom>
            <a:avLst/>
            <a:gdLst/>
            <a:ahLst/>
            <a:cxnLst/>
            <a:rect l="l" t="t" r="r" b="b"/>
            <a:pathLst>
              <a:path w="4658124" h="182880">
                <a:moveTo>
                  <a:pt x="0" y="0"/>
                </a:moveTo>
                <a:lnTo>
                  <a:pt x="4658123" y="0"/>
                </a:lnTo>
                <a:lnTo>
                  <a:pt x="4658123" y="182879"/>
                </a:lnTo>
                <a:lnTo>
                  <a:pt x="0" y="1828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b="1" dirty="0">
                <a:solidFill>
                  <a:srgbClr val="FFFFFF"/>
                </a:solidFill>
                <a:latin typeface="+mn-lt"/>
              </a:rPr>
              <a:t>Disadvantages</a:t>
            </a:r>
            <a:r>
              <a:rPr sz="1400" dirty="0">
                <a:solidFill>
                  <a:srgbClr val="FFFFFF"/>
                </a:solidFill>
                <a:latin typeface="+mn-lt"/>
              </a:rPr>
              <a:t>: weak with non‑linear route patterns</a:t>
            </a:r>
          </a:p>
        </p:txBody>
      </p:sp>
      <p:sp>
        <p:nvSpPr>
          <p:cNvPr id="76" name="Shape326417514761"/>
          <p:cNvSpPr/>
          <p:nvPr/>
        </p:nvSpPr>
        <p:spPr>
          <a:xfrm>
            <a:off x="1065900" y="739134"/>
            <a:ext cx="5819531" cy="1060050"/>
          </a:xfrm>
          <a:custGeom>
            <a:avLst/>
            <a:gdLst/>
            <a:ahLst/>
            <a:cxnLst/>
            <a:rect l="l" t="t" r="r" b="b"/>
            <a:pathLst>
              <a:path w="5164863" h="1060050">
                <a:moveTo>
                  <a:pt x="0" y="0"/>
                </a:moveTo>
                <a:lnTo>
                  <a:pt x="5164863" y="0"/>
                </a:lnTo>
                <a:lnTo>
                  <a:pt x="5164863" y="1060050"/>
                </a:lnTo>
                <a:lnTo>
                  <a:pt x="0" y="106005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ECEEF9"/>
                </a:solidFill>
                <a:latin typeface="+mn-lt"/>
              </a:rPr>
              <a:t>Linear Regression – What</a:t>
            </a:r>
            <a:r>
              <a:rPr lang="en-US" sz="4000" b="1" dirty="0">
                <a:solidFill>
                  <a:srgbClr val="ECEEF9"/>
                </a:solidFill>
              </a:rPr>
              <a:t> </a:t>
            </a:r>
            <a:r>
              <a:rPr sz="4000" b="1" dirty="0">
                <a:solidFill>
                  <a:srgbClr val="ECEEF9"/>
                </a:solidFill>
                <a:latin typeface="+mn-lt"/>
              </a:rPr>
              <a:t>Was Completed</a:t>
            </a:r>
          </a:p>
        </p:txBody>
      </p:sp>
      <p:sp>
        <p:nvSpPr>
          <p:cNvPr id="77" name="Shape330712482057"/>
          <p:cNvSpPr/>
          <p:nvPr/>
        </p:nvSpPr>
        <p:spPr>
          <a:xfrm>
            <a:off x="931137" y="2350183"/>
            <a:ext cx="5164863" cy="667860"/>
          </a:xfrm>
          <a:custGeom>
            <a:avLst/>
            <a:gdLst/>
            <a:ahLst/>
            <a:cxnLst/>
            <a:rect l="l" t="t" r="r" b="b"/>
            <a:pathLst>
              <a:path w="5164863" h="667860">
                <a:moveTo>
                  <a:pt x="0" y="0"/>
                </a:moveTo>
                <a:lnTo>
                  <a:pt x="5164863" y="0"/>
                </a:lnTo>
                <a:lnTo>
                  <a:pt x="5164863" y="667860"/>
                </a:lnTo>
                <a:lnTo>
                  <a:pt x="0" y="66786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400" dirty="0">
                <a:solidFill>
                  <a:srgbClr val="FFFFFF"/>
                </a:solidFill>
                <a:latin typeface="+mn-lt"/>
              </a:rPr>
              <a:t>Provides a simple baseline for ETA prediction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8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266287972611"/>
          <p:cNvSpPr/>
          <p:nvPr/>
        </p:nvSpPr>
        <p:spPr>
          <a:xfrm>
            <a:off x="912686" y="6865667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3" name="Shape270582939907"/>
          <p:cNvSpPr/>
          <p:nvPr/>
        </p:nvSpPr>
        <p:spPr>
          <a:xfrm>
            <a:off x="998762" y="6904158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ECEE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4" name="Shape274877907203"/>
          <p:cNvSpPr/>
          <p:nvPr/>
        </p:nvSpPr>
        <p:spPr>
          <a:xfrm>
            <a:off x="952467" y="6946106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9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2"/>
                </a:lnTo>
                <a:arcTo wR="66408" hR="66408" stAng="5400000" swAng="5400000"/>
                <a:close/>
              </a:path>
            </a:pathLst>
          </a:custGeom>
          <a:solidFill>
            <a:srgbClr val="ECEE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65" name="Shape279172874499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1833" y="6986852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79"/>
                </a:lnTo>
                <a:lnTo>
                  <a:pt x="0" y="231579"/>
                </a:lnTo>
                <a:close/>
              </a:path>
            </a:pathLst>
          </a:custGeom>
        </p:spPr>
      </p:pic>
      <p:sp>
        <p:nvSpPr>
          <p:cNvPr id="66" name="Shape283467841795"/>
          <p:cNvSpPr/>
          <p:nvPr/>
        </p:nvSpPr>
        <p:spPr>
          <a:xfrm>
            <a:off x="1433586" y="6865668"/>
            <a:ext cx="4338564" cy="213360"/>
          </a:xfrm>
          <a:custGeom>
            <a:avLst/>
            <a:gdLst/>
            <a:ahLst/>
            <a:cxnLst/>
            <a:rect l="l" t="t" r="r" b="b"/>
            <a:pathLst>
              <a:path w="4338564" h="213360">
                <a:moveTo>
                  <a:pt x="0" y="0"/>
                </a:moveTo>
                <a:lnTo>
                  <a:pt x="4338564" y="0"/>
                </a:lnTo>
                <a:lnTo>
                  <a:pt x="4338564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>
                <a:solidFill>
                  <a:srgbClr val="FFFFFF"/>
                </a:solidFill>
                <a:latin typeface="+mn-lt"/>
              </a:rPr>
              <a:t>Date: 11th September 2025</a:t>
            </a:r>
          </a:p>
        </p:txBody>
      </p:sp>
      <p:sp>
        <p:nvSpPr>
          <p:cNvPr id="5" name="Shape549755814147">
            <a:extLst>
              <a:ext uri="{FF2B5EF4-FFF2-40B4-BE49-F238E27FC236}">
                <a16:creationId xmlns:a16="http://schemas.microsoft.com/office/drawing/2014/main" id="{CCB8CABB-0752-89CB-C0E3-A6787143B164}"/>
              </a:ext>
            </a:extLst>
          </p:cNvPr>
          <p:cNvSpPr/>
          <p:nvPr/>
        </p:nvSpPr>
        <p:spPr>
          <a:xfrm>
            <a:off x="3744651" y="241706"/>
            <a:ext cx="3377671" cy="541890"/>
          </a:xfrm>
          <a:custGeom>
            <a:avLst/>
            <a:gdLst/>
            <a:ahLst/>
            <a:cxnLst/>
            <a:rect l="l" t="t" r="r" b="b"/>
            <a:pathLst>
              <a:path w="6447813" h="541890">
                <a:moveTo>
                  <a:pt x="0" y="0"/>
                </a:moveTo>
                <a:lnTo>
                  <a:pt x="6447812" y="0"/>
                </a:lnTo>
                <a:lnTo>
                  <a:pt x="6447812" y="541890"/>
                </a:lnTo>
                <a:lnTo>
                  <a:pt x="0" y="54189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chemeClr val="bg1"/>
                </a:solidFill>
                <a:latin typeface="+mn-lt"/>
              </a:rPr>
              <a:t>Code Snippet</a:t>
            </a:r>
          </a:p>
        </p:txBody>
      </p:sp>
      <p:sp>
        <p:nvSpPr>
          <p:cNvPr id="27" name="Shape442381631747">
            <a:extLst>
              <a:ext uri="{FF2B5EF4-FFF2-40B4-BE49-F238E27FC236}">
                <a16:creationId xmlns:a16="http://schemas.microsoft.com/office/drawing/2014/main" id="{7F03869D-6BEF-A776-FB6D-EC18B67E5465}"/>
              </a:ext>
            </a:extLst>
          </p:cNvPr>
          <p:cNvSpPr/>
          <p:nvPr/>
        </p:nvSpPr>
        <p:spPr>
          <a:xfrm>
            <a:off x="5001487" y="6429249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C42539-D3CE-FABC-4262-F12B1CDADB15}"/>
              </a:ext>
            </a:extLst>
          </p:cNvPr>
          <p:cNvSpPr txBox="1"/>
          <p:nvPr/>
        </p:nvSpPr>
        <p:spPr>
          <a:xfrm>
            <a:off x="457200" y="1709928"/>
            <a:ext cx="6094476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pd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np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seaborn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sns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model_selection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train_test_split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linear_model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LinearRegression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metrics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mean_absolute_error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mean_squared_error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r2_score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preprocessing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StandardScaler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615B909-30F6-A579-61AD-AA0AA387C04B}"/>
              </a:ext>
            </a:extLst>
          </p:cNvPr>
          <p:cNvSpPr txBox="1"/>
          <p:nvPr/>
        </p:nvSpPr>
        <p:spPr>
          <a:xfrm>
            <a:off x="6630924" y="2303471"/>
            <a:ext cx="6094476" cy="818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LinearRegression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{}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scaler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StandardScaler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D132FD-3579-7D8E-CBAF-EE05E062E124}"/>
              </a:ext>
            </a:extLst>
          </p:cNvPr>
          <p:cNvSpPr txBox="1"/>
          <p:nvPr/>
        </p:nvSpPr>
        <p:spPr>
          <a:xfrm>
            <a:off x="-76200" y="4827852"/>
            <a:ext cx="6705600" cy="1529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		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X_train_scaled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scaler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fit_transform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X_test_scaled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scaler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X_train_scaled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X_test_scaled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F20577-4838-3F72-36DB-E71C92E676BF}"/>
              </a:ext>
            </a:extLst>
          </p:cNvPr>
          <p:cNvSpPr txBox="1"/>
          <p:nvPr/>
        </p:nvSpPr>
        <p:spPr>
          <a:xfrm>
            <a:off x="6172200" y="5160264"/>
            <a:ext cx="6140196" cy="82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mae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mean_absolute_error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mse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mean_squared_error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rmse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mse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r2_score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050AEEF-66E6-B168-C450-FB2DDF758014}"/>
              </a:ext>
            </a:extLst>
          </p:cNvPr>
          <p:cNvSpPr/>
          <p:nvPr/>
        </p:nvSpPr>
        <p:spPr>
          <a:xfrm>
            <a:off x="7239000" y="4114800"/>
            <a:ext cx="3810000" cy="713052"/>
          </a:xfrm>
          <a:prstGeom prst="roundRect">
            <a:avLst/>
          </a:prstGeom>
          <a:solidFill>
            <a:srgbClr val="13183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Performance Metric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668F07B-B314-0478-8F36-4DAB08FC0EE3}"/>
              </a:ext>
            </a:extLst>
          </p:cNvPr>
          <p:cNvSpPr/>
          <p:nvPr/>
        </p:nvSpPr>
        <p:spPr>
          <a:xfrm>
            <a:off x="888302" y="3781684"/>
            <a:ext cx="3810000" cy="713052"/>
          </a:xfrm>
          <a:prstGeom prst="roundRect">
            <a:avLst/>
          </a:prstGeom>
          <a:solidFill>
            <a:srgbClr val="13183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 Dataset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7EB1098-F932-056E-9C57-FB17EB4DDBC3}"/>
              </a:ext>
            </a:extLst>
          </p:cNvPr>
          <p:cNvSpPr/>
          <p:nvPr/>
        </p:nvSpPr>
        <p:spPr>
          <a:xfrm>
            <a:off x="8229600" y="1353402"/>
            <a:ext cx="3810000" cy="713052"/>
          </a:xfrm>
          <a:prstGeom prst="roundRect">
            <a:avLst/>
          </a:prstGeom>
          <a:solidFill>
            <a:srgbClr val="13183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 Model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1285D5C-09C9-7974-2A84-11AFF45B6E46}"/>
              </a:ext>
            </a:extLst>
          </p:cNvPr>
          <p:cNvSpPr/>
          <p:nvPr/>
        </p:nvSpPr>
        <p:spPr>
          <a:xfrm>
            <a:off x="3200400" y="1122792"/>
            <a:ext cx="3810000" cy="713052"/>
          </a:xfrm>
          <a:prstGeom prst="roundRect">
            <a:avLst/>
          </a:prstGeom>
          <a:solidFill>
            <a:srgbClr val="13183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Import Libraries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38654705926"/>
          <p:cNvSpPr/>
          <p:nvPr/>
        </p:nvSpPr>
        <p:spPr>
          <a:xfrm rot="20976552">
            <a:off x="-1429621" y="777584"/>
            <a:ext cx="9338127" cy="7870092"/>
          </a:xfrm>
          <a:custGeom>
            <a:avLst/>
            <a:gdLst/>
            <a:ahLst/>
            <a:cxnLst/>
            <a:rect l="l" t="t" r="r" b="b"/>
            <a:pathLst>
              <a:path w="9338127" h="7870090">
                <a:moveTo>
                  <a:pt x="0" y="1182953"/>
                </a:moveTo>
                <a:arcTo wR="1182953" hR="1182953" stAng="10800000" swAng="5400000"/>
                <a:lnTo>
                  <a:pt x="8155173" y="0"/>
                </a:lnTo>
                <a:arcTo wR="1182953" hR="1182953" stAng="16200000" swAng="5400000"/>
                <a:lnTo>
                  <a:pt x="9338127" y="6687139"/>
                </a:lnTo>
                <a:arcTo wR="1182953" hR="1182953" stAng="0" swAng="5400000"/>
                <a:lnTo>
                  <a:pt x="1182953" y="7870091"/>
                </a:lnTo>
                <a:arcTo wR="1182953" hR="1182953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Shape42949673222"/>
          <p:cNvSpPr/>
          <p:nvPr/>
        </p:nvSpPr>
        <p:spPr>
          <a:xfrm rot="20976552">
            <a:off x="8454005" y="2110048"/>
            <a:ext cx="6610883" cy="5571595"/>
          </a:xfrm>
          <a:custGeom>
            <a:avLst/>
            <a:gdLst/>
            <a:ahLst/>
            <a:cxnLst/>
            <a:rect l="l" t="t" r="r" b="b"/>
            <a:pathLst>
              <a:path w="6610883" h="5571595">
                <a:moveTo>
                  <a:pt x="0" y="837466"/>
                </a:moveTo>
                <a:arcTo wR="837466" hR="837466" stAng="10800000" swAng="5400000"/>
                <a:lnTo>
                  <a:pt x="5773416" y="0"/>
                </a:lnTo>
                <a:arcTo wR="837466" hR="837466" stAng="16200000" swAng="5400000"/>
                <a:lnTo>
                  <a:pt x="6610883" y="4734128"/>
                </a:lnTo>
                <a:arcTo wR="837466" hR="837466" stAng="0" swAng="5400000"/>
                <a:lnTo>
                  <a:pt x="837466" y="5571595"/>
                </a:lnTo>
                <a:arcTo wR="837466" hR="837466" stAng="5400000" swAng="5400000"/>
                <a:close/>
              </a:path>
            </a:pathLst>
          </a:custGeom>
          <a:solidFill>
            <a:srgbClr val="0D1026">
              <a:alpha val="80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1" name="Shape47244640518"/>
          <p:cNvSpPr/>
          <p:nvPr/>
        </p:nvSpPr>
        <p:spPr>
          <a:xfrm rot="20971536">
            <a:off x="7727582" y="710587"/>
            <a:ext cx="1693814" cy="1677625"/>
          </a:xfrm>
          <a:custGeom>
            <a:avLst/>
            <a:gdLst/>
            <a:ahLst/>
            <a:cxnLst/>
            <a:rect l="l" t="t" r="r" b="b"/>
            <a:pathLst>
              <a:path w="1693814" h="1677624">
                <a:moveTo>
                  <a:pt x="0" y="533769"/>
                </a:moveTo>
                <a:arcTo wR="533769" hR="533769" stAng="10800000" swAng="5400000"/>
                <a:lnTo>
                  <a:pt x="1160043" y="0"/>
                </a:lnTo>
                <a:arcTo wR="533769" hR="533769" stAng="16200000" swAng="5400000"/>
                <a:lnTo>
                  <a:pt x="1693813" y="1143855"/>
                </a:lnTo>
                <a:arcTo wR="533769" hR="533769" stAng="0" swAng="5400000"/>
                <a:lnTo>
                  <a:pt x="533769" y="1677624"/>
                </a:lnTo>
                <a:arcTo wR="533769" hR="533769" stAng="5400000" swAng="5400000"/>
                <a:close/>
              </a:path>
            </a:pathLst>
          </a:custGeom>
          <a:solidFill>
            <a:srgbClr val="0D1026">
              <a:alpha val="45098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" name="Shape51539607814"/>
          <p:cNvSpPr/>
          <p:nvPr/>
        </p:nvSpPr>
        <p:spPr>
          <a:xfrm>
            <a:off x="911226" y="3499885"/>
            <a:ext cx="5911704" cy="541890"/>
          </a:xfrm>
          <a:custGeom>
            <a:avLst/>
            <a:gdLst/>
            <a:ahLst/>
            <a:cxnLst/>
            <a:rect l="l" t="t" r="r" b="b"/>
            <a:pathLst>
              <a:path w="5911704" h="541890">
                <a:moveTo>
                  <a:pt x="0" y="0"/>
                </a:moveTo>
                <a:lnTo>
                  <a:pt x="5911704" y="0"/>
                </a:lnTo>
                <a:lnTo>
                  <a:pt x="5911704" y="541890"/>
                </a:lnTo>
                <a:lnTo>
                  <a:pt x="0" y="54189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>
                <a:solidFill>
                  <a:srgbClr val="ECEEF9"/>
                </a:solidFill>
                <a:latin typeface="+mn-lt"/>
              </a:rPr>
              <a:t>VISUALIZATION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F3EA9C-FD38-FA31-E568-0A972AFCB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411474"/>
            <a:ext cx="11704343" cy="60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2258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167503724809"/>
          <p:cNvSpPr/>
          <p:nvPr/>
        </p:nvSpPr>
        <p:spPr>
          <a:xfrm>
            <a:off x="7554989" y="555567"/>
            <a:ext cx="1387843" cy="876993"/>
          </a:xfrm>
          <a:custGeom>
            <a:avLst/>
            <a:gdLst/>
            <a:ahLst/>
            <a:cxnLst/>
            <a:rect l="l" t="t" r="r" b="b"/>
            <a:pathLst>
              <a:path w="1387843" h="876993">
                <a:moveTo>
                  <a:pt x="0" y="355155"/>
                </a:moveTo>
                <a:arcTo wR="355155" hR="355155" stAng="10800000" swAng="5400000"/>
                <a:lnTo>
                  <a:pt x="1032687" y="0"/>
                </a:lnTo>
                <a:arcTo wR="355155" hR="355155" stAng="16200000" swAng="5400000"/>
                <a:lnTo>
                  <a:pt x="1387843" y="521837"/>
                </a:lnTo>
                <a:arcTo wR="355155" hR="355155" stAng="0" swAng="5400000"/>
                <a:lnTo>
                  <a:pt x="355155" y="876993"/>
                </a:lnTo>
                <a:arcTo wR="355155" hR="355155" stAng="5400000" swAng="5400000"/>
                <a:close/>
              </a:path>
            </a:pathLst>
          </a:custGeom>
          <a:solidFill>
            <a:srgbClr val="3949AB">
              <a:alpha val="56078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1" name="Shape176093659401"/>
          <p:cNvSpPr/>
          <p:nvPr/>
        </p:nvSpPr>
        <p:spPr>
          <a:xfrm>
            <a:off x="7554990" y="5460274"/>
            <a:ext cx="2212898" cy="1218511"/>
          </a:xfrm>
          <a:custGeom>
            <a:avLst/>
            <a:gdLst/>
            <a:ahLst/>
            <a:cxnLst/>
            <a:rect l="l" t="t" r="r" b="b"/>
            <a:pathLst>
              <a:path w="2212898" h="1218511">
                <a:moveTo>
                  <a:pt x="0" y="355013"/>
                </a:moveTo>
                <a:arcTo wR="355013" hR="355013" stAng="10800000" swAng="5400000"/>
                <a:lnTo>
                  <a:pt x="1857885" y="0"/>
                </a:lnTo>
                <a:arcTo wR="355013" hR="355013" stAng="16200000" swAng="5400000"/>
                <a:lnTo>
                  <a:pt x="2212898" y="863497"/>
                </a:lnTo>
                <a:arcTo wR="355013" hR="355013" stAng="0" swAng="5400000"/>
                <a:lnTo>
                  <a:pt x="355013" y="1218511"/>
                </a:lnTo>
                <a:arcTo wR="355013" hR="355013" stAng="5400000" swAng="5400000"/>
                <a:close/>
              </a:path>
            </a:pathLst>
          </a:custGeom>
          <a:noFill/>
          <a:ln w="2540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2" name="Shape180388626697"/>
          <p:cNvSpPr/>
          <p:nvPr/>
        </p:nvSpPr>
        <p:spPr>
          <a:xfrm>
            <a:off x="10009632" y="4212338"/>
            <a:ext cx="1440236" cy="2466450"/>
          </a:xfrm>
          <a:custGeom>
            <a:avLst/>
            <a:gdLst/>
            <a:ahLst/>
            <a:cxnLst/>
            <a:rect l="l" t="t" r="r" b="b"/>
            <a:pathLst>
              <a:path w="1440236" h="2466450">
                <a:moveTo>
                  <a:pt x="0" y="346160"/>
                </a:moveTo>
                <a:arcTo wR="346160" hR="346160" stAng="10800000" swAng="5400000"/>
                <a:lnTo>
                  <a:pt x="1094075" y="0"/>
                </a:lnTo>
                <a:arcTo wR="346160" hR="346160" stAng="16200000" swAng="5400000"/>
                <a:lnTo>
                  <a:pt x="1440236" y="2120289"/>
                </a:lnTo>
                <a:arcTo wR="346160" hR="346160" stAng="0" swAng="5400000"/>
                <a:lnTo>
                  <a:pt x="346161" y="2466449"/>
                </a:lnTo>
                <a:arcTo wR="346160" hR="346160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3" name="Shape184683593993"/>
          <p:cNvSpPr/>
          <p:nvPr/>
        </p:nvSpPr>
        <p:spPr>
          <a:xfrm>
            <a:off x="741405" y="3330440"/>
            <a:ext cx="2929074" cy="243840"/>
          </a:xfrm>
          <a:custGeom>
            <a:avLst/>
            <a:gdLst/>
            <a:ahLst/>
            <a:cxnLst/>
            <a:rect l="l" t="t" r="r" b="b"/>
            <a:pathLst>
              <a:path w="2929074" h="243840">
                <a:moveTo>
                  <a:pt x="0" y="0"/>
                </a:moveTo>
                <a:lnTo>
                  <a:pt x="2929074" y="0"/>
                </a:lnTo>
                <a:lnTo>
                  <a:pt x="2929074" y="243840"/>
                </a:lnTo>
                <a:lnTo>
                  <a:pt x="0" y="2438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600" dirty="0">
                <a:solidFill>
                  <a:srgbClr val="000000"/>
                </a:solidFill>
                <a:latin typeface="+mn-lt"/>
              </a:rPr>
              <a:t>Key Features:</a:t>
            </a:r>
          </a:p>
        </p:txBody>
      </p:sp>
      <p:sp>
        <p:nvSpPr>
          <p:cNvPr id="44" name="Shape188978561289"/>
          <p:cNvSpPr/>
          <p:nvPr/>
        </p:nvSpPr>
        <p:spPr>
          <a:xfrm>
            <a:off x="1136600" y="3915718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5" name="Shape193273528585"/>
          <p:cNvSpPr/>
          <p:nvPr/>
        </p:nvSpPr>
        <p:spPr>
          <a:xfrm>
            <a:off x="1143905" y="3928599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6" name="Shape197568495881"/>
          <p:cNvSpPr/>
          <p:nvPr/>
        </p:nvSpPr>
        <p:spPr>
          <a:xfrm>
            <a:off x="1447800" y="3846578"/>
            <a:ext cx="3581400" cy="1016028"/>
          </a:xfrm>
          <a:custGeom>
            <a:avLst/>
            <a:gdLst/>
            <a:ahLst/>
            <a:cxnLst/>
            <a:rect l="l" t="t" r="r" b="b"/>
            <a:pathLst>
              <a:path w="2770274" h="731520">
                <a:moveTo>
                  <a:pt x="0" y="0"/>
                </a:moveTo>
                <a:lnTo>
                  <a:pt x="2770274" y="0"/>
                </a:lnTo>
                <a:lnTo>
                  <a:pt x="2770274" y="731520"/>
                </a:lnTo>
                <a:lnTo>
                  <a:pt x="0" y="7315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600" dirty="0">
                <a:solidFill>
                  <a:srgbClr val="000000"/>
                </a:solidFill>
                <a:latin typeface="+mn-lt"/>
              </a:rPr>
              <a:t>Features do not need normalization or standardization (unlike Linear Regression)</a:t>
            </a:r>
          </a:p>
        </p:txBody>
      </p:sp>
      <p:sp>
        <p:nvSpPr>
          <p:cNvPr id="47" name="Shape201863463177"/>
          <p:cNvSpPr/>
          <p:nvPr/>
        </p:nvSpPr>
        <p:spPr>
          <a:xfrm>
            <a:off x="1136600" y="4809800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8" name="Shape206158430473"/>
          <p:cNvSpPr/>
          <p:nvPr/>
        </p:nvSpPr>
        <p:spPr>
          <a:xfrm>
            <a:off x="1143904" y="4822680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9" name="Shape210453397769"/>
          <p:cNvSpPr/>
          <p:nvPr/>
        </p:nvSpPr>
        <p:spPr>
          <a:xfrm>
            <a:off x="1447800" y="4740659"/>
            <a:ext cx="3581400" cy="338676"/>
          </a:xfrm>
          <a:custGeom>
            <a:avLst/>
            <a:gdLst/>
            <a:ahLst/>
            <a:cxnLst/>
            <a:rect l="l" t="t" r="r" b="b"/>
            <a:pathLst>
              <a:path w="2770274" h="243840">
                <a:moveTo>
                  <a:pt x="0" y="0"/>
                </a:moveTo>
                <a:lnTo>
                  <a:pt x="2770274" y="0"/>
                </a:lnTo>
                <a:lnTo>
                  <a:pt x="2770274" y="243840"/>
                </a:lnTo>
                <a:lnTo>
                  <a:pt x="0" y="2438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600" dirty="0">
                <a:solidFill>
                  <a:srgbClr val="000000"/>
                </a:solidFill>
                <a:latin typeface="+mn-lt"/>
              </a:rPr>
              <a:t>Provides Feature Importance</a:t>
            </a:r>
          </a:p>
        </p:txBody>
      </p:sp>
      <p:sp>
        <p:nvSpPr>
          <p:cNvPr id="50" name="Shape214748365065"/>
          <p:cNvSpPr/>
          <p:nvPr/>
        </p:nvSpPr>
        <p:spPr>
          <a:xfrm>
            <a:off x="1136600" y="5216198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1" name="Shape219043332361"/>
          <p:cNvSpPr/>
          <p:nvPr/>
        </p:nvSpPr>
        <p:spPr>
          <a:xfrm>
            <a:off x="1143904" y="5229080"/>
            <a:ext cx="130178" cy="132112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2" name="Shape223338299657"/>
          <p:cNvSpPr/>
          <p:nvPr/>
        </p:nvSpPr>
        <p:spPr>
          <a:xfrm>
            <a:off x="1447800" y="5181600"/>
            <a:ext cx="3581400" cy="338676"/>
          </a:xfrm>
          <a:custGeom>
            <a:avLst/>
            <a:gdLst/>
            <a:ahLst/>
            <a:cxnLst/>
            <a:rect l="l" t="t" r="r" b="b"/>
            <a:pathLst>
              <a:path w="2770274" h="243840">
                <a:moveTo>
                  <a:pt x="0" y="0"/>
                </a:moveTo>
                <a:lnTo>
                  <a:pt x="2770274" y="0"/>
                </a:lnTo>
                <a:lnTo>
                  <a:pt x="2770274" y="243840"/>
                </a:lnTo>
                <a:lnTo>
                  <a:pt x="0" y="2438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600">
                <a:solidFill>
                  <a:srgbClr val="000000"/>
                </a:solidFill>
                <a:latin typeface="+mn-lt"/>
              </a:rPr>
              <a:t>High Accuracy on Tabular Data</a:t>
            </a:r>
          </a:p>
        </p:txBody>
      </p:sp>
      <p:sp>
        <p:nvSpPr>
          <p:cNvPr id="53" name="Shape227633266953"/>
          <p:cNvSpPr/>
          <p:nvPr/>
        </p:nvSpPr>
        <p:spPr>
          <a:xfrm>
            <a:off x="6318199" y="3298348"/>
            <a:ext cx="155106" cy="112287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4" name="Shape231928234249"/>
          <p:cNvSpPr/>
          <p:nvPr/>
        </p:nvSpPr>
        <p:spPr>
          <a:xfrm>
            <a:off x="6325505" y="3311230"/>
            <a:ext cx="155106" cy="112287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5" name="Shape236223201545"/>
          <p:cNvSpPr/>
          <p:nvPr/>
        </p:nvSpPr>
        <p:spPr>
          <a:xfrm>
            <a:off x="6629400" y="3202973"/>
            <a:ext cx="4267200" cy="575709"/>
          </a:xfrm>
          <a:custGeom>
            <a:avLst/>
            <a:gdLst/>
            <a:ahLst/>
            <a:cxnLst/>
            <a:rect l="l" t="t" r="r" b="b"/>
            <a:pathLst>
              <a:path w="2770273" h="487680">
                <a:moveTo>
                  <a:pt x="0" y="0"/>
                </a:moveTo>
                <a:lnTo>
                  <a:pt x="2770274" y="0"/>
                </a:lnTo>
                <a:lnTo>
                  <a:pt x="2770274" y="487679"/>
                </a:lnTo>
                <a:lnTo>
                  <a:pt x="0" y="4876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b="1" dirty="0">
                <a:solidFill>
                  <a:srgbClr val="000000"/>
                </a:solidFill>
                <a:latin typeface="+mn-lt"/>
              </a:rPr>
              <a:t>Advantages</a:t>
            </a:r>
            <a:r>
              <a:rPr sz="2000" dirty="0">
                <a:solidFill>
                  <a:srgbClr val="000000"/>
                </a:solidFill>
                <a:latin typeface="+mn-lt"/>
              </a:rPr>
              <a:t>: high accuracy, robust</a:t>
            </a:r>
          </a:p>
        </p:txBody>
      </p:sp>
      <p:sp>
        <p:nvSpPr>
          <p:cNvPr id="56" name="Shape240518168841"/>
          <p:cNvSpPr/>
          <p:nvPr/>
        </p:nvSpPr>
        <p:spPr>
          <a:xfrm>
            <a:off x="6318200" y="3989230"/>
            <a:ext cx="155106" cy="112287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7" name="Shape244813136137"/>
          <p:cNvSpPr/>
          <p:nvPr/>
        </p:nvSpPr>
        <p:spPr>
          <a:xfrm>
            <a:off x="6325505" y="4002110"/>
            <a:ext cx="155106" cy="112287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8" name="Shape249108103433"/>
          <p:cNvSpPr/>
          <p:nvPr/>
        </p:nvSpPr>
        <p:spPr>
          <a:xfrm>
            <a:off x="6629400" y="3915718"/>
            <a:ext cx="4267200" cy="575709"/>
          </a:xfrm>
          <a:custGeom>
            <a:avLst/>
            <a:gdLst/>
            <a:ahLst/>
            <a:cxnLst/>
            <a:rect l="l" t="t" r="r" b="b"/>
            <a:pathLst>
              <a:path w="2770274" h="487680">
                <a:moveTo>
                  <a:pt x="0" y="0"/>
                </a:moveTo>
                <a:lnTo>
                  <a:pt x="2770274" y="0"/>
                </a:lnTo>
                <a:lnTo>
                  <a:pt x="2770274" y="487679"/>
                </a:lnTo>
                <a:lnTo>
                  <a:pt x="0" y="4876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b="1" dirty="0">
                <a:solidFill>
                  <a:srgbClr val="000000"/>
                </a:solidFill>
                <a:latin typeface="+mn-lt"/>
              </a:rPr>
              <a:t>Disadvantages</a:t>
            </a:r>
            <a:r>
              <a:rPr sz="2000" dirty="0">
                <a:solidFill>
                  <a:srgbClr val="000000"/>
                </a:solidFill>
                <a:latin typeface="+mn-lt"/>
              </a:rPr>
              <a:t>: slower, harder to interpret</a:t>
            </a:r>
          </a:p>
        </p:txBody>
      </p:sp>
      <p:sp>
        <p:nvSpPr>
          <p:cNvPr id="59" name="Shape253403070729"/>
          <p:cNvSpPr/>
          <p:nvPr/>
        </p:nvSpPr>
        <p:spPr>
          <a:xfrm>
            <a:off x="741405" y="1089627"/>
            <a:ext cx="6192839" cy="1060050"/>
          </a:xfrm>
          <a:custGeom>
            <a:avLst/>
            <a:gdLst/>
            <a:ahLst/>
            <a:cxnLst/>
            <a:rect l="l" t="t" r="r" b="b"/>
            <a:pathLst>
              <a:path w="6192839" h="1060050">
                <a:moveTo>
                  <a:pt x="0" y="0"/>
                </a:moveTo>
                <a:lnTo>
                  <a:pt x="6192839" y="0"/>
                </a:lnTo>
                <a:lnTo>
                  <a:pt x="6192839" y="1060050"/>
                </a:lnTo>
                <a:lnTo>
                  <a:pt x="0" y="106005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>
                <a:solidFill>
                  <a:srgbClr val="0D1026"/>
                </a:solidFill>
                <a:latin typeface="+mn-lt"/>
              </a:rPr>
              <a:t>Random Forest – What Was Completed</a:t>
            </a:r>
          </a:p>
        </p:txBody>
      </p:sp>
      <p:sp>
        <p:nvSpPr>
          <p:cNvPr id="60" name="Shape257698038025"/>
          <p:cNvSpPr/>
          <p:nvPr/>
        </p:nvSpPr>
        <p:spPr>
          <a:xfrm>
            <a:off x="741406" y="2273702"/>
            <a:ext cx="6192838" cy="338676"/>
          </a:xfrm>
          <a:custGeom>
            <a:avLst/>
            <a:gdLst/>
            <a:ahLst/>
            <a:cxnLst/>
            <a:rect l="l" t="t" r="r" b="b"/>
            <a:pathLst>
              <a:path w="6192838" h="338676">
                <a:moveTo>
                  <a:pt x="0" y="0"/>
                </a:moveTo>
                <a:lnTo>
                  <a:pt x="6192837" y="0"/>
                </a:lnTo>
                <a:lnTo>
                  <a:pt x="6192837" y="338676"/>
                </a:lnTo>
                <a:lnTo>
                  <a:pt x="0" y="33867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400">
                <a:solidFill>
                  <a:srgbClr val="000000"/>
                </a:solidFill>
                <a:latin typeface="+mn-lt"/>
              </a:rPr>
              <a:t>Handles non‑linear transit patterns well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665719931139"/>
          <p:cNvSpPr/>
          <p:nvPr/>
        </p:nvSpPr>
        <p:spPr>
          <a:xfrm rot="20510412">
            <a:off x="10664205" y="-359361"/>
            <a:ext cx="1729925" cy="1981316"/>
          </a:xfrm>
          <a:custGeom>
            <a:avLst/>
            <a:gdLst/>
            <a:ahLst/>
            <a:cxnLst/>
            <a:rect l="l" t="t" r="r" b="b"/>
            <a:pathLst>
              <a:path w="1729925" h="1981316">
                <a:moveTo>
                  <a:pt x="4409" y="0"/>
                </a:moveTo>
                <a:lnTo>
                  <a:pt x="1729925" y="565979"/>
                </a:lnTo>
                <a:lnTo>
                  <a:pt x="1265686" y="1981315"/>
                </a:lnTo>
                <a:lnTo>
                  <a:pt x="504294" y="1981315"/>
                </a:lnTo>
                <a:cubicBezTo>
                  <a:pt x="225780" y="1981315"/>
                  <a:pt x="0" y="1755535"/>
                  <a:pt x="0" y="1477021"/>
                </a:cubicBezTo>
                <a:lnTo>
                  <a:pt x="0" y="43743"/>
                </a:lnTo>
                <a:close/>
              </a:path>
            </a:pathLst>
          </a:custGeom>
          <a:solidFill>
            <a:srgbClr val="0D1026">
              <a:alpha val="74902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56" name="Shape670014898435"/>
          <p:cNvSpPr/>
          <p:nvPr/>
        </p:nvSpPr>
        <p:spPr>
          <a:xfrm rot="20510412" flipV="1">
            <a:off x="11766790" y="1872569"/>
            <a:ext cx="584954" cy="866421"/>
          </a:xfrm>
          <a:custGeom>
            <a:avLst/>
            <a:gdLst/>
            <a:ahLst/>
            <a:cxnLst/>
            <a:rect l="l" t="t" r="r" b="b"/>
            <a:pathLst>
              <a:path w="584954" h="866419">
                <a:moveTo>
                  <a:pt x="584954" y="866420"/>
                </a:moveTo>
                <a:lnTo>
                  <a:pt x="300762" y="0"/>
                </a:lnTo>
                <a:lnTo>
                  <a:pt x="178933" y="0"/>
                </a:lnTo>
                <a:cubicBezTo>
                  <a:pt x="80110" y="0"/>
                  <a:pt x="0" y="80111"/>
                  <a:pt x="0" y="178933"/>
                </a:cubicBezTo>
                <a:lnTo>
                  <a:pt x="0" y="687487"/>
                </a:lnTo>
                <a:cubicBezTo>
                  <a:pt x="0" y="786309"/>
                  <a:pt x="80110" y="866420"/>
                  <a:pt x="178933" y="866420"/>
                </a:cubicBezTo>
                <a:close/>
              </a:path>
            </a:pathLst>
          </a:custGeom>
          <a:solidFill>
            <a:srgbClr val="3949AB">
              <a:alpha val="90196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57" name="Shape674309865731"/>
          <p:cNvSpPr/>
          <p:nvPr/>
        </p:nvSpPr>
        <p:spPr>
          <a:xfrm rot="20386584">
            <a:off x="-556261" y="-367859"/>
            <a:ext cx="1112520" cy="1112520"/>
          </a:xfrm>
          <a:custGeom>
            <a:avLst/>
            <a:gdLst/>
            <a:ahLst/>
            <a:cxnLst/>
            <a:rect l="l" t="t" r="r" b="b"/>
            <a:pathLst>
              <a:path w="1112520" h="1112520">
                <a:moveTo>
                  <a:pt x="0" y="185423"/>
                </a:moveTo>
                <a:arcTo wR="185423" hR="185423" stAng="10800000" swAng="5400000"/>
                <a:lnTo>
                  <a:pt x="927096" y="0"/>
                </a:lnTo>
                <a:arcTo wR="185423" hR="185423" stAng="16200000" swAng="5400000"/>
                <a:lnTo>
                  <a:pt x="1112520" y="927096"/>
                </a:lnTo>
                <a:arcTo wR="185423" hR="185423" stAng="0" swAng="5400000"/>
                <a:lnTo>
                  <a:pt x="185423" y="1112520"/>
                </a:lnTo>
                <a:arcTo wR="185423" hR="185423" stAng="5400000" swAng="5400000"/>
                <a:close/>
              </a:path>
            </a:pathLst>
          </a:custGeom>
          <a:noFill/>
          <a:ln w="25400">
            <a:solidFill>
              <a:srgbClr val="1219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60" name="Shape1116691497219"/>
          <p:cNvSpPr/>
          <p:nvPr/>
        </p:nvSpPr>
        <p:spPr>
          <a:xfrm>
            <a:off x="1219200" y="152400"/>
            <a:ext cx="3886200" cy="541890"/>
          </a:xfrm>
          <a:custGeom>
            <a:avLst/>
            <a:gdLst/>
            <a:ahLst/>
            <a:cxnLst/>
            <a:rect l="l" t="t" r="r" b="b"/>
            <a:pathLst>
              <a:path w="8616252" h="541890">
                <a:moveTo>
                  <a:pt x="0" y="0"/>
                </a:moveTo>
                <a:lnTo>
                  <a:pt x="8616252" y="0"/>
                </a:lnTo>
                <a:lnTo>
                  <a:pt x="8616252" y="541890"/>
                </a:lnTo>
                <a:lnTo>
                  <a:pt x="0" y="54189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0D1026"/>
                </a:solidFill>
                <a:latin typeface="+mn-lt"/>
              </a:rPr>
              <a:t>CODE SNIPPET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59637-E6C5-5E56-E940-6D372186D0DC}"/>
              </a:ext>
            </a:extLst>
          </p:cNvPr>
          <p:cNvSpPr txBox="1"/>
          <p:nvPr/>
        </p:nvSpPr>
        <p:spPr>
          <a:xfrm>
            <a:off x="304800" y="1264917"/>
            <a:ext cx="6451092" cy="188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pandas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pd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np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plt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seaborn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sns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model_selection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train_test_split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ensemble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RandomForestRegressor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metrics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mean_absolute_error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mean_squared_error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r2_score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preprocessing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u="sng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StandardScaler</a:t>
            </a:r>
            <a:endParaRPr lang="en-US" sz="1400" b="0" dirty="0">
              <a:solidFill>
                <a:srgbClr val="C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A7C4B-C474-22A9-5528-1BFF03C18DC9}"/>
              </a:ext>
            </a:extLst>
          </p:cNvPr>
          <p:cNvSpPr txBox="1"/>
          <p:nvPr/>
        </p:nvSpPr>
        <p:spPr>
          <a:xfrm>
            <a:off x="6217856" y="1947243"/>
            <a:ext cx="6451092" cy="1529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):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RandomForestRegressor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n_estimators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n_jobs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=-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{}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8B804-B58D-16B9-2FAB-FCBC778F2EB2}"/>
              </a:ext>
            </a:extLst>
          </p:cNvPr>
          <p:cNvSpPr txBox="1"/>
          <p:nvPr/>
        </p:nvSpPr>
        <p:spPr>
          <a:xfrm>
            <a:off x="121920" y="4648200"/>
            <a:ext cx="6670548" cy="1170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train_test_split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test_size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random_state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42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fit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y_train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4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X_test</a:t>
            </a:r>
            <a:r>
              <a:rPr lang="en-US" sz="14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26AEC-91C2-1864-2D6C-02B63D1E655C}"/>
              </a:ext>
            </a:extLst>
          </p:cNvPr>
          <p:cNvSpPr txBox="1"/>
          <p:nvPr/>
        </p:nvSpPr>
        <p:spPr>
          <a:xfrm>
            <a:off x="5983160" y="5587734"/>
            <a:ext cx="6670548" cy="82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mae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mean_absolute_error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mse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mean_squared_error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rmse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mse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r2_score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y_test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AD7D8A64-34C0-63D6-AB7B-F8D340917A34}"/>
              </a:ext>
            </a:extLst>
          </p:cNvPr>
          <p:cNvSpPr/>
          <p:nvPr/>
        </p:nvSpPr>
        <p:spPr>
          <a:xfrm>
            <a:off x="7905716" y="902659"/>
            <a:ext cx="2590800" cy="762000"/>
          </a:xfrm>
          <a:prstGeom prst="round2DiagRect">
            <a:avLst/>
          </a:prstGeom>
          <a:solidFill>
            <a:srgbClr val="FFFFFF"/>
          </a:solidFill>
          <a:ln>
            <a:solidFill>
              <a:srgbClr val="131839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31839"/>
                </a:solidFill>
              </a:rPr>
              <a:t>Model Fitting</a:t>
            </a: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441FA1C8-5B64-A625-A3E6-4C3E49599CA9}"/>
              </a:ext>
            </a:extLst>
          </p:cNvPr>
          <p:cNvSpPr/>
          <p:nvPr/>
        </p:nvSpPr>
        <p:spPr>
          <a:xfrm>
            <a:off x="1827640" y="3553390"/>
            <a:ext cx="3405412" cy="824968"/>
          </a:xfrm>
          <a:prstGeom prst="round2DiagRect">
            <a:avLst/>
          </a:prstGeom>
          <a:solidFill>
            <a:srgbClr val="FFFFFF"/>
          </a:solidFill>
          <a:ln>
            <a:solidFill>
              <a:srgbClr val="131839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31839"/>
                </a:solidFill>
              </a:rPr>
              <a:t>Train Model</a:t>
            </a:r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189308D4-674C-A276-D54B-1C4956852F87}"/>
              </a:ext>
            </a:extLst>
          </p:cNvPr>
          <p:cNvSpPr/>
          <p:nvPr/>
        </p:nvSpPr>
        <p:spPr>
          <a:xfrm>
            <a:off x="3657600" y="964132"/>
            <a:ext cx="2084828" cy="541890"/>
          </a:xfrm>
          <a:prstGeom prst="round2DiagRect">
            <a:avLst/>
          </a:prstGeom>
          <a:solidFill>
            <a:srgbClr val="FFFFFF"/>
          </a:solidFill>
          <a:ln>
            <a:solidFill>
              <a:srgbClr val="131839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31839"/>
                </a:solidFill>
              </a:rPr>
              <a:t>Library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C59726C4-4A9B-88F4-2A8B-F35A0B77BB5C}"/>
              </a:ext>
            </a:extLst>
          </p:cNvPr>
          <p:cNvSpPr/>
          <p:nvPr/>
        </p:nvSpPr>
        <p:spPr>
          <a:xfrm>
            <a:off x="7905716" y="4352220"/>
            <a:ext cx="3405412" cy="824968"/>
          </a:xfrm>
          <a:prstGeom prst="round2DiagRect">
            <a:avLst/>
          </a:prstGeom>
          <a:solidFill>
            <a:srgbClr val="FFFFFF"/>
          </a:solidFill>
          <a:ln>
            <a:solidFill>
              <a:srgbClr val="131839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31839"/>
                </a:solidFill>
              </a:rPr>
              <a:t>Performance Metric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34359738630"/>
          <p:cNvSpPr/>
          <p:nvPr/>
        </p:nvSpPr>
        <p:spPr>
          <a:xfrm>
            <a:off x="-1905000" y="0"/>
            <a:ext cx="9338127" cy="5635950"/>
          </a:xfrm>
          <a:custGeom>
            <a:avLst/>
            <a:gdLst/>
            <a:ahLst/>
            <a:cxnLst/>
            <a:rect l="l" t="t" r="r" b="b"/>
            <a:pathLst>
              <a:path w="9338127" h="5635950">
                <a:moveTo>
                  <a:pt x="0" y="847139"/>
                </a:moveTo>
                <a:arcTo wR="847139" hR="847139" stAng="10800000" swAng="5400000"/>
                <a:lnTo>
                  <a:pt x="8490987" y="0"/>
                </a:lnTo>
                <a:arcTo wR="847139" hR="847139" stAng="16200000" swAng="5400000"/>
                <a:lnTo>
                  <a:pt x="9338127" y="4788810"/>
                </a:lnTo>
                <a:arcTo wR="847139" hR="847139" stAng="0" swAng="5400000"/>
                <a:lnTo>
                  <a:pt x="847139" y="5635950"/>
                </a:lnTo>
                <a:arcTo wR="847139" hR="847139" stAng="5400000" swAng="5400000"/>
                <a:close/>
              </a:path>
            </a:pathLst>
          </a:custGeom>
          <a:solidFill>
            <a:srgbClr val="3949AB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Shape42949673222"/>
          <p:cNvSpPr/>
          <p:nvPr/>
        </p:nvSpPr>
        <p:spPr>
          <a:xfrm>
            <a:off x="911226" y="3499885"/>
            <a:ext cx="5911704" cy="541890"/>
          </a:xfrm>
          <a:custGeom>
            <a:avLst/>
            <a:gdLst/>
            <a:ahLst/>
            <a:cxnLst/>
            <a:rect l="l" t="t" r="r" b="b"/>
            <a:pathLst>
              <a:path w="5911704" h="541890">
                <a:moveTo>
                  <a:pt x="0" y="0"/>
                </a:moveTo>
                <a:lnTo>
                  <a:pt x="5911704" y="0"/>
                </a:lnTo>
                <a:lnTo>
                  <a:pt x="5911704" y="541890"/>
                </a:lnTo>
                <a:lnTo>
                  <a:pt x="0" y="54189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>
                <a:solidFill>
                  <a:srgbClr val="ECEEF9"/>
                </a:solidFill>
                <a:latin typeface="+mn-lt"/>
              </a:rPr>
              <a:t>VISUALIZATION</a:t>
            </a:r>
          </a:p>
        </p:txBody>
      </p:sp>
      <p:sp>
        <p:nvSpPr>
          <p:cNvPr id="43" name="Shape184683593987"/>
          <p:cNvSpPr/>
          <p:nvPr/>
        </p:nvSpPr>
        <p:spPr>
          <a:xfrm>
            <a:off x="7630013" y="1719886"/>
            <a:ext cx="1439501" cy="919479"/>
          </a:xfrm>
          <a:custGeom>
            <a:avLst/>
            <a:gdLst/>
            <a:ahLst/>
            <a:cxnLst/>
            <a:rect l="l" t="t" r="r" b="b"/>
            <a:pathLst>
              <a:path w="1439501" h="919478">
                <a:moveTo>
                  <a:pt x="0" y="254355"/>
                </a:moveTo>
                <a:arcTo wR="254355" hR="254355" stAng="10800000" swAng="5400000"/>
                <a:lnTo>
                  <a:pt x="1185145" y="0"/>
                </a:lnTo>
                <a:arcTo wR="254355" hR="254355" stAng="16200000" swAng="5400000"/>
                <a:lnTo>
                  <a:pt x="1439501" y="665123"/>
                </a:lnTo>
                <a:arcTo wR="254355" hR="254355" stAng="0" swAng="5400000"/>
                <a:lnTo>
                  <a:pt x="254355" y="919478"/>
                </a:lnTo>
                <a:arcTo wR="254355" hR="254355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2" name="Shape180388626691"/>
          <p:cNvSpPr/>
          <p:nvPr/>
        </p:nvSpPr>
        <p:spPr>
          <a:xfrm rot="5400000">
            <a:off x="10289295" y="4615317"/>
            <a:ext cx="2167422" cy="1400175"/>
          </a:xfrm>
          <a:custGeom>
            <a:avLst/>
            <a:gdLst/>
            <a:ahLst/>
            <a:cxnLst/>
            <a:rect l="l" t="t" r="r" b="b"/>
            <a:pathLst>
              <a:path w="2167422" h="1400175">
                <a:moveTo>
                  <a:pt x="0" y="244862"/>
                </a:moveTo>
                <a:arcTo wR="244862" hR="244862" stAng="10800000" swAng="5400000"/>
                <a:lnTo>
                  <a:pt x="1922559" y="0"/>
                </a:lnTo>
                <a:arcTo wR="244862" hR="244862" stAng="16200000" swAng="5400000"/>
                <a:lnTo>
                  <a:pt x="2167422" y="1155312"/>
                </a:lnTo>
                <a:arcTo wR="244862" hR="244862" stAng="0" swAng="5400000"/>
                <a:lnTo>
                  <a:pt x="244862" y="1400175"/>
                </a:lnTo>
                <a:arcTo wR="244862" hR="244862" stAng="5400000" swAng="5400000"/>
                <a:close/>
              </a:path>
            </a:pathLst>
          </a:custGeom>
          <a:solidFill>
            <a:srgbClr val="0D1026">
              <a:alpha val="65098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99366A-17AC-3BDC-3A90-9D21ECC4F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411474"/>
            <a:ext cx="11704343" cy="60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03696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38654705929"/>
          <p:cNvSpPr/>
          <p:nvPr/>
        </p:nvSpPr>
        <p:spPr>
          <a:xfrm rot="20571398">
            <a:off x="-415096" y="945954"/>
            <a:ext cx="8235623" cy="7352040"/>
          </a:xfrm>
          <a:custGeom>
            <a:avLst/>
            <a:gdLst/>
            <a:ahLst/>
            <a:cxnLst/>
            <a:rect l="l" t="t" r="r" b="b"/>
            <a:pathLst>
              <a:path w="8235623" h="7352040">
                <a:moveTo>
                  <a:pt x="7450322" y="50248"/>
                </a:moveTo>
                <a:cubicBezTo>
                  <a:pt x="7905286" y="191756"/>
                  <a:pt x="8235623" y="616129"/>
                  <a:pt x="8235623" y="1117656"/>
                </a:cubicBezTo>
                <a:lnTo>
                  <a:pt x="8235623" y="7349591"/>
                </a:lnTo>
                <a:lnTo>
                  <a:pt x="8235499" y="7352041"/>
                </a:lnTo>
                <a:lnTo>
                  <a:pt x="0" y="4811645"/>
                </a:lnTo>
                <a:lnTo>
                  <a:pt x="0" y="4267241"/>
                </a:lnTo>
                <a:lnTo>
                  <a:pt x="767627" y="1778733"/>
                </a:lnTo>
                <a:lnTo>
                  <a:pt x="764677" y="1777823"/>
                </a:lnTo>
                <a:lnTo>
                  <a:pt x="1313080" y="0"/>
                </a:lnTo>
                <a:lnTo>
                  <a:pt x="7117967" y="0"/>
                </a:lnTo>
                <a:cubicBezTo>
                  <a:pt x="7233704" y="0"/>
                  <a:pt x="7345331" y="17592"/>
                  <a:pt x="7450322" y="50248"/>
                </a:cubicBezTo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Shape42949673225"/>
          <p:cNvSpPr/>
          <p:nvPr/>
        </p:nvSpPr>
        <p:spPr>
          <a:xfrm rot="20571398">
            <a:off x="7466015" y="-902402"/>
            <a:ext cx="5070199" cy="4363911"/>
          </a:xfrm>
          <a:custGeom>
            <a:avLst/>
            <a:gdLst/>
            <a:ahLst/>
            <a:cxnLst/>
            <a:rect l="l" t="t" r="r" b="b"/>
            <a:pathLst>
              <a:path w="5070199" h="4363911">
                <a:moveTo>
                  <a:pt x="0" y="0"/>
                </a:moveTo>
                <a:lnTo>
                  <a:pt x="5070199" y="1563999"/>
                </a:lnTo>
                <a:lnTo>
                  <a:pt x="4206513" y="4363911"/>
                </a:lnTo>
                <a:lnTo>
                  <a:pt x="807587" y="4363911"/>
                </a:lnTo>
                <a:cubicBezTo>
                  <a:pt x="361569" y="4363911"/>
                  <a:pt x="0" y="4002342"/>
                  <a:pt x="0" y="3556323"/>
                </a:cubicBezTo>
                <a:close/>
              </a:path>
            </a:pathLst>
          </a:custGeom>
          <a:solidFill>
            <a:srgbClr val="3949AB">
              <a:alpha val="81176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" name="Shape51539607817"/>
          <p:cNvSpPr/>
          <p:nvPr/>
        </p:nvSpPr>
        <p:spPr>
          <a:xfrm>
            <a:off x="699193" y="2981725"/>
            <a:ext cx="5911704" cy="1060050"/>
          </a:xfrm>
          <a:custGeom>
            <a:avLst/>
            <a:gdLst/>
            <a:ahLst/>
            <a:cxnLst/>
            <a:rect l="l" t="t" r="r" b="b"/>
            <a:pathLst>
              <a:path w="5911704" h="1060050">
                <a:moveTo>
                  <a:pt x="0" y="0"/>
                </a:moveTo>
                <a:lnTo>
                  <a:pt x="5911704" y="0"/>
                </a:lnTo>
                <a:lnTo>
                  <a:pt x="5911704" y="1060050"/>
                </a:lnTo>
                <a:lnTo>
                  <a:pt x="0" y="106005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>
                <a:solidFill>
                  <a:srgbClr val="ECEEF9"/>
                </a:solidFill>
                <a:latin typeface="+mn-lt"/>
              </a:rPr>
              <a:t>LINEAR REGRESSION VS RANDOM FOREST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D2AF97-8A27-4106-95C9-1EEBD43C5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411474"/>
            <a:ext cx="11704343" cy="60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46819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133143986438"/>
          <p:cNvSpPr/>
          <p:nvPr/>
        </p:nvSpPr>
        <p:spPr>
          <a:xfrm rot="19730944" flipH="1">
            <a:off x="10343090" y="3120470"/>
            <a:ext cx="3027826" cy="3656069"/>
          </a:xfrm>
          <a:custGeom>
            <a:avLst/>
            <a:gdLst/>
            <a:ahLst/>
            <a:cxnLst/>
            <a:rect l="l" t="t" r="r" b="b"/>
            <a:pathLst>
              <a:path w="3027826" h="3656069">
                <a:moveTo>
                  <a:pt x="0" y="0"/>
                </a:moveTo>
                <a:lnTo>
                  <a:pt x="2209917" y="3656069"/>
                </a:lnTo>
                <a:lnTo>
                  <a:pt x="3027825" y="3161683"/>
                </a:lnTo>
                <a:lnTo>
                  <a:pt x="3027826" y="720295"/>
                </a:lnTo>
                <a:cubicBezTo>
                  <a:pt x="3027826" y="322486"/>
                  <a:pt x="2705339" y="0"/>
                  <a:pt x="2307531" y="0"/>
                </a:cubicBezTo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2" name="Shape137438953734"/>
          <p:cNvSpPr/>
          <p:nvPr/>
        </p:nvSpPr>
        <p:spPr>
          <a:xfrm rot="19730944" flipH="1">
            <a:off x="8758135" y="5677596"/>
            <a:ext cx="1776356" cy="1720484"/>
          </a:xfrm>
          <a:custGeom>
            <a:avLst/>
            <a:gdLst/>
            <a:ahLst/>
            <a:cxnLst/>
            <a:rect l="l" t="t" r="r" b="b"/>
            <a:pathLst>
              <a:path w="1776355" h="1720483">
                <a:moveTo>
                  <a:pt x="0" y="379246"/>
                </a:moveTo>
                <a:arcTo wR="379246" hR="379246" stAng="10800000" swAng="5400000"/>
                <a:lnTo>
                  <a:pt x="1397109" y="0"/>
                </a:lnTo>
                <a:arcTo wR="379246" hR="379246" stAng="16200000" swAng="5400000"/>
                <a:lnTo>
                  <a:pt x="1776355" y="1341237"/>
                </a:lnTo>
                <a:arcTo wR="379246" hR="379246" stAng="0" swAng="5400000"/>
                <a:lnTo>
                  <a:pt x="379246" y="1720484"/>
                </a:lnTo>
                <a:arcTo wR="379246" hR="379246" stAng="5400000" swAng="5400000"/>
                <a:close/>
              </a:path>
            </a:pathLst>
          </a:custGeom>
          <a:noFill/>
          <a:ln w="25400">
            <a:solidFill>
              <a:srgbClr val="394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3" name="Shape141733921030"/>
          <p:cNvSpPr/>
          <p:nvPr/>
        </p:nvSpPr>
        <p:spPr>
          <a:xfrm rot="19730944" flipH="1">
            <a:off x="10649500" y="2198825"/>
            <a:ext cx="637416" cy="647881"/>
          </a:xfrm>
          <a:custGeom>
            <a:avLst/>
            <a:gdLst/>
            <a:ahLst/>
            <a:cxnLst/>
            <a:rect l="l" t="t" r="r" b="b"/>
            <a:pathLst>
              <a:path w="637416" h="647881">
                <a:moveTo>
                  <a:pt x="0" y="140505"/>
                </a:moveTo>
                <a:arcTo wR="140505" hR="140505" stAng="10800000" swAng="5400000"/>
                <a:lnTo>
                  <a:pt x="496910" y="0"/>
                </a:lnTo>
                <a:arcTo wR="140505" hR="140505" stAng="16200000" swAng="5400000"/>
                <a:lnTo>
                  <a:pt x="637416" y="507375"/>
                </a:lnTo>
                <a:arcTo wR="140505" hR="140505" stAng="0" swAng="5400000"/>
                <a:lnTo>
                  <a:pt x="140505" y="647881"/>
                </a:lnTo>
                <a:arcTo wR="140505" hR="140505" stAng="5400000" swAng="5400000"/>
                <a:close/>
              </a:path>
            </a:pathLst>
          </a:custGeom>
          <a:solidFill>
            <a:srgbClr val="0D1026">
              <a:alpha val="47843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4" name="Shape146028888326"/>
          <p:cNvSpPr/>
          <p:nvPr/>
        </p:nvSpPr>
        <p:spPr>
          <a:xfrm rot="19730944" flipH="1">
            <a:off x="11248939" y="630879"/>
            <a:ext cx="1473418" cy="1628175"/>
          </a:xfrm>
          <a:custGeom>
            <a:avLst/>
            <a:gdLst/>
            <a:ahLst/>
            <a:cxnLst/>
            <a:rect l="l" t="t" r="r" b="b"/>
            <a:pathLst>
              <a:path w="1473418" h="1628175">
                <a:moveTo>
                  <a:pt x="0" y="17924"/>
                </a:moveTo>
                <a:lnTo>
                  <a:pt x="973318" y="1628175"/>
                </a:lnTo>
                <a:lnTo>
                  <a:pt x="1185474" y="1628175"/>
                </a:lnTo>
                <a:cubicBezTo>
                  <a:pt x="1344501" y="1628175"/>
                  <a:pt x="1473417" y="1499259"/>
                  <a:pt x="1473417" y="1340232"/>
                </a:cubicBezTo>
                <a:lnTo>
                  <a:pt x="1473417" y="287943"/>
                </a:lnTo>
                <a:cubicBezTo>
                  <a:pt x="1473417" y="128916"/>
                  <a:pt x="1344501" y="0"/>
                  <a:pt x="1185474" y="0"/>
                </a:cubicBezTo>
                <a:lnTo>
                  <a:pt x="96925" y="0"/>
                </a:lnTo>
                <a:cubicBezTo>
                  <a:pt x="77047" y="0"/>
                  <a:pt x="57639" y="2013"/>
                  <a:pt x="38895" y="5849"/>
                </a:cubicBezTo>
                <a:close/>
              </a:path>
            </a:pathLst>
          </a:custGeom>
          <a:solidFill>
            <a:srgbClr val="3949AB">
              <a:alpha val="85098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6" name="Shape154618822918"/>
          <p:cNvSpPr/>
          <p:nvPr/>
        </p:nvSpPr>
        <p:spPr>
          <a:xfrm>
            <a:off x="530226" y="3225595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D1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7" name="Shape158913790214"/>
          <p:cNvSpPr/>
          <p:nvPr/>
        </p:nvSpPr>
        <p:spPr>
          <a:xfrm>
            <a:off x="537531" y="3238477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8" name="Shape163208757510"/>
          <p:cNvSpPr/>
          <p:nvPr/>
        </p:nvSpPr>
        <p:spPr>
          <a:xfrm>
            <a:off x="838378" y="3157190"/>
            <a:ext cx="6549974" cy="1618542"/>
          </a:xfrm>
          <a:custGeom>
            <a:avLst/>
            <a:gdLst/>
            <a:ahLst/>
            <a:cxnLst/>
            <a:rect l="l" t="t" r="r" b="b"/>
            <a:pathLst>
              <a:path w="4964591" h="596385">
                <a:moveTo>
                  <a:pt x="0" y="0"/>
                </a:moveTo>
                <a:lnTo>
                  <a:pt x="4964591" y="0"/>
                </a:lnTo>
                <a:lnTo>
                  <a:pt x="4964591" y="596384"/>
                </a:lnTo>
                <a:lnTo>
                  <a:pt x="0" y="596384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000000"/>
                </a:solidFill>
                <a:latin typeface="+mn-lt"/>
              </a:rPr>
              <a:t>Add true arrival-time labels (not synthetic, if possible)</a:t>
            </a:r>
          </a:p>
        </p:txBody>
      </p:sp>
      <p:sp>
        <p:nvSpPr>
          <p:cNvPr id="39" name="Shape167503724806"/>
          <p:cNvSpPr/>
          <p:nvPr/>
        </p:nvSpPr>
        <p:spPr>
          <a:xfrm>
            <a:off x="530226" y="4073439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D1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0" name="Shape171798692102"/>
          <p:cNvSpPr/>
          <p:nvPr/>
        </p:nvSpPr>
        <p:spPr>
          <a:xfrm>
            <a:off x="537530" y="4086321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1" name="Shape176093659398"/>
          <p:cNvSpPr/>
          <p:nvPr/>
        </p:nvSpPr>
        <p:spPr>
          <a:xfrm>
            <a:off x="855457" y="3985403"/>
            <a:ext cx="6549974" cy="1618542"/>
          </a:xfrm>
          <a:custGeom>
            <a:avLst/>
            <a:gdLst/>
            <a:ahLst/>
            <a:cxnLst/>
            <a:rect l="l" t="t" r="r" b="b"/>
            <a:pathLst>
              <a:path w="4964592" h="596385">
                <a:moveTo>
                  <a:pt x="0" y="0"/>
                </a:moveTo>
                <a:lnTo>
                  <a:pt x="4964592" y="0"/>
                </a:lnTo>
                <a:lnTo>
                  <a:pt x="4964592" y="596384"/>
                </a:lnTo>
                <a:lnTo>
                  <a:pt x="0" y="596384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000000"/>
                </a:solidFill>
                <a:latin typeface="+mn-lt"/>
              </a:rPr>
              <a:t>Train additional models (</a:t>
            </a:r>
            <a:r>
              <a:rPr sz="2000" dirty="0" err="1">
                <a:solidFill>
                  <a:srgbClr val="000000"/>
                </a:solidFill>
                <a:latin typeface="+mn-lt"/>
              </a:rPr>
              <a:t>GradientBoostingRegressor</a:t>
            </a:r>
            <a:r>
              <a:rPr sz="2000" dirty="0">
                <a:solidFill>
                  <a:srgbClr val="000000"/>
                </a:solidFill>
                <a:latin typeface="+mn-lt"/>
              </a:rPr>
              <a:t>, Decision Tree)</a:t>
            </a:r>
          </a:p>
        </p:txBody>
      </p:sp>
      <p:sp>
        <p:nvSpPr>
          <p:cNvPr id="42" name="Shape180388626694"/>
          <p:cNvSpPr/>
          <p:nvPr/>
        </p:nvSpPr>
        <p:spPr>
          <a:xfrm>
            <a:off x="530226" y="4921286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D1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3" name="Shape184683593990"/>
          <p:cNvSpPr/>
          <p:nvPr/>
        </p:nvSpPr>
        <p:spPr>
          <a:xfrm>
            <a:off x="537530" y="4934167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4" name="Shape188978561286"/>
          <p:cNvSpPr/>
          <p:nvPr/>
        </p:nvSpPr>
        <p:spPr>
          <a:xfrm>
            <a:off x="862761" y="4829478"/>
            <a:ext cx="6549974" cy="799611"/>
          </a:xfrm>
          <a:custGeom>
            <a:avLst/>
            <a:gdLst/>
            <a:ahLst/>
            <a:cxnLst/>
            <a:rect l="l" t="t" r="r" b="b"/>
            <a:pathLst>
              <a:path w="4964592" h="294633">
                <a:moveTo>
                  <a:pt x="0" y="0"/>
                </a:moveTo>
                <a:lnTo>
                  <a:pt x="4964592" y="0"/>
                </a:lnTo>
                <a:lnTo>
                  <a:pt x="4964592" y="294633"/>
                </a:lnTo>
                <a:lnTo>
                  <a:pt x="0" y="294633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000000"/>
                </a:solidFill>
                <a:latin typeface="+mn-lt"/>
              </a:rPr>
              <a:t>Build prediction API for </a:t>
            </a:r>
            <a:r>
              <a:rPr sz="2000" dirty="0" err="1">
                <a:solidFill>
                  <a:srgbClr val="000000"/>
                </a:solidFill>
                <a:latin typeface="+mn-lt"/>
              </a:rPr>
              <a:t>TransConnect</a:t>
            </a:r>
            <a:r>
              <a:rPr sz="2000" dirty="0">
                <a:solidFill>
                  <a:srgbClr val="000000"/>
                </a:solidFill>
                <a:latin typeface="+mn-lt"/>
              </a:rPr>
              <a:t> web‑app</a:t>
            </a:r>
          </a:p>
        </p:txBody>
      </p:sp>
      <p:sp>
        <p:nvSpPr>
          <p:cNvPr id="45" name="Shape193273528582"/>
          <p:cNvSpPr/>
          <p:nvPr/>
        </p:nvSpPr>
        <p:spPr>
          <a:xfrm>
            <a:off x="530226" y="5467379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D10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6" name="Shape197568495878"/>
          <p:cNvSpPr/>
          <p:nvPr/>
        </p:nvSpPr>
        <p:spPr>
          <a:xfrm>
            <a:off x="537530" y="5480261"/>
            <a:ext cx="132851" cy="258143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D102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7" name="Shape201863463174"/>
          <p:cNvSpPr/>
          <p:nvPr/>
        </p:nvSpPr>
        <p:spPr>
          <a:xfrm>
            <a:off x="855457" y="5379084"/>
            <a:ext cx="6549974" cy="799611"/>
          </a:xfrm>
          <a:custGeom>
            <a:avLst/>
            <a:gdLst/>
            <a:ahLst/>
            <a:cxnLst/>
            <a:rect l="l" t="t" r="r" b="b"/>
            <a:pathLst>
              <a:path w="4964592" h="294633">
                <a:moveTo>
                  <a:pt x="0" y="0"/>
                </a:moveTo>
                <a:lnTo>
                  <a:pt x="4964592" y="0"/>
                </a:lnTo>
                <a:lnTo>
                  <a:pt x="4964592" y="294633"/>
                </a:lnTo>
                <a:lnTo>
                  <a:pt x="0" y="294633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000000"/>
                </a:solidFill>
                <a:latin typeface="+mn-lt"/>
              </a:rPr>
              <a:t>Deploy best model for real-time ETA</a:t>
            </a:r>
          </a:p>
        </p:txBody>
      </p:sp>
      <p:sp>
        <p:nvSpPr>
          <p:cNvPr id="48" name="Shape206158430470"/>
          <p:cNvSpPr/>
          <p:nvPr/>
        </p:nvSpPr>
        <p:spPr>
          <a:xfrm>
            <a:off x="446547" y="1147609"/>
            <a:ext cx="6861174" cy="1578210"/>
          </a:xfrm>
          <a:custGeom>
            <a:avLst/>
            <a:gdLst/>
            <a:ahLst/>
            <a:cxnLst/>
            <a:rect l="l" t="t" r="r" b="b"/>
            <a:pathLst>
              <a:path w="5096405" h="1578210">
                <a:moveTo>
                  <a:pt x="0" y="0"/>
                </a:moveTo>
                <a:lnTo>
                  <a:pt x="5096405" y="0"/>
                </a:lnTo>
                <a:lnTo>
                  <a:pt x="5096405" y="1578210"/>
                </a:lnTo>
                <a:lnTo>
                  <a:pt x="0" y="157821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0D1026"/>
                </a:solidFill>
                <a:latin typeface="+mn-lt"/>
              </a:rPr>
              <a:t>What Will Be Completed </a:t>
            </a:r>
            <a:r>
              <a:rPr sz="4000" b="1" dirty="0">
                <a:solidFill>
                  <a:srgbClr val="0070C0"/>
                </a:solidFill>
                <a:latin typeface="+mn-lt"/>
              </a:rPr>
              <a:t>Next Week</a:t>
            </a:r>
          </a:p>
        </p:txBody>
      </p:sp>
      <p:sp>
        <p:nvSpPr>
          <p:cNvPr id="2" name="Shape171798692099">
            <a:extLst>
              <a:ext uri="{FF2B5EF4-FFF2-40B4-BE49-F238E27FC236}">
                <a16:creationId xmlns:a16="http://schemas.microsoft.com/office/drawing/2014/main" id="{44C414BD-D241-EF12-4BCE-5D89A4B3A61F}"/>
              </a:ext>
            </a:extLst>
          </p:cNvPr>
          <p:cNvSpPr/>
          <p:nvPr/>
        </p:nvSpPr>
        <p:spPr>
          <a:xfrm>
            <a:off x="9646313" y="27432"/>
            <a:ext cx="896258" cy="1898015"/>
          </a:xfrm>
          <a:custGeom>
            <a:avLst/>
            <a:gdLst/>
            <a:ahLst/>
            <a:cxnLst/>
            <a:rect l="l" t="t" r="r" b="b"/>
            <a:pathLst>
              <a:path w="896258" h="1898014">
                <a:moveTo>
                  <a:pt x="0" y="297028"/>
                </a:moveTo>
                <a:arcTo wR="297028" hR="297028" stAng="10800000" swAng="5400000"/>
                <a:lnTo>
                  <a:pt x="599229" y="0"/>
                </a:lnTo>
                <a:arcTo wR="297028" hR="297028" stAng="16200000" swAng="5400000"/>
                <a:lnTo>
                  <a:pt x="896257" y="1600986"/>
                </a:lnTo>
                <a:arcTo wR="297028" hR="297028" stAng="0" swAng="5400000"/>
                <a:lnTo>
                  <a:pt x="297029" y="1898015"/>
                </a:lnTo>
                <a:arcTo wR="297028" hR="297028" stAng="5400000" swAng="5400000"/>
                <a:close/>
              </a:path>
            </a:pathLst>
          </a:custGeom>
          <a:solidFill>
            <a:srgbClr val="050E2E">
              <a:alpha val="90196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133143986438"/>
          <p:cNvSpPr/>
          <p:nvPr/>
        </p:nvSpPr>
        <p:spPr>
          <a:xfrm rot="19730944" flipH="1">
            <a:off x="10343090" y="3120470"/>
            <a:ext cx="3027826" cy="3656069"/>
          </a:xfrm>
          <a:custGeom>
            <a:avLst/>
            <a:gdLst/>
            <a:ahLst/>
            <a:cxnLst/>
            <a:rect l="l" t="t" r="r" b="b"/>
            <a:pathLst>
              <a:path w="3027826" h="3656069">
                <a:moveTo>
                  <a:pt x="0" y="0"/>
                </a:moveTo>
                <a:lnTo>
                  <a:pt x="2209917" y="3656069"/>
                </a:lnTo>
                <a:lnTo>
                  <a:pt x="3027825" y="3161683"/>
                </a:lnTo>
                <a:lnTo>
                  <a:pt x="3027826" y="720295"/>
                </a:lnTo>
                <a:cubicBezTo>
                  <a:pt x="3027826" y="322486"/>
                  <a:pt x="2705339" y="0"/>
                  <a:pt x="2307531" y="0"/>
                </a:cubicBezTo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2" name="Shape137438953734"/>
          <p:cNvSpPr/>
          <p:nvPr/>
        </p:nvSpPr>
        <p:spPr>
          <a:xfrm rot="19730944" flipH="1">
            <a:off x="8758135" y="5677596"/>
            <a:ext cx="1776356" cy="1720484"/>
          </a:xfrm>
          <a:custGeom>
            <a:avLst/>
            <a:gdLst/>
            <a:ahLst/>
            <a:cxnLst/>
            <a:rect l="l" t="t" r="r" b="b"/>
            <a:pathLst>
              <a:path w="1776355" h="1720483">
                <a:moveTo>
                  <a:pt x="0" y="379246"/>
                </a:moveTo>
                <a:arcTo wR="379246" hR="379246" stAng="10800000" swAng="5400000"/>
                <a:lnTo>
                  <a:pt x="1397109" y="0"/>
                </a:lnTo>
                <a:arcTo wR="379246" hR="379246" stAng="16200000" swAng="5400000"/>
                <a:lnTo>
                  <a:pt x="1776355" y="1341237"/>
                </a:lnTo>
                <a:arcTo wR="379246" hR="379246" stAng="0" swAng="5400000"/>
                <a:lnTo>
                  <a:pt x="379246" y="1720484"/>
                </a:lnTo>
                <a:arcTo wR="379246" hR="379246" stAng="5400000" swAng="5400000"/>
                <a:close/>
              </a:path>
            </a:pathLst>
          </a:custGeom>
          <a:noFill/>
          <a:ln w="2540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3" name="Shape141733921030"/>
          <p:cNvSpPr/>
          <p:nvPr/>
        </p:nvSpPr>
        <p:spPr>
          <a:xfrm rot="19730944" flipH="1">
            <a:off x="10649500" y="2198825"/>
            <a:ext cx="637416" cy="647881"/>
          </a:xfrm>
          <a:custGeom>
            <a:avLst/>
            <a:gdLst/>
            <a:ahLst/>
            <a:cxnLst/>
            <a:rect l="l" t="t" r="r" b="b"/>
            <a:pathLst>
              <a:path w="637416" h="647881">
                <a:moveTo>
                  <a:pt x="0" y="140505"/>
                </a:moveTo>
                <a:arcTo wR="140505" hR="140505" stAng="10800000" swAng="5400000"/>
                <a:lnTo>
                  <a:pt x="496910" y="0"/>
                </a:lnTo>
                <a:arcTo wR="140505" hR="140505" stAng="16200000" swAng="5400000"/>
                <a:lnTo>
                  <a:pt x="637416" y="507375"/>
                </a:lnTo>
                <a:arcTo wR="140505" hR="140505" stAng="0" swAng="5400000"/>
                <a:lnTo>
                  <a:pt x="140505" y="647881"/>
                </a:lnTo>
                <a:arcTo wR="140505" hR="140505" stAng="5400000" swAng="5400000"/>
                <a:close/>
              </a:path>
            </a:pathLst>
          </a:custGeom>
          <a:solidFill>
            <a:srgbClr val="0C2068">
              <a:alpha val="47843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4" name="Shape146028888326"/>
          <p:cNvSpPr/>
          <p:nvPr/>
        </p:nvSpPr>
        <p:spPr>
          <a:xfrm rot="19730944" flipH="1">
            <a:off x="11248939" y="630879"/>
            <a:ext cx="1473418" cy="1628175"/>
          </a:xfrm>
          <a:custGeom>
            <a:avLst/>
            <a:gdLst/>
            <a:ahLst/>
            <a:cxnLst/>
            <a:rect l="l" t="t" r="r" b="b"/>
            <a:pathLst>
              <a:path w="1473418" h="1628175">
                <a:moveTo>
                  <a:pt x="0" y="17924"/>
                </a:moveTo>
                <a:lnTo>
                  <a:pt x="973318" y="1628175"/>
                </a:lnTo>
                <a:lnTo>
                  <a:pt x="1185474" y="1628175"/>
                </a:lnTo>
                <a:cubicBezTo>
                  <a:pt x="1344501" y="1628175"/>
                  <a:pt x="1473417" y="1499259"/>
                  <a:pt x="1473417" y="1340232"/>
                </a:cubicBezTo>
                <a:lnTo>
                  <a:pt x="1473417" y="287943"/>
                </a:lnTo>
                <a:cubicBezTo>
                  <a:pt x="1473417" y="128916"/>
                  <a:pt x="1344501" y="0"/>
                  <a:pt x="1185474" y="0"/>
                </a:cubicBezTo>
                <a:lnTo>
                  <a:pt x="96925" y="0"/>
                </a:lnTo>
                <a:cubicBezTo>
                  <a:pt x="77047" y="0"/>
                  <a:pt x="57639" y="2013"/>
                  <a:pt x="38895" y="5849"/>
                </a:cubicBezTo>
                <a:close/>
              </a:path>
            </a:pathLst>
          </a:custGeom>
          <a:solidFill>
            <a:srgbClr val="0C2068">
              <a:alpha val="85098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6" name="Shape154618822918"/>
          <p:cNvSpPr/>
          <p:nvPr/>
        </p:nvSpPr>
        <p:spPr>
          <a:xfrm>
            <a:off x="747903" y="337647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7" name="Shape158913790214"/>
          <p:cNvSpPr/>
          <p:nvPr/>
        </p:nvSpPr>
        <p:spPr>
          <a:xfrm>
            <a:off x="755208" y="3389361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8" name="Shape163208757510"/>
          <p:cNvSpPr/>
          <p:nvPr/>
        </p:nvSpPr>
        <p:spPr>
          <a:xfrm>
            <a:off x="1066800" y="3265907"/>
            <a:ext cx="4964592" cy="295705"/>
          </a:xfrm>
          <a:custGeom>
            <a:avLst/>
            <a:gdLst/>
            <a:ahLst/>
            <a:cxnLst/>
            <a:rect l="l" t="t" r="r" b="b"/>
            <a:pathLst>
              <a:path w="4964591" h="295704">
                <a:moveTo>
                  <a:pt x="0" y="0"/>
                </a:moveTo>
                <a:lnTo>
                  <a:pt x="4964591" y="0"/>
                </a:lnTo>
                <a:lnTo>
                  <a:pt x="4964591" y="295704"/>
                </a:lnTo>
                <a:lnTo>
                  <a:pt x="0" y="295704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000000"/>
                </a:solidFill>
                <a:latin typeface="+mn-lt"/>
              </a:rPr>
              <a:t>Limited historical data</a:t>
            </a:r>
          </a:p>
        </p:txBody>
      </p:sp>
      <p:sp>
        <p:nvSpPr>
          <p:cNvPr id="39" name="Shape167503724806"/>
          <p:cNvSpPr/>
          <p:nvPr/>
        </p:nvSpPr>
        <p:spPr>
          <a:xfrm>
            <a:off x="747903" y="3923644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0" name="Shape171798692102"/>
          <p:cNvSpPr/>
          <p:nvPr/>
        </p:nvSpPr>
        <p:spPr>
          <a:xfrm>
            <a:off x="755207" y="393652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1" name="Shape176093659398"/>
          <p:cNvSpPr/>
          <p:nvPr/>
        </p:nvSpPr>
        <p:spPr>
          <a:xfrm>
            <a:off x="1066800" y="3813071"/>
            <a:ext cx="4964592" cy="597457"/>
          </a:xfrm>
          <a:custGeom>
            <a:avLst/>
            <a:gdLst/>
            <a:ahLst/>
            <a:cxnLst/>
            <a:rect l="l" t="t" r="r" b="b"/>
            <a:pathLst>
              <a:path w="4964592" h="597456">
                <a:moveTo>
                  <a:pt x="0" y="0"/>
                </a:moveTo>
                <a:lnTo>
                  <a:pt x="4964592" y="0"/>
                </a:lnTo>
                <a:lnTo>
                  <a:pt x="4964592" y="597456"/>
                </a:lnTo>
                <a:lnTo>
                  <a:pt x="0" y="59745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>
                <a:solidFill>
                  <a:srgbClr val="000000"/>
                </a:solidFill>
                <a:latin typeface="+mn-lt"/>
              </a:rPr>
              <a:t>GPS noise and inconsistent‑format coordinates</a:t>
            </a:r>
          </a:p>
        </p:txBody>
      </p:sp>
      <p:sp>
        <p:nvSpPr>
          <p:cNvPr id="42" name="Shape180388626694"/>
          <p:cNvSpPr/>
          <p:nvPr/>
        </p:nvSpPr>
        <p:spPr>
          <a:xfrm>
            <a:off x="747903" y="4772559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3" name="Shape184683593990"/>
          <p:cNvSpPr/>
          <p:nvPr/>
        </p:nvSpPr>
        <p:spPr>
          <a:xfrm>
            <a:off x="755207" y="4785441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4" name="Shape188978561286"/>
          <p:cNvSpPr/>
          <p:nvPr/>
        </p:nvSpPr>
        <p:spPr>
          <a:xfrm>
            <a:off x="1066800" y="4661987"/>
            <a:ext cx="4964592" cy="295705"/>
          </a:xfrm>
          <a:custGeom>
            <a:avLst/>
            <a:gdLst/>
            <a:ahLst/>
            <a:cxnLst/>
            <a:rect l="l" t="t" r="r" b="b"/>
            <a:pathLst>
              <a:path w="4964592" h="295704">
                <a:moveTo>
                  <a:pt x="0" y="0"/>
                </a:moveTo>
                <a:lnTo>
                  <a:pt x="4964592" y="0"/>
                </a:lnTo>
                <a:lnTo>
                  <a:pt x="4964592" y="295704"/>
                </a:lnTo>
                <a:lnTo>
                  <a:pt x="0" y="295704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>
                <a:solidFill>
                  <a:srgbClr val="000000"/>
                </a:solidFill>
                <a:latin typeface="+mn-lt"/>
              </a:rPr>
              <a:t>Few features available for prediction</a:t>
            </a:r>
          </a:p>
        </p:txBody>
      </p:sp>
      <p:sp>
        <p:nvSpPr>
          <p:cNvPr id="45" name="Shape193273528582"/>
          <p:cNvSpPr/>
          <p:nvPr/>
        </p:nvSpPr>
        <p:spPr>
          <a:xfrm>
            <a:off x="747903" y="5319722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4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4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6" name="Shape197568495878"/>
          <p:cNvSpPr/>
          <p:nvPr/>
        </p:nvSpPr>
        <p:spPr>
          <a:xfrm>
            <a:off x="755207" y="5332603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7" name="Shape201863463174"/>
          <p:cNvSpPr/>
          <p:nvPr/>
        </p:nvSpPr>
        <p:spPr>
          <a:xfrm>
            <a:off x="1066800" y="5209151"/>
            <a:ext cx="4964592" cy="295705"/>
          </a:xfrm>
          <a:custGeom>
            <a:avLst/>
            <a:gdLst/>
            <a:ahLst/>
            <a:cxnLst/>
            <a:rect l="l" t="t" r="r" b="b"/>
            <a:pathLst>
              <a:path w="4964592" h="295704">
                <a:moveTo>
                  <a:pt x="0" y="0"/>
                </a:moveTo>
                <a:lnTo>
                  <a:pt x="4964592" y="0"/>
                </a:lnTo>
                <a:lnTo>
                  <a:pt x="4964592" y="295704"/>
                </a:lnTo>
                <a:lnTo>
                  <a:pt x="0" y="295704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>
                <a:solidFill>
                  <a:srgbClr val="000000"/>
                </a:solidFill>
                <a:latin typeface="+mn-lt"/>
              </a:rPr>
              <a:t>Hard to validate ETA accuracy in real time</a:t>
            </a:r>
          </a:p>
        </p:txBody>
      </p:sp>
      <p:sp>
        <p:nvSpPr>
          <p:cNvPr id="48" name="Shape206158430470"/>
          <p:cNvSpPr/>
          <p:nvPr/>
        </p:nvSpPr>
        <p:spPr>
          <a:xfrm>
            <a:off x="744855" y="1365336"/>
            <a:ext cx="5096405" cy="538318"/>
          </a:xfrm>
          <a:custGeom>
            <a:avLst/>
            <a:gdLst/>
            <a:ahLst/>
            <a:cxnLst/>
            <a:rect l="l" t="t" r="r" b="b"/>
            <a:pathLst>
              <a:path w="5096405" h="538318">
                <a:moveTo>
                  <a:pt x="0" y="0"/>
                </a:moveTo>
                <a:lnTo>
                  <a:pt x="5096405" y="0"/>
                </a:lnTo>
                <a:lnTo>
                  <a:pt x="5096405" y="538318"/>
                </a:lnTo>
                <a:lnTo>
                  <a:pt x="0" y="538318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800" b="1">
                <a:solidFill>
                  <a:srgbClr val="050E2E"/>
                </a:solidFill>
                <a:latin typeface="+mn-lt"/>
              </a:rPr>
              <a:t>Challenges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158913790217"/>
          <p:cNvSpPr/>
          <p:nvPr/>
        </p:nvSpPr>
        <p:spPr>
          <a:xfrm flipH="1">
            <a:off x="6096000" y="0"/>
            <a:ext cx="7013940" cy="6858000"/>
          </a:xfrm>
          <a:custGeom>
            <a:avLst/>
            <a:gdLst/>
            <a:ahLst/>
            <a:cxnLst/>
            <a:rect l="l" t="t" r="r" b="b"/>
            <a:pathLst>
              <a:path w="7013940" h="6858000">
                <a:moveTo>
                  <a:pt x="0" y="575729"/>
                </a:moveTo>
                <a:arcTo wR="575729" hR="575729" stAng="10800000" swAng="5400000"/>
                <a:lnTo>
                  <a:pt x="6438211" y="0"/>
                </a:lnTo>
                <a:arcTo wR="575729" hR="575729" stAng="16200000" swAng="5400000"/>
                <a:lnTo>
                  <a:pt x="7013941" y="6282271"/>
                </a:lnTo>
                <a:arcTo wR="575729" hR="575729" stAng="0" swAng="5400000"/>
                <a:lnTo>
                  <a:pt x="575728" y="6858000"/>
                </a:lnTo>
                <a:arcTo wR="575729" hR="575729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8" name="Shape163208757513"/>
          <p:cNvSpPr/>
          <p:nvPr/>
        </p:nvSpPr>
        <p:spPr>
          <a:xfrm flipH="1">
            <a:off x="-625034" y="6153401"/>
            <a:ext cx="3341100" cy="3266818"/>
          </a:xfrm>
          <a:custGeom>
            <a:avLst/>
            <a:gdLst/>
            <a:ahLst/>
            <a:cxnLst/>
            <a:rect l="l" t="t" r="r" b="b"/>
            <a:pathLst>
              <a:path w="3341100" h="3266818">
                <a:moveTo>
                  <a:pt x="0" y="543467"/>
                </a:moveTo>
                <a:arcTo wR="543467" hR="543467" stAng="10800000" swAng="5400000"/>
                <a:lnTo>
                  <a:pt x="2797632" y="0"/>
                </a:lnTo>
                <a:arcTo wR="543467" hR="543467" stAng="16200000" swAng="5400000"/>
                <a:lnTo>
                  <a:pt x="3341100" y="2723350"/>
                </a:lnTo>
                <a:arcTo wR="543467" hR="543467" stAng="0" swAng="5400000"/>
                <a:lnTo>
                  <a:pt x="543467" y="3266817"/>
                </a:lnTo>
                <a:arcTo wR="543467" hR="543467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9" name="Shape167503724809"/>
          <p:cNvSpPr/>
          <p:nvPr/>
        </p:nvSpPr>
        <p:spPr>
          <a:xfrm>
            <a:off x="194794" y="2919236"/>
            <a:ext cx="616782" cy="469578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sp>
        <p:nvSpPr>
          <p:cNvPr id="40" name="Shape171798692105"/>
          <p:cNvSpPr/>
          <p:nvPr/>
        </p:nvSpPr>
        <p:spPr>
          <a:xfrm>
            <a:off x="280870" y="2957725"/>
            <a:ext cx="437093" cy="332775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sp>
        <p:nvSpPr>
          <p:cNvPr id="41" name="Shape176093659401"/>
          <p:cNvSpPr/>
          <p:nvPr/>
        </p:nvSpPr>
        <p:spPr>
          <a:xfrm>
            <a:off x="234575" y="2999673"/>
            <a:ext cx="446984" cy="340305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2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pic>
        <p:nvPicPr>
          <p:cNvPr id="42" name="Shape18038862669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3940" y="3040420"/>
            <a:ext cx="330635" cy="251724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79"/>
                </a:lnTo>
                <a:lnTo>
                  <a:pt x="0" y="231579"/>
                </a:lnTo>
                <a:close/>
              </a:path>
            </a:pathLst>
          </a:custGeom>
        </p:spPr>
      </p:pic>
      <p:sp>
        <p:nvSpPr>
          <p:cNvPr id="43" name="Shape184683593993"/>
          <p:cNvSpPr/>
          <p:nvPr/>
        </p:nvSpPr>
        <p:spPr>
          <a:xfrm>
            <a:off x="894301" y="2929583"/>
            <a:ext cx="6039904" cy="649428"/>
          </a:xfrm>
          <a:custGeom>
            <a:avLst/>
            <a:gdLst/>
            <a:ahLst/>
            <a:cxnLst/>
            <a:rect l="l" t="t" r="r" b="b"/>
            <a:pathLst>
              <a:path w="4230406" h="597456">
                <a:moveTo>
                  <a:pt x="0" y="0"/>
                </a:moveTo>
                <a:lnTo>
                  <a:pt x="4230406" y="0"/>
                </a:lnTo>
                <a:lnTo>
                  <a:pt x="4230406" y="597456"/>
                </a:lnTo>
                <a:lnTo>
                  <a:pt x="0" y="59745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131839"/>
                </a:solidFill>
                <a:latin typeface="+mn-lt"/>
              </a:rPr>
              <a:t>Collect more real bus timing logs (according to passengers, like us)</a:t>
            </a:r>
          </a:p>
        </p:txBody>
      </p:sp>
      <p:sp>
        <p:nvSpPr>
          <p:cNvPr id="44" name="Shape188978561289"/>
          <p:cNvSpPr/>
          <p:nvPr/>
        </p:nvSpPr>
        <p:spPr>
          <a:xfrm>
            <a:off x="194794" y="3768152"/>
            <a:ext cx="616782" cy="469578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sp>
        <p:nvSpPr>
          <p:cNvPr id="45" name="Shape193273528585"/>
          <p:cNvSpPr/>
          <p:nvPr/>
        </p:nvSpPr>
        <p:spPr>
          <a:xfrm>
            <a:off x="280868" y="3806641"/>
            <a:ext cx="437093" cy="332775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sp>
        <p:nvSpPr>
          <p:cNvPr id="46" name="Shape197568495881"/>
          <p:cNvSpPr/>
          <p:nvPr/>
        </p:nvSpPr>
        <p:spPr>
          <a:xfrm>
            <a:off x="234575" y="3848589"/>
            <a:ext cx="446984" cy="340305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131839"/>
              </a:solidFill>
              <a:latin typeface="+mn-lt"/>
            </a:endParaRPr>
          </a:p>
        </p:txBody>
      </p:sp>
      <p:pic>
        <p:nvPicPr>
          <p:cNvPr id="47" name="Shape201863463177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940" y="3889336"/>
            <a:ext cx="330635" cy="251724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48" name="Shape206158430473"/>
          <p:cNvSpPr/>
          <p:nvPr/>
        </p:nvSpPr>
        <p:spPr>
          <a:xfrm>
            <a:off x="894298" y="3778499"/>
            <a:ext cx="6039904" cy="649428"/>
          </a:xfrm>
          <a:custGeom>
            <a:avLst/>
            <a:gdLst/>
            <a:ahLst/>
            <a:cxnLst/>
            <a:rect l="l" t="t" r="r" b="b"/>
            <a:pathLst>
              <a:path w="4230406" h="597456">
                <a:moveTo>
                  <a:pt x="0" y="0"/>
                </a:moveTo>
                <a:lnTo>
                  <a:pt x="4230406" y="0"/>
                </a:lnTo>
                <a:lnTo>
                  <a:pt x="4230406" y="597456"/>
                </a:lnTo>
                <a:lnTo>
                  <a:pt x="0" y="59745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131839"/>
                </a:solidFill>
                <a:latin typeface="+mn-lt"/>
              </a:rPr>
              <a:t>Apply smoothing &amp; cleaning to GPS streams</a:t>
            </a:r>
          </a:p>
        </p:txBody>
      </p:sp>
      <p:sp>
        <p:nvSpPr>
          <p:cNvPr id="49" name="Shape210453397769"/>
          <p:cNvSpPr/>
          <p:nvPr/>
        </p:nvSpPr>
        <p:spPr>
          <a:xfrm>
            <a:off x="6413303" y="4477405"/>
            <a:ext cx="616782" cy="469578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0" name="Shape214748365065"/>
          <p:cNvSpPr/>
          <p:nvPr/>
        </p:nvSpPr>
        <p:spPr>
          <a:xfrm>
            <a:off x="6499378" y="4515894"/>
            <a:ext cx="437093" cy="332775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1" name="Shape219043332361"/>
          <p:cNvSpPr/>
          <p:nvPr/>
        </p:nvSpPr>
        <p:spPr>
          <a:xfrm>
            <a:off x="6453084" y="4557842"/>
            <a:ext cx="446984" cy="340305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2" name="Shape223338299657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0300" y="4598587"/>
            <a:ext cx="308221" cy="251726"/>
          </a:xfrm>
          <a:custGeom>
            <a:avLst/>
            <a:gdLst/>
            <a:ahLst/>
            <a:cxnLst/>
            <a:rect l="l" t="t" r="r" b="b"/>
            <a:pathLst>
              <a:path w="215880" h="231581">
                <a:moveTo>
                  <a:pt x="0" y="0"/>
                </a:moveTo>
                <a:lnTo>
                  <a:pt x="215880" y="0"/>
                </a:lnTo>
                <a:lnTo>
                  <a:pt x="2158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53" name="Shape227633266953"/>
          <p:cNvSpPr/>
          <p:nvPr/>
        </p:nvSpPr>
        <p:spPr>
          <a:xfrm>
            <a:off x="7022546" y="4477405"/>
            <a:ext cx="6039904" cy="649428"/>
          </a:xfrm>
          <a:custGeom>
            <a:avLst/>
            <a:gdLst/>
            <a:ahLst/>
            <a:cxnLst/>
            <a:rect l="l" t="t" r="r" b="b"/>
            <a:pathLst>
              <a:path w="4230406" h="597456">
                <a:moveTo>
                  <a:pt x="0" y="0"/>
                </a:moveTo>
                <a:lnTo>
                  <a:pt x="4230406" y="0"/>
                </a:lnTo>
                <a:lnTo>
                  <a:pt x="4230406" y="597456"/>
                </a:lnTo>
                <a:lnTo>
                  <a:pt x="0" y="59745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 dirty="0">
                <a:solidFill>
                  <a:srgbClr val="FFFFFF"/>
                </a:solidFill>
                <a:latin typeface="+mn-lt"/>
              </a:rPr>
              <a:t>Add engineered features (traffic, rush hour, holidays)</a:t>
            </a:r>
          </a:p>
        </p:txBody>
      </p:sp>
      <p:sp>
        <p:nvSpPr>
          <p:cNvPr id="54" name="Shape231928234249"/>
          <p:cNvSpPr/>
          <p:nvPr/>
        </p:nvSpPr>
        <p:spPr>
          <a:xfrm>
            <a:off x="6413303" y="5326321"/>
            <a:ext cx="616782" cy="469578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5" name="Shape236223201545"/>
          <p:cNvSpPr/>
          <p:nvPr/>
        </p:nvSpPr>
        <p:spPr>
          <a:xfrm>
            <a:off x="6499378" y="5364811"/>
            <a:ext cx="437093" cy="332775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6" name="Shape240518168841"/>
          <p:cNvSpPr/>
          <p:nvPr/>
        </p:nvSpPr>
        <p:spPr>
          <a:xfrm>
            <a:off x="6453084" y="5406758"/>
            <a:ext cx="446984" cy="340305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20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7" name="Shape244813136137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92449" y="5447505"/>
            <a:ext cx="330635" cy="251724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58" name="Shape249108103433"/>
          <p:cNvSpPr/>
          <p:nvPr/>
        </p:nvSpPr>
        <p:spPr>
          <a:xfrm>
            <a:off x="7022546" y="5326321"/>
            <a:ext cx="6039904" cy="649428"/>
          </a:xfrm>
          <a:custGeom>
            <a:avLst/>
            <a:gdLst/>
            <a:ahLst/>
            <a:cxnLst/>
            <a:rect l="l" t="t" r="r" b="b"/>
            <a:pathLst>
              <a:path w="4230406" h="597456">
                <a:moveTo>
                  <a:pt x="0" y="0"/>
                </a:moveTo>
                <a:lnTo>
                  <a:pt x="4230406" y="0"/>
                </a:lnTo>
                <a:lnTo>
                  <a:pt x="4230406" y="597456"/>
                </a:lnTo>
                <a:lnTo>
                  <a:pt x="0" y="59745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000">
                <a:solidFill>
                  <a:srgbClr val="FFFFFF"/>
                </a:solidFill>
                <a:latin typeface="+mn-lt"/>
              </a:rPr>
              <a:t>Test across multiple routes for reliability</a:t>
            </a:r>
          </a:p>
        </p:txBody>
      </p:sp>
      <p:sp>
        <p:nvSpPr>
          <p:cNvPr id="59" name="Shape253403070729"/>
          <p:cNvSpPr/>
          <p:nvPr/>
        </p:nvSpPr>
        <p:spPr>
          <a:xfrm>
            <a:off x="715688" y="1676400"/>
            <a:ext cx="5358976" cy="685800"/>
          </a:xfrm>
          <a:custGeom>
            <a:avLst/>
            <a:gdLst/>
            <a:ahLst/>
            <a:cxnLst/>
            <a:rect l="l" t="t" r="r" b="b"/>
            <a:pathLst>
              <a:path w="4781045" h="1056478">
                <a:moveTo>
                  <a:pt x="0" y="0"/>
                </a:moveTo>
                <a:lnTo>
                  <a:pt x="4781045" y="0"/>
                </a:lnTo>
                <a:lnTo>
                  <a:pt x="4781045" y="1056478"/>
                </a:lnTo>
                <a:lnTo>
                  <a:pt x="0" y="1056478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050E2E"/>
                </a:solidFill>
                <a:latin typeface="+mn-lt"/>
              </a:rPr>
              <a:t>Mitigation Measures</a:t>
            </a:r>
          </a:p>
        </p:txBody>
      </p:sp>
      <p:sp>
        <p:nvSpPr>
          <p:cNvPr id="3" name="Shape137438953734">
            <a:extLst>
              <a:ext uri="{FF2B5EF4-FFF2-40B4-BE49-F238E27FC236}">
                <a16:creationId xmlns:a16="http://schemas.microsoft.com/office/drawing/2014/main" id="{E5799375-CB58-605F-E06D-670556BD5908}"/>
              </a:ext>
            </a:extLst>
          </p:cNvPr>
          <p:cNvSpPr/>
          <p:nvPr/>
        </p:nvSpPr>
        <p:spPr>
          <a:xfrm rot="19730944" flipH="1">
            <a:off x="3699914" y="4713126"/>
            <a:ext cx="1776356" cy="1720484"/>
          </a:xfrm>
          <a:custGeom>
            <a:avLst/>
            <a:gdLst/>
            <a:ahLst/>
            <a:cxnLst/>
            <a:rect l="l" t="t" r="r" b="b"/>
            <a:pathLst>
              <a:path w="1776355" h="1720483">
                <a:moveTo>
                  <a:pt x="0" y="379246"/>
                </a:moveTo>
                <a:arcTo wR="379246" hR="379246" stAng="10800000" swAng="5400000"/>
                <a:lnTo>
                  <a:pt x="1397109" y="0"/>
                </a:lnTo>
                <a:arcTo wR="379246" hR="379246" stAng="16200000" swAng="5400000"/>
                <a:lnTo>
                  <a:pt x="1776355" y="1341237"/>
                </a:lnTo>
                <a:arcTo wR="379246" hR="379246" stAng="0" swAng="5400000"/>
                <a:lnTo>
                  <a:pt x="379246" y="1720484"/>
                </a:lnTo>
                <a:arcTo wR="379246" hR="379246" stAng="5400000" swAng="5400000"/>
                <a:close/>
              </a:path>
            </a:pathLst>
          </a:custGeom>
          <a:noFill/>
          <a:ln w="2540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34359738627"/>
          <p:cNvSpPr/>
          <p:nvPr/>
        </p:nvSpPr>
        <p:spPr>
          <a:xfrm>
            <a:off x="-790848" y="124969"/>
            <a:ext cx="7752623" cy="3962400"/>
          </a:xfrm>
          <a:custGeom>
            <a:avLst/>
            <a:gdLst/>
            <a:ahLst/>
            <a:cxnLst/>
            <a:rect l="l" t="t" r="r" b="b"/>
            <a:pathLst>
              <a:path w="9338127" h="5635950">
                <a:moveTo>
                  <a:pt x="0" y="847139"/>
                </a:moveTo>
                <a:arcTo wR="847139" hR="847139" stAng="10800000" swAng="5400000"/>
                <a:lnTo>
                  <a:pt x="8490987" y="0"/>
                </a:lnTo>
                <a:arcTo wR="847139" hR="847139" stAng="16200000" swAng="5400000"/>
                <a:lnTo>
                  <a:pt x="9338127" y="4788810"/>
                </a:lnTo>
                <a:arcTo wR="847139" hR="847139" stAng="0" swAng="5400000"/>
                <a:lnTo>
                  <a:pt x="847139" y="5635950"/>
                </a:lnTo>
                <a:arcTo wR="847139" hR="847139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Shape42949673219"/>
          <p:cNvSpPr/>
          <p:nvPr/>
        </p:nvSpPr>
        <p:spPr>
          <a:xfrm>
            <a:off x="1047023" y="2165259"/>
            <a:ext cx="5911704" cy="1056478"/>
          </a:xfrm>
          <a:custGeom>
            <a:avLst/>
            <a:gdLst/>
            <a:ahLst/>
            <a:cxnLst/>
            <a:rect l="l" t="t" r="r" b="b"/>
            <a:pathLst>
              <a:path w="5911704" h="1056478">
                <a:moveTo>
                  <a:pt x="0" y="0"/>
                </a:moveTo>
                <a:lnTo>
                  <a:pt x="5911704" y="0"/>
                </a:lnTo>
                <a:lnTo>
                  <a:pt x="5911704" y="1056478"/>
                </a:lnTo>
                <a:lnTo>
                  <a:pt x="0" y="1056478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E8EDFC"/>
                </a:solidFill>
                <a:latin typeface="+mn-lt"/>
              </a:rPr>
              <a:t>LINEAR REGRESSION – FULL SOURCE CODE</a:t>
            </a: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C89586CC-AEED-F2B4-FFEE-980777B5F345}"/>
              </a:ext>
            </a:extLst>
          </p:cNvPr>
          <p:cNvSpPr/>
          <p:nvPr/>
        </p:nvSpPr>
        <p:spPr>
          <a:xfrm rot="16200000">
            <a:off x="6743701" y="1409700"/>
            <a:ext cx="6857999" cy="4038598"/>
          </a:xfrm>
          <a:prstGeom prst="round2SameRect">
            <a:avLst/>
          </a:prstGeom>
          <a:blipFill dpi="0" rotWithShape="0">
            <a:blip r:embed="rId2"/>
            <a:srcRect/>
            <a:tile tx="-444500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ction Button: Document 3">
            <a:hlinkClick r:id="rId3" highlightClick="1"/>
            <a:extLst>
              <a:ext uri="{FF2B5EF4-FFF2-40B4-BE49-F238E27FC236}">
                <a16:creationId xmlns:a16="http://schemas.microsoft.com/office/drawing/2014/main" id="{50EE07C9-1743-B818-0642-AC5A57C6A0C4}"/>
              </a:ext>
            </a:extLst>
          </p:cNvPr>
          <p:cNvSpPr/>
          <p:nvPr/>
        </p:nvSpPr>
        <p:spPr>
          <a:xfrm>
            <a:off x="5423988" y="4370831"/>
            <a:ext cx="2133600" cy="2362200"/>
          </a:xfrm>
          <a:prstGeom prst="actionButton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Linear Model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38654705926"/>
          <p:cNvSpPr/>
          <p:nvPr/>
        </p:nvSpPr>
        <p:spPr>
          <a:xfrm rot="20571398">
            <a:off x="-415096" y="945954"/>
            <a:ext cx="8235623" cy="7352040"/>
          </a:xfrm>
          <a:custGeom>
            <a:avLst/>
            <a:gdLst/>
            <a:ahLst/>
            <a:cxnLst/>
            <a:rect l="l" t="t" r="r" b="b"/>
            <a:pathLst>
              <a:path w="8235623" h="7352040">
                <a:moveTo>
                  <a:pt x="7450322" y="50248"/>
                </a:moveTo>
                <a:cubicBezTo>
                  <a:pt x="7905286" y="191756"/>
                  <a:pt x="8235623" y="616129"/>
                  <a:pt x="8235623" y="1117656"/>
                </a:cubicBezTo>
                <a:lnTo>
                  <a:pt x="8235623" y="7349591"/>
                </a:lnTo>
                <a:lnTo>
                  <a:pt x="8235499" y="7352041"/>
                </a:lnTo>
                <a:lnTo>
                  <a:pt x="0" y="4811645"/>
                </a:lnTo>
                <a:lnTo>
                  <a:pt x="0" y="4267241"/>
                </a:lnTo>
                <a:lnTo>
                  <a:pt x="767627" y="1778733"/>
                </a:lnTo>
                <a:lnTo>
                  <a:pt x="764677" y="1777823"/>
                </a:lnTo>
                <a:lnTo>
                  <a:pt x="1313080" y="0"/>
                </a:lnTo>
                <a:lnTo>
                  <a:pt x="7117967" y="0"/>
                </a:lnTo>
                <a:cubicBezTo>
                  <a:pt x="7233704" y="0"/>
                  <a:pt x="7345331" y="17592"/>
                  <a:pt x="7450322" y="50248"/>
                </a:cubicBezTo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Shape42949673222"/>
          <p:cNvSpPr/>
          <p:nvPr/>
        </p:nvSpPr>
        <p:spPr>
          <a:xfrm rot="20571398">
            <a:off x="7466015" y="-902402"/>
            <a:ext cx="5070199" cy="4363911"/>
          </a:xfrm>
          <a:custGeom>
            <a:avLst/>
            <a:gdLst/>
            <a:ahLst/>
            <a:cxnLst/>
            <a:rect l="l" t="t" r="r" b="b"/>
            <a:pathLst>
              <a:path w="5070199" h="4363911">
                <a:moveTo>
                  <a:pt x="0" y="0"/>
                </a:moveTo>
                <a:lnTo>
                  <a:pt x="5070199" y="1563999"/>
                </a:lnTo>
                <a:lnTo>
                  <a:pt x="4206513" y="4363911"/>
                </a:lnTo>
                <a:lnTo>
                  <a:pt x="807587" y="4363911"/>
                </a:lnTo>
                <a:cubicBezTo>
                  <a:pt x="361569" y="4363911"/>
                  <a:pt x="0" y="4002342"/>
                  <a:pt x="0" y="3556323"/>
                </a:cubicBezTo>
                <a:close/>
              </a:path>
            </a:pathLst>
          </a:custGeom>
          <a:blipFill dpi="0" rotWithShape="1">
            <a:blip r:embed="rId2"/>
            <a:srcRect/>
            <a:tile tx="-5080000" ty="0" sx="100000" sy="100000" flip="none" algn="tl"/>
          </a:blip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" name="Shape51539607814"/>
          <p:cNvSpPr/>
          <p:nvPr/>
        </p:nvSpPr>
        <p:spPr>
          <a:xfrm>
            <a:off x="702891" y="3322172"/>
            <a:ext cx="5911704" cy="1056478"/>
          </a:xfrm>
          <a:custGeom>
            <a:avLst/>
            <a:gdLst/>
            <a:ahLst/>
            <a:cxnLst/>
            <a:rect l="l" t="t" r="r" b="b"/>
            <a:pathLst>
              <a:path w="5911704" h="1056478">
                <a:moveTo>
                  <a:pt x="0" y="0"/>
                </a:moveTo>
                <a:lnTo>
                  <a:pt x="5911703" y="0"/>
                </a:lnTo>
                <a:lnTo>
                  <a:pt x="5911703" y="1056478"/>
                </a:lnTo>
                <a:lnTo>
                  <a:pt x="0" y="1056478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>
                <a:solidFill>
                  <a:srgbClr val="E8EDFC"/>
                </a:solidFill>
                <a:latin typeface="+mn-lt"/>
              </a:rPr>
              <a:t>RANDOM FOREST– FULL SOURCE CODE</a:t>
            </a:r>
          </a:p>
        </p:txBody>
      </p:sp>
      <p:sp>
        <p:nvSpPr>
          <p:cNvPr id="2" name="Action Button: Document 1">
            <a:hlinkClick r:id="rId3" highlightClick="1"/>
            <a:extLst>
              <a:ext uri="{FF2B5EF4-FFF2-40B4-BE49-F238E27FC236}">
                <a16:creationId xmlns:a16="http://schemas.microsoft.com/office/drawing/2014/main" id="{16FA1DA6-1539-B5E2-AB7C-1FA284320768}"/>
              </a:ext>
            </a:extLst>
          </p:cNvPr>
          <p:cNvSpPr/>
          <p:nvPr/>
        </p:nvSpPr>
        <p:spPr>
          <a:xfrm>
            <a:off x="9677400" y="4111820"/>
            <a:ext cx="2057400" cy="2365179"/>
          </a:xfrm>
          <a:prstGeom prst="actionButton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Random Model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06158430470">
            <a:extLst>
              <a:ext uri="{FF2B5EF4-FFF2-40B4-BE49-F238E27FC236}">
                <a16:creationId xmlns:a16="http://schemas.microsoft.com/office/drawing/2014/main" id="{D0CC726D-E1C0-3C83-6BE1-6A7F31871A46}"/>
              </a:ext>
            </a:extLst>
          </p:cNvPr>
          <p:cNvSpPr/>
          <p:nvPr/>
        </p:nvSpPr>
        <p:spPr>
          <a:xfrm>
            <a:off x="5943601" y="2743200"/>
            <a:ext cx="1219200" cy="1578210"/>
          </a:xfrm>
          <a:custGeom>
            <a:avLst/>
            <a:gdLst/>
            <a:ahLst/>
            <a:cxnLst/>
            <a:rect l="l" t="t" r="r" b="b"/>
            <a:pathLst>
              <a:path w="5096405" h="1578210">
                <a:moveTo>
                  <a:pt x="0" y="0"/>
                </a:moveTo>
                <a:lnTo>
                  <a:pt x="5096405" y="0"/>
                </a:lnTo>
                <a:lnTo>
                  <a:pt x="5096405" y="1578210"/>
                </a:lnTo>
                <a:lnTo>
                  <a:pt x="0" y="157821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000" b="1" dirty="0">
                <a:solidFill>
                  <a:srgbClr val="0D1026"/>
                </a:solidFill>
                <a:latin typeface="+mn-lt"/>
              </a:rPr>
              <a:t>END</a:t>
            </a:r>
            <a:endParaRPr sz="4000" b="1" dirty="0">
              <a:solidFill>
                <a:srgbClr val="0D102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030634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5.15.0.138"/>
  <p:tag name="AS_RELEASE_DATE" val="2022.12.31"/>
  <p:tag name="AS_TITLE" val="Aspose.Slides for Java"/>
  <p:tag name="AS_VERSION" val="22.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949AB"/>
      </a:accent1>
      <a:accent2>
        <a:srgbClr val="4F5FC4"/>
      </a:accent2>
      <a:accent3>
        <a:srgbClr val="727FD0"/>
      </a:accent3>
      <a:accent4>
        <a:srgbClr val="959FDC"/>
      </a:accent4>
      <a:accent5>
        <a:srgbClr val="B8BFE8"/>
      </a:accent5>
      <a:accent6>
        <a:srgbClr val="DCDFF3"/>
      </a:accent6>
      <a:hlink>
        <a:srgbClr val="0000FF"/>
      </a:hlink>
      <a:folHlink>
        <a:srgbClr val="800080"/>
      </a:folHlink>
    </a:clrScheme>
    <a:fontScheme name="Office">
      <a:majorFont>
        <a:latin typeface="Jost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Jost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831</Words>
  <Application>Microsoft Office PowerPoint</Application>
  <PresentationFormat>Widescreen</PresentationFormat>
  <Paragraphs>120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Jost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Patrick</dc:creator>
  <cp:lastModifiedBy>PATRICK MUSAZA</cp:lastModifiedBy>
  <cp:revision>17</cp:revision>
  <cp:lastPrinted>2025-11-20T17:16:49Z</cp:lastPrinted>
  <dcterms:created xsi:type="dcterms:W3CDTF">2025-11-20T17:16:49Z</dcterms:created>
  <dcterms:modified xsi:type="dcterms:W3CDTF">2025-11-21T15:39:38Z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111669149955">
    <vt:lpwstr>{"text_id":"","defined_color":"","metabullet_index":""}</vt:lpwstr>
  </property>
  <property fmtid="{D5CDD505-2E9C-101B-9397-08002B2CF9AE}" pid="3" name="111669149961">
    <vt:lpwstr>{"text_id":"","defined_color":"","metabullet_index":""}</vt:lpwstr>
  </property>
  <property fmtid="{D5CDD505-2E9C-101B-9397-08002B2CF9AE}" pid="4" name="115964117251">
    <vt:lpwstr>{"text_id":"","defined_color":"","metabullet_index":""}</vt:lpwstr>
  </property>
  <property fmtid="{D5CDD505-2E9C-101B-9397-08002B2CF9AE}" pid="5" name="115964117257">
    <vt:lpwstr>{"text_id":"","defined_color":"","metabullet_index":""}</vt:lpwstr>
  </property>
  <property fmtid="{D5CDD505-2E9C-101B-9397-08002B2CF9AE}" pid="6" name="120259084547">
    <vt:lpwstr>{"text_id":"","defined_color":"","metabullet_index":""}</vt:lpwstr>
  </property>
  <property fmtid="{D5CDD505-2E9C-101B-9397-08002B2CF9AE}" pid="7" name="120259084553">
    <vt:lpwstr>{"text_id":"","defined_color":"","metabullet_index":""}</vt:lpwstr>
  </property>
  <property fmtid="{D5CDD505-2E9C-101B-9397-08002B2CF9AE}" pid="8" name="124554051843">
    <vt:lpwstr>{"color":"black","src":"icons/Technology/d4758a65-60ab-403c-a94c-e338779f0d26.svg","media_type":"icon","theme_id":18,"source_type":"ASSET"}</vt:lpwstr>
  </property>
  <property fmtid="{D5CDD505-2E9C-101B-9397-08002B2CF9AE}" pid="9" name="124554051849">
    <vt:lpwstr>{"color":"black","src":"icons/Big Data/57a5aabc-a467-42e8-935b-92898acfa8d6.svg","media_type":"icon","theme_id":18,"source_type":"ASSET"}</vt:lpwstr>
  </property>
  <property fmtid="{D5CDD505-2E9C-101B-9397-08002B2CF9AE}" pid="10" name="128849019139">
    <vt:lpwstr>{"text_id":"f420860e-e1f3-4fb1-a920-9b139c86b7a0","defined_color":"","metabullet_index":""}</vt:lpwstr>
  </property>
  <property fmtid="{D5CDD505-2E9C-101B-9397-08002B2CF9AE}" pid="11" name="128849019145">
    <vt:lpwstr>{"text_id":"7b65a58b-4c25-4268-8b6c-ea139411e278","defined_color":"","metabullet_index":""}</vt:lpwstr>
  </property>
  <property fmtid="{D5CDD505-2E9C-101B-9397-08002B2CF9AE}" pid="12" name="12884902147">
    <vt:lpwstr>{"text_id":"","defined_color":"","metabullet_index":""}</vt:lpwstr>
  </property>
  <property fmtid="{D5CDD505-2E9C-101B-9397-08002B2CF9AE}" pid="13" name="12884902150">
    <vt:lpwstr>{"text_id":"","defined_color":"","metabullet_index":""}</vt:lpwstr>
  </property>
  <property fmtid="{D5CDD505-2E9C-101B-9397-08002B2CF9AE}" pid="14" name="12884902153">
    <vt:lpwstr>{"text_id":"","defined_color":"","metabullet_index":""}</vt:lpwstr>
  </property>
  <property fmtid="{D5CDD505-2E9C-101B-9397-08002B2CF9AE}" pid="15" name="137438953731">
    <vt:lpwstr>{"text_id":"54bd347f-989b-404f-afb8-e3a4d9cc5ed1","defined_color":"","metabullet_index":""}</vt:lpwstr>
  </property>
  <property fmtid="{D5CDD505-2E9C-101B-9397-08002B2CF9AE}" pid="16" name="141733921033">
    <vt:lpwstr>{"text_id":"","defined_color":"","metabullet_index":""}</vt:lpwstr>
  </property>
  <property fmtid="{D5CDD505-2E9C-101B-9397-08002B2CF9AE}" pid="17" name="146028888329">
    <vt:lpwstr>{"text_id":"","defined_color":"","metabullet_index":""}</vt:lpwstr>
  </property>
  <property fmtid="{D5CDD505-2E9C-101B-9397-08002B2CF9AE}" pid="18" name="150323855619">
    <vt:lpwstr>{"text_id":"","defined_color":"","metabullet_index":""}</vt:lpwstr>
  </property>
  <property fmtid="{D5CDD505-2E9C-101B-9397-08002B2CF9AE}" pid="19" name="150323855625">
    <vt:lpwstr>{"text_id":"","defined_color":"","metabullet_index":""}</vt:lpwstr>
  </property>
  <property fmtid="{D5CDD505-2E9C-101B-9397-08002B2CF9AE}" pid="20" name="154618822915">
    <vt:lpwstr>{"text_id":"","defined_color":"","metabullet_index":""}</vt:lpwstr>
  </property>
  <property fmtid="{D5CDD505-2E9C-101B-9397-08002B2CF9AE}" pid="21" name="154618822921">
    <vt:lpwstr>{"color":"black","src":"icons/Technology/8e09f40e-498d-40a8-b755-19d0669d283d.svg","media_type":"icon","theme_id":18,"source_type":"ASSET"}</vt:lpwstr>
  </property>
  <property fmtid="{D5CDD505-2E9C-101B-9397-08002B2CF9AE}" pid="22" name="158913790211">
    <vt:lpwstr>{"text_id":"","defined_color":"","metabullet_index":""}</vt:lpwstr>
  </property>
  <property fmtid="{D5CDD505-2E9C-101B-9397-08002B2CF9AE}" pid="23" name="158913790217">
    <vt:lpwstr>{"text_id":"e6727be2-40c0-4af3-a300-eb988e62fe6f","defined_color":"","metabullet_index":""}</vt:lpwstr>
  </property>
  <property fmtid="{D5CDD505-2E9C-101B-9397-08002B2CF9AE}" pid="24" name="163208757507">
    <vt:lpwstr>{"color":"white","src":"icons/Big Data/66424a34-8ebd-423a-ab4a-d6773bfdb133.svg","media_type":"icon","theme_id":18,"source_type":"ASSET"}</vt:lpwstr>
  </property>
  <property fmtid="{D5CDD505-2E9C-101B-9397-08002B2CF9AE}" pid="25" name="167503724803">
    <vt:lpwstr>{"text_id":"69e2b7c6-56bc-4579-a3d4-ae021870f71e","defined_color":"","metabullet_index":""}</vt:lpwstr>
  </property>
  <property fmtid="{D5CDD505-2E9C-101B-9397-08002B2CF9AE}" pid="26" name="171798692099">
    <vt:lpwstr>{"text_id":"7d17d07c-2bb6-4864-ad16-be15df08ff68","defined_color":"","metabullet_index":""}</vt:lpwstr>
  </property>
  <property fmtid="{D5CDD505-2E9C-101B-9397-08002B2CF9AE}" pid="27" name="171798692105">
    <vt:lpwstr>{"text_id":"","defined_color":"","metabullet_index":""}</vt:lpwstr>
  </property>
  <property fmtid="{D5CDD505-2E9C-101B-9397-08002B2CF9AE}" pid="28" name="17179869443">
    <vt:lpwstr>{"text_id":"","defined_color":"","metabullet_index":""}</vt:lpwstr>
  </property>
  <property fmtid="{D5CDD505-2E9C-101B-9397-08002B2CF9AE}" pid="29" name="17179869446">
    <vt:lpwstr>{"text_id":"","defined_color":"","metabullet_index":""}</vt:lpwstr>
  </property>
  <property fmtid="{D5CDD505-2E9C-101B-9397-08002B2CF9AE}" pid="30" name="17179869449">
    <vt:lpwstr>{"text_id":"","defined_color":"","metabullet_index":""}</vt:lpwstr>
  </property>
  <property fmtid="{D5CDD505-2E9C-101B-9397-08002B2CF9AE}" pid="31" name="176093659401">
    <vt:lpwstr>{"text_id":"","defined_color":"","metabullet_index":""}</vt:lpwstr>
  </property>
  <property fmtid="{D5CDD505-2E9C-101B-9397-08002B2CF9AE}" pid="32" name="180388626697">
    <vt:lpwstr>{"text_id":"","defined_color":"","metabullet_index":""}</vt:lpwstr>
  </property>
  <property fmtid="{D5CDD505-2E9C-101B-9397-08002B2CF9AE}" pid="33" name="184683593993">
    <vt:lpwstr>{"color":"black","src":"icons/City/33c74311-b736-4ef5-8fcb-4c6bf9791116.svg","media_type":"icon","theme_id":18,"source_type":"ASSET"}</vt:lpwstr>
  </property>
  <property fmtid="{D5CDD505-2E9C-101B-9397-08002B2CF9AE}" pid="34" name="188978561289">
    <vt:lpwstr>{"text_id":"a3447639-83b3-43d9-aaee-43c8187f9b3e","defined_color":"","metabullet_index":""}</vt:lpwstr>
  </property>
  <property fmtid="{D5CDD505-2E9C-101B-9397-08002B2CF9AE}" pid="35" name="193273528585">
    <vt:lpwstr>{"text_id":"148774ff-d82d-4eb4-b34f-6d3d06c1928c","defined_color":"","metabullet_index":""}</vt:lpwstr>
  </property>
  <property fmtid="{D5CDD505-2E9C-101B-9397-08002B2CF9AE}" pid="36" name="197568495881">
    <vt:lpwstr>{"text_id":"0f8cd69d-a3cd-4008-b01c-022beac62d59","defined_color":"","metabullet_index":""}</vt:lpwstr>
  </property>
  <property fmtid="{D5CDD505-2E9C-101B-9397-08002B2CF9AE}" pid="37" name="21474836739">
    <vt:lpwstr>{"src":"photos/14/087c16b1-6dc7-449b-b29d-eb8ff9b32798.png","media_type":"photo","theme_id":18,"source_type":"ASSET"}</vt:lpwstr>
  </property>
  <property fmtid="{D5CDD505-2E9C-101B-9397-08002B2CF9AE}" pid="38" name="21474836745">
    <vt:lpwstr>{"text_id":"","defined_color":"","metabullet_index":""}</vt:lpwstr>
  </property>
  <property fmtid="{D5CDD505-2E9C-101B-9397-08002B2CF9AE}" pid="39" name="38654705926">
    <vt:lpwstr>{"text_id":"","defined_color":"","metabullet_index":""}</vt:lpwstr>
  </property>
  <property fmtid="{D5CDD505-2E9C-101B-9397-08002B2CF9AE}" pid="40" name="38654705929">
    <vt:lpwstr>{"text_id":"1af8e898-328d-4d6b-b70e-ea4e69cc2c3e","defined_color":"","metabullet_index":""}</vt:lpwstr>
  </property>
  <property fmtid="{D5CDD505-2E9C-101B-9397-08002B2CF9AE}" pid="41" name="42949673219">
    <vt:lpwstr>{"text_id":"","defined_color":"","metabullet_index":""}</vt:lpwstr>
  </property>
  <property fmtid="{D5CDD505-2E9C-101B-9397-08002B2CF9AE}" pid="42" name="42949673222">
    <vt:lpwstr>{"text_id":"","defined_color":"","metabullet_index":""}</vt:lpwstr>
  </property>
  <property fmtid="{D5CDD505-2E9C-101B-9397-08002B2CF9AE}" pid="43" name="47244640515">
    <vt:lpwstr>{"text_id":"","defined_color":"","metabullet_index":""}</vt:lpwstr>
  </property>
  <property fmtid="{D5CDD505-2E9C-101B-9397-08002B2CF9AE}" pid="44" name="47244640518">
    <vt:lpwstr>{"text_id":"","defined_color":"","metabullet_index":""}</vt:lpwstr>
  </property>
  <property fmtid="{D5CDD505-2E9C-101B-9397-08002B2CF9AE}" pid="45" name="51539607811">
    <vt:lpwstr>{"text_id":"","defined_color":"","metabullet_index":""}</vt:lpwstr>
  </property>
  <property fmtid="{D5CDD505-2E9C-101B-9397-08002B2CF9AE}" pid="46" name="51539607814">
    <vt:lpwstr>{"color":"white","src":"icons/Marketing &amp; SEO/bce6e8d4-8ab2-42fd-a2d5-9f97b4e8bd1e.svg","media_type":"icon","theme_id":18,"source_type":"ASSET"}</vt:lpwstr>
  </property>
  <property fmtid="{D5CDD505-2E9C-101B-9397-08002B2CF9AE}" pid="47" name="51539607817">
    <vt:lpwstr>{"text_id":"","defined_color":"","metabullet_index":""}</vt:lpwstr>
  </property>
  <property fmtid="{D5CDD505-2E9C-101B-9397-08002B2CF9AE}" pid="48" name="55834575107">
    <vt:lpwstr>{"color":"black","src":"icons/Education &amp; E-Learning/e9fbbdff-701b-4ca9-8f29-a2dda9488e94.svg","media_type":"icon","theme_id":18,"source_type":"ASSET"}</vt:lpwstr>
  </property>
  <property fmtid="{D5CDD505-2E9C-101B-9397-08002B2CF9AE}" pid="49" name="55834575110">
    <vt:lpwstr>{"text_id":"4f236d76-a2c6-4066-b98c-fa5ad7581c32","defined_color":"","metabullet_index":""}</vt:lpwstr>
  </property>
  <property fmtid="{D5CDD505-2E9C-101B-9397-08002B2CF9AE}" pid="50" name="55834575113">
    <vt:lpwstr>{"text_id":"","defined_color":"","metabullet_index":""}</vt:lpwstr>
  </property>
  <property fmtid="{D5CDD505-2E9C-101B-9397-08002B2CF9AE}" pid="51" name="60129542403">
    <vt:lpwstr>{"text_id":"0ab9c1c5-486b-4b85-9bb5-9e2fee39f41a","defined_color":"","metabullet_index":""}</vt:lpwstr>
  </property>
  <property fmtid="{D5CDD505-2E9C-101B-9397-08002B2CF9AE}" pid="52" name="60129542409">
    <vt:lpwstr>{"text_id":"","defined_color":"","metabullet_index":""}</vt:lpwstr>
  </property>
  <property fmtid="{D5CDD505-2E9C-101B-9397-08002B2CF9AE}" pid="53" name="64424509705">
    <vt:lpwstr>{"color":"black","src":"icons/Big Data/6858d837-fd5b-44ca-a295-081b89611724.svg","media_type":"icon","theme_id":18,"source_type":"ASSET"}</vt:lpwstr>
  </property>
  <property fmtid="{D5CDD505-2E9C-101B-9397-08002B2CF9AE}" pid="54" name="68719476995">
    <vt:lpwstr>{"text_id":"08ec305d-31c8-437b-a57c-8c7f4e5f944e","defined_color":"","metabullet_index":""}</vt:lpwstr>
  </property>
  <property fmtid="{D5CDD505-2E9C-101B-9397-08002B2CF9AE}" pid="55" name="68719476998">
    <vt:lpwstr>{"text_id":"","defined_color":"","metabullet_index":""}</vt:lpwstr>
  </property>
  <property fmtid="{D5CDD505-2E9C-101B-9397-08002B2CF9AE}" pid="56" name="68719477001">
    <vt:lpwstr>{"text_id":"f41d1fa8-8d5e-4778-9ddd-3338f3136655","defined_color":"","metabullet_index":""}</vt:lpwstr>
  </property>
  <property fmtid="{D5CDD505-2E9C-101B-9397-08002B2CF9AE}" pid="57" name="73014444294">
    <vt:lpwstr>{"text_id":"","defined_color":"","metabullet_index":""}</vt:lpwstr>
  </property>
  <property fmtid="{D5CDD505-2E9C-101B-9397-08002B2CF9AE}" pid="58" name="77309411590">
    <vt:lpwstr>{"text_id":"","defined_color":"","metabullet_index":""}</vt:lpwstr>
  </property>
  <property fmtid="{D5CDD505-2E9C-101B-9397-08002B2CF9AE}" pid="59" name="81604378883">
    <vt:lpwstr>{"text_id":"","defined_color":"","metabullet_index":""}</vt:lpwstr>
  </property>
  <property fmtid="{D5CDD505-2E9C-101B-9397-08002B2CF9AE}" pid="60" name="81604378886">
    <vt:lpwstr>{"color":"white","src":"icons/Education &amp; E-Learning/cdd3c3c5-08ab-46a1-999a-b920920d3c23.svg","media_type":"icon","theme_id":18,"source_type":"ASSET"}</vt:lpwstr>
  </property>
  <property fmtid="{D5CDD505-2E9C-101B-9397-08002B2CF9AE}" pid="61" name="81604378889">
    <vt:lpwstr>{"text_id":"","defined_color":"","metabullet_index":""}</vt:lpwstr>
  </property>
  <property fmtid="{D5CDD505-2E9C-101B-9397-08002B2CF9AE}" pid="62" name="85899346179">
    <vt:lpwstr>{"text_id":"","defined_color":"","metabullet_index":""}</vt:lpwstr>
  </property>
  <property fmtid="{D5CDD505-2E9C-101B-9397-08002B2CF9AE}" pid="63" name="85899346182">
    <vt:lpwstr>{"text_id":"f9c73501-cc5e-4416-837e-3622ee2428cd","defined_color":"","metabullet_index":""}</vt:lpwstr>
  </property>
  <property fmtid="{D5CDD505-2E9C-101B-9397-08002B2CF9AE}" pid="64" name="85899346185">
    <vt:lpwstr>{"text_id":"","defined_color":"","metabullet_index":""}</vt:lpwstr>
  </property>
  <property fmtid="{D5CDD505-2E9C-101B-9397-08002B2CF9AE}" pid="65" name="90194313475">
    <vt:lpwstr>{"text_id":"","defined_color":"","metabullet_index":""}</vt:lpwstr>
  </property>
  <property fmtid="{D5CDD505-2E9C-101B-9397-08002B2CF9AE}" pid="66" name="90194313478">
    <vt:lpwstr>{"text_id":"09db3cf9-fc01-48d2-b4a1-236b256b48be","defined_color":"","metabullet_index":""}</vt:lpwstr>
  </property>
  <property fmtid="{D5CDD505-2E9C-101B-9397-08002B2CF9AE}" pid="67" name="90194313481">
    <vt:lpwstr>{"text_id":"","defined_color":"","metabullet_index":""}</vt:lpwstr>
  </property>
  <property fmtid="{D5CDD505-2E9C-101B-9397-08002B2CF9AE}" pid="68" name="94489280771">
    <vt:lpwstr>{"color":"black","src":"icons/health/eb9a9cb2-51be-4a44-834a-f329142acb03.svg","media_type":"icon","theme_id":18,"source_type":"ASSET"}</vt:lpwstr>
  </property>
  <property fmtid="{D5CDD505-2E9C-101B-9397-08002B2CF9AE}" pid="69" name="94489280777">
    <vt:lpwstr>{"color":"black","src":"icons/Big Data/b21ae0ff-7dfb-49f1-bc5b-11102822daa2.svg","media_type":"icon","theme_id":18,"source_type":"ASSET"}</vt:lpwstr>
  </property>
  <property fmtid="{D5CDD505-2E9C-101B-9397-08002B2CF9AE}" pid="70" name="98784248067">
    <vt:lpwstr>{"text_id":"63f6bc77-38d7-479f-aa64-d8472423e88d","defined_color":"","metabullet_index":""}</vt:lpwstr>
  </property>
  <property fmtid="{D5CDD505-2E9C-101B-9397-08002B2CF9AE}" pid="71" name="98784248073">
    <vt:lpwstr>{"text_id":"9c36e62d-882f-4945-984d-aedb9283d3c0","defined_color":"","metabullet_index":""}</vt:lpwstr>
  </property>
  <property fmtid="{D5CDD505-2E9C-101B-9397-08002B2CF9AE}" pid="72" name="background">
    <vt:lpwstr>{"defined_color":""}</vt:lpwstr>
  </property>
  <property fmtid="{D5CDD505-2E9C-101B-9397-08002B2CF9AE}" pid="73" name="icon_color">
    <vt:lpwstr>{"color":"white"}</vt:lpwstr>
  </property>
</Properties>
</file>