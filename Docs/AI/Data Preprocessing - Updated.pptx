
<file path=[Content_Types].xml><?xml version="1.0" encoding="utf-8"?>
<Types xmlns="http://schemas.openxmlformats.org/package/2006/content-types">
  <Default Extension="png" ContentType="image/png"/>
  <Default Extension="svg" ContentType="image/sv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dia/image31.svg" ContentType="image/svg+xml"/>
  <Override PartName="/ppt/media/image32.svg" ContentType="image/svg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82" r:id="rId6"/>
    <p:sldId id="276" r:id="rId7"/>
    <p:sldId id="277" r:id="rId8"/>
    <p:sldId id="283" r:id="rId9"/>
    <p:sldId id="278" r:id="rId10"/>
    <p:sldId id="284" r:id="rId11"/>
    <p:sldId id="285" r:id="rId12"/>
    <p:sldId id="286" r:id="rId13"/>
    <p:sldId id="287" r:id="rId14"/>
    <p:sldId id="288" r:id="rId15"/>
    <p:sldId id="289" r:id="rId16"/>
    <p:sldId id="290" r:id="rId17"/>
    <p:sldId id="279" r:id="rId18"/>
    <p:sldId id="280" r:id="rId19"/>
    <p:sldId id="281" r:id="rId20"/>
  </p:sldIdLst>
  <p:sldSz cx="12192000" cy="6858000"/>
  <p:notesSz cx="6858000" cy="9144000"/>
  <p:embeddedFontLst>
    <p:embeddedFont>
      <p:font typeface="Verdana" panose="020B0604030504040204" pitchFamily="34" charset="0"/>
      <p:regular r:id="rId21"/>
      <p:bold r:id="rId22"/>
      <p:italic r:id="rId23"/>
      <p:boldItalic r:id="rId24"/>
    </p:embeddedFon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Ubuntu" panose="020B0604020202020204" charset="0"/>
      <p:regular r:id="rId29"/>
      <p:bold r:id="rId30"/>
    </p:embeddedFont>
  </p:embeddedFontLst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87" d="100"/>
          <a:sy n="87" d="100"/>
        </p:scale>
        <p:origin x="6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DC0CD05-D2E5-452E-8CF0-8530EC21634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5B06086-EA43-411E-9156-9335DE11E40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24C45C-52AE-4CD6-8D41-B900B22A6FD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441155D-C504-4880-B5B8-A62C68567D6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61713FD-5532-42EA-A59D-21A04F533FE1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B9F16DE-4810-40B7-9F1D-C0C47F9A0CA5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D6877D0-0BA0-4219-8D94-BC42E3D2DFE4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12C4572-D9F9-489B-BF65-FDA860CD3A8B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98E696F-E045-489D-A01D-A576DD885A5C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025CC4-C99E-43FE-814C-17ED456236EF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F21FD7-E647-4D7F-AC68-315D8BA00058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8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12" Type="http://schemas.openxmlformats.org/officeDocument/2006/relationships/image" Target="../media/image12.svg"/><Relationship Id="rId17" Type="http://schemas.openxmlformats.org/officeDocument/2006/relationships/image" Target="../media/image10.png"/><Relationship Id="rId2" Type="http://schemas.openxmlformats.org/officeDocument/2006/relationships/image" Target="../media/image2.jp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6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15.pn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0uvRQOfj2I6KP-9buP23hwFub0JSyPO/view?usp=sharing" TargetMode="Externa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nQSVadk_r9I_5k6FVnBV3_UW04ITMIJ-7orBFDDlBv8/edit?usp=sharing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140-A421-44CA-0E6D-94BDAED0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94489280771">
            <a:extLst>
              <a:ext uri="{FF2B5EF4-FFF2-40B4-BE49-F238E27FC236}">
                <a16:creationId xmlns:a16="http://schemas.microsoft.com/office/drawing/2014/main" id="{84AB86C3-1180-706D-80B0-BD81A4139F02}"/>
              </a:ext>
            </a:extLst>
          </p:cNvPr>
          <p:cNvSpPr/>
          <p:nvPr/>
        </p:nvSpPr>
        <p:spPr>
          <a:xfrm>
            <a:off x="-1676400" y="-1397669"/>
            <a:ext cx="3089717" cy="3089726"/>
          </a:xfrm>
          <a:custGeom>
            <a:avLst/>
            <a:gdLst/>
            <a:ahLst/>
            <a:cxnLst/>
            <a:rect l="l" t="t" r="r" b="b"/>
            <a:pathLst>
              <a:path w="3089717" h="308972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6" y="2576585"/>
                </a:lnTo>
                <a:arcTo wR="513140" hR="513140" stAng="0" swAng="5400000"/>
                <a:lnTo>
                  <a:pt x="513140" y="3089726"/>
                </a:lnTo>
                <a:arcTo wR="513140" hR="513140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3" name="Shape98784248067">
            <a:extLst>
              <a:ext uri="{FF2B5EF4-FFF2-40B4-BE49-F238E27FC236}">
                <a16:creationId xmlns:a16="http://schemas.microsoft.com/office/drawing/2014/main" id="{5BAF54B7-76E5-2F46-D667-8E03D14685DC}"/>
              </a:ext>
            </a:extLst>
          </p:cNvPr>
          <p:cNvSpPr/>
          <p:nvPr/>
        </p:nvSpPr>
        <p:spPr>
          <a:xfrm>
            <a:off x="11353800" y="3200400"/>
            <a:ext cx="3089717" cy="5227386"/>
          </a:xfrm>
          <a:custGeom>
            <a:avLst/>
            <a:gdLst/>
            <a:ahLst/>
            <a:cxnLst/>
            <a:rect l="l" t="t" r="r" b="b"/>
            <a:pathLst>
              <a:path w="3089717" h="522738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7" y="4714246"/>
                </a:lnTo>
                <a:arcTo wR="513140" hR="513140" stAng="0" swAng="5400000"/>
                <a:lnTo>
                  <a:pt x="513140" y="5227386"/>
                </a:lnTo>
                <a:arcTo wR="513140" hR="513140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B76A1-879C-E21C-824D-506C3022723C}"/>
              </a:ext>
            </a:extLst>
          </p:cNvPr>
          <p:cNvSpPr txBox="1"/>
          <p:nvPr/>
        </p:nvSpPr>
        <p:spPr>
          <a:xfrm>
            <a:off x="7620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4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 </a:t>
            </a:r>
            <a:r>
              <a:rPr lang="en-US" sz="4400" b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UNIVERSITY OF RWANDA</a:t>
            </a:r>
          </a:p>
          <a:p>
            <a:r>
              <a:rPr lang="en-US" dirty="0"/>
              <a:t>      COLLEGE OF SCIENCE AND TECHNOLOGY</a:t>
            </a:r>
          </a:p>
          <a:p>
            <a:r>
              <a:rPr lang="en-US" dirty="0"/>
              <a:t>      Y3 CSE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  Group 4: TransConnect</a:t>
            </a:r>
          </a:p>
          <a:p>
            <a:pPr lvl="1"/>
            <a:r>
              <a:rPr lang="en-US" dirty="0"/>
              <a:t>      Members: MUSAZA PATRICK (223019061) </a:t>
            </a:r>
          </a:p>
          <a:p>
            <a:pPr lvl="1"/>
            <a:r>
              <a:rPr lang="en-US" dirty="0"/>
              <a:t>                           MANZI NSENGA IVAN (223004392)</a:t>
            </a:r>
          </a:p>
          <a:p>
            <a:endParaRPr lang="en-US" dirty="0"/>
          </a:p>
          <a:p>
            <a:r>
              <a:rPr lang="en-US" dirty="0"/>
              <a:t>      Module: Computing Intelligence &amp; Applications</a:t>
            </a:r>
          </a:p>
          <a:p>
            <a:r>
              <a:rPr lang="en-US" dirty="0"/>
              <a:t>      Date: 28</a:t>
            </a:r>
            <a:r>
              <a:rPr lang="en-US" baseline="30000" dirty="0"/>
              <a:t>th</a:t>
            </a:r>
            <a:r>
              <a:rPr lang="en-US" dirty="0"/>
              <a:t> October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A5DC5B-AFC0-005F-4642-0892395A1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017" y="304800"/>
            <a:ext cx="2961783" cy="2596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231F92-6911-49DB-84F6-10FAE9B3CC34}"/>
              </a:ext>
            </a:extLst>
          </p:cNvPr>
          <p:cNvSpPr txBox="1"/>
          <p:nvPr/>
        </p:nvSpPr>
        <p:spPr>
          <a:xfrm>
            <a:off x="8991600" y="5188684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2060"/>
                </a:solidFill>
              </a:rPr>
              <a:t>#3</a:t>
            </a:r>
          </a:p>
        </p:txBody>
      </p:sp>
    </p:spTree>
    <p:extLst>
      <p:ext uri="{BB962C8B-B14F-4D97-AF65-F5344CB8AC3E}">
        <p14:creationId xmlns:p14="http://schemas.microsoft.com/office/powerpoint/2010/main" val="21884662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97ED-1219-689A-6B0E-9AEB7EFD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DB0F3C0-CFB9-1940-09F5-E903911319A6}"/>
              </a:ext>
            </a:extLst>
          </p:cNvPr>
          <p:cNvGrpSpPr/>
          <p:nvPr/>
        </p:nvGrpSpPr>
        <p:grpSpPr>
          <a:xfrm>
            <a:off x="1832125" y="2217154"/>
            <a:ext cx="5130479" cy="4665284"/>
            <a:chOff x="0" y="0"/>
            <a:chExt cx="4076700" cy="41148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FBB159-2AA3-C8D1-FD99-4ED96F63AC66}"/>
                </a:ext>
              </a:extLst>
            </p:cNvPr>
            <p:cNvSpPr/>
            <p:nvPr/>
          </p:nvSpPr>
          <p:spPr>
            <a:xfrm>
              <a:off x="0" y="0"/>
              <a:ext cx="4025900" cy="41148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13B8C4C-98C3-9B1E-5F25-1C30B35F9955}"/>
                </a:ext>
              </a:extLst>
            </p:cNvPr>
            <p:cNvSpPr/>
            <p:nvPr/>
          </p:nvSpPr>
          <p:spPr>
            <a:xfrm>
              <a:off x="215900" y="152400"/>
              <a:ext cx="3835400" cy="3892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DB4C780-76D7-BD67-3E48-27762A15EEC4}"/>
                </a:ext>
              </a:extLst>
            </p:cNvPr>
            <p:cNvSpPr/>
            <p:nvPr/>
          </p:nvSpPr>
          <p:spPr>
            <a:xfrm>
              <a:off x="317500" y="215900"/>
              <a:ext cx="3759200" cy="377825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r="18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9" name="Shape296352743686">
            <a:extLst>
              <a:ext uri="{FF2B5EF4-FFF2-40B4-BE49-F238E27FC236}">
                <a16:creationId xmlns:a16="http://schemas.microsoft.com/office/drawing/2014/main" id="{DA5DD73C-FAC2-A7BB-4658-143D6DA6846B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0" name="Shape300647710982">
            <a:extLst>
              <a:ext uri="{FF2B5EF4-FFF2-40B4-BE49-F238E27FC236}">
                <a16:creationId xmlns:a16="http://schemas.microsoft.com/office/drawing/2014/main" id="{AD30A462-CCDD-A382-F09B-7194BB19714A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1" name="Shape304942678278">
            <a:extLst>
              <a:ext uri="{FF2B5EF4-FFF2-40B4-BE49-F238E27FC236}">
                <a16:creationId xmlns:a16="http://schemas.microsoft.com/office/drawing/2014/main" id="{6358A6E9-B967-77CA-647D-A5CC6628DC89}"/>
              </a:ext>
            </a:extLst>
          </p:cNvPr>
          <p:cNvSpPr/>
          <p:nvPr/>
        </p:nvSpPr>
        <p:spPr>
          <a:xfrm>
            <a:off x="6758277" y="885004"/>
            <a:ext cx="4751306" cy="142193"/>
          </a:xfrm>
          <a:custGeom>
            <a:avLst/>
            <a:gdLst/>
            <a:ahLst/>
            <a:cxnLst/>
            <a:rect l="l" t="t" r="r" b="b"/>
            <a:pathLst>
              <a:path w="4751306" h="142192">
                <a:moveTo>
                  <a:pt x="0" y="0"/>
                </a:moveTo>
                <a:lnTo>
                  <a:pt x="4751306" y="0"/>
                </a:lnTo>
                <a:lnTo>
                  <a:pt x="47513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Data Description:</a:t>
            </a:r>
          </a:p>
        </p:txBody>
      </p:sp>
      <p:sp>
        <p:nvSpPr>
          <p:cNvPr id="72" name="Shape309237645574">
            <a:extLst>
              <a:ext uri="{FF2B5EF4-FFF2-40B4-BE49-F238E27FC236}">
                <a16:creationId xmlns:a16="http://schemas.microsoft.com/office/drawing/2014/main" id="{717AEAB5-165D-A458-2999-BC167EC6F884}"/>
              </a:ext>
            </a:extLst>
          </p:cNvPr>
          <p:cNvSpPr/>
          <p:nvPr/>
        </p:nvSpPr>
        <p:spPr>
          <a:xfrm>
            <a:off x="6710028" y="11842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0">
            <a:extLst>
              <a:ext uri="{FF2B5EF4-FFF2-40B4-BE49-F238E27FC236}">
                <a16:creationId xmlns:a16="http://schemas.microsoft.com/office/drawing/2014/main" id="{550C8BC1-E188-4EC5-C3A8-50A0C74CBCAA}"/>
              </a:ext>
            </a:extLst>
          </p:cNvPr>
          <p:cNvSpPr/>
          <p:nvPr/>
        </p:nvSpPr>
        <p:spPr>
          <a:xfrm>
            <a:off x="6796105" y="122278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4" name="Shape317827580166">
            <a:extLst>
              <a:ext uri="{FF2B5EF4-FFF2-40B4-BE49-F238E27FC236}">
                <a16:creationId xmlns:a16="http://schemas.microsoft.com/office/drawing/2014/main" id="{C9225ECF-B013-EF50-4CDF-73EB3D625A80}"/>
              </a:ext>
            </a:extLst>
          </p:cNvPr>
          <p:cNvSpPr/>
          <p:nvPr/>
        </p:nvSpPr>
        <p:spPr>
          <a:xfrm>
            <a:off x="6749810" y="1264729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5" name="Shape322122547462">
            <a:extLst>
              <a:ext uri="{FF2B5EF4-FFF2-40B4-BE49-F238E27FC236}">
                <a16:creationId xmlns:a16="http://schemas.microsoft.com/office/drawing/2014/main" id="{CFC164C7-271A-A48D-6BD0-B3683C064B69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789176" y="130547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6" name="Shape326417514758">
            <a:extLst>
              <a:ext uri="{FF2B5EF4-FFF2-40B4-BE49-F238E27FC236}">
                <a16:creationId xmlns:a16="http://schemas.microsoft.com/office/drawing/2014/main" id="{FBD5A947-9742-0273-6B59-FC80DE467C75}"/>
              </a:ext>
            </a:extLst>
          </p:cNvPr>
          <p:cNvSpPr/>
          <p:nvPr/>
        </p:nvSpPr>
        <p:spPr>
          <a:xfrm>
            <a:off x="7230923" y="1184291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400" dirty="0">
                <a:solidFill>
                  <a:srgbClr val="FFFFFF"/>
                </a:solidFill>
                <a:latin typeface="+mn-lt"/>
              </a:rPr>
              <a:t>Tabular data with bus routes, stop names, and coordinates</a:t>
            </a:r>
          </a:p>
        </p:txBody>
      </p:sp>
      <p:sp>
        <p:nvSpPr>
          <p:cNvPr id="77" name="Shape330712482054">
            <a:extLst>
              <a:ext uri="{FF2B5EF4-FFF2-40B4-BE49-F238E27FC236}">
                <a16:creationId xmlns:a16="http://schemas.microsoft.com/office/drawing/2014/main" id="{6A96A7F0-958F-31EC-505A-5BB44EE7FB7D}"/>
              </a:ext>
            </a:extLst>
          </p:cNvPr>
          <p:cNvSpPr/>
          <p:nvPr/>
        </p:nvSpPr>
        <p:spPr>
          <a:xfrm>
            <a:off x="6710028" y="171382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8" name="Shape335007449350">
            <a:extLst>
              <a:ext uri="{FF2B5EF4-FFF2-40B4-BE49-F238E27FC236}">
                <a16:creationId xmlns:a16="http://schemas.microsoft.com/office/drawing/2014/main" id="{6B1865C7-6601-5919-F7E4-4A7F7E73FD3C}"/>
              </a:ext>
            </a:extLst>
          </p:cNvPr>
          <p:cNvSpPr/>
          <p:nvPr/>
        </p:nvSpPr>
        <p:spPr>
          <a:xfrm>
            <a:off x="6796105" y="1752317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9" name="Shape339302416646">
            <a:extLst>
              <a:ext uri="{FF2B5EF4-FFF2-40B4-BE49-F238E27FC236}">
                <a16:creationId xmlns:a16="http://schemas.microsoft.com/office/drawing/2014/main" id="{01A01464-919D-8D7B-7558-E330F55E29DC}"/>
              </a:ext>
            </a:extLst>
          </p:cNvPr>
          <p:cNvSpPr/>
          <p:nvPr/>
        </p:nvSpPr>
        <p:spPr>
          <a:xfrm>
            <a:off x="6749810" y="1794265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80" name="Shape343597383942">
            <a:extLst>
              <a:ext uri="{FF2B5EF4-FFF2-40B4-BE49-F238E27FC236}">
                <a16:creationId xmlns:a16="http://schemas.microsoft.com/office/drawing/2014/main" id="{EA37F348-5194-488E-B80C-6A785A9F2A63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89176" y="1835011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81" name="Shape347892351238">
            <a:extLst>
              <a:ext uri="{FF2B5EF4-FFF2-40B4-BE49-F238E27FC236}">
                <a16:creationId xmlns:a16="http://schemas.microsoft.com/office/drawing/2014/main" id="{81444358-C4F9-C0B5-CCEF-69C34BA28948}"/>
              </a:ext>
            </a:extLst>
          </p:cNvPr>
          <p:cNvSpPr/>
          <p:nvPr/>
        </p:nvSpPr>
        <p:spPr>
          <a:xfrm>
            <a:off x="7230923" y="1713827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Multiple routes with sequential stops</a:t>
            </a:r>
          </a:p>
        </p:txBody>
      </p:sp>
      <p:sp>
        <p:nvSpPr>
          <p:cNvPr id="82" name="Shape352187318534">
            <a:extLst>
              <a:ext uri="{FF2B5EF4-FFF2-40B4-BE49-F238E27FC236}">
                <a16:creationId xmlns:a16="http://schemas.microsoft.com/office/drawing/2014/main" id="{80112EC9-9F46-C439-244B-28A633A60D09}"/>
              </a:ext>
            </a:extLst>
          </p:cNvPr>
          <p:cNvSpPr/>
          <p:nvPr/>
        </p:nvSpPr>
        <p:spPr>
          <a:xfrm>
            <a:off x="6710028" y="224336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3" name="Shape356482285830">
            <a:extLst>
              <a:ext uri="{FF2B5EF4-FFF2-40B4-BE49-F238E27FC236}">
                <a16:creationId xmlns:a16="http://schemas.microsoft.com/office/drawing/2014/main" id="{118D06B1-6528-025A-19AA-7AB42ED222C1}"/>
              </a:ext>
            </a:extLst>
          </p:cNvPr>
          <p:cNvSpPr/>
          <p:nvPr/>
        </p:nvSpPr>
        <p:spPr>
          <a:xfrm>
            <a:off x="6796105" y="228185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4" name="Shape360777253126">
            <a:extLst>
              <a:ext uri="{FF2B5EF4-FFF2-40B4-BE49-F238E27FC236}">
                <a16:creationId xmlns:a16="http://schemas.microsoft.com/office/drawing/2014/main" id="{13132E54-2AFE-BC32-989D-6BC60DCFE482}"/>
              </a:ext>
            </a:extLst>
          </p:cNvPr>
          <p:cNvSpPr/>
          <p:nvPr/>
        </p:nvSpPr>
        <p:spPr>
          <a:xfrm>
            <a:off x="6749810" y="232380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85" name="Shape365072220422">
            <a:extLst>
              <a:ext uri="{FF2B5EF4-FFF2-40B4-BE49-F238E27FC236}">
                <a16:creationId xmlns:a16="http://schemas.microsoft.com/office/drawing/2014/main" id="{F3277012-9ACD-1E58-60C2-DFAB71459433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789176" y="2364547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86" name="Shape369367187718">
            <a:extLst>
              <a:ext uri="{FF2B5EF4-FFF2-40B4-BE49-F238E27FC236}">
                <a16:creationId xmlns:a16="http://schemas.microsoft.com/office/drawing/2014/main" id="{83625A30-EA78-33DB-E7A2-A6E30837325B}"/>
              </a:ext>
            </a:extLst>
          </p:cNvPr>
          <p:cNvSpPr/>
          <p:nvPr/>
        </p:nvSpPr>
        <p:spPr>
          <a:xfrm>
            <a:off x="7188323" y="2124875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Mixed data types: text (stop names) and numeric (coordinates</a:t>
            </a:r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7" name="Shape373662155014">
            <a:extLst>
              <a:ext uri="{FF2B5EF4-FFF2-40B4-BE49-F238E27FC236}">
                <a16:creationId xmlns:a16="http://schemas.microsoft.com/office/drawing/2014/main" id="{93DFC0BB-2673-E51C-341B-DE97B680D5DD}"/>
              </a:ext>
            </a:extLst>
          </p:cNvPr>
          <p:cNvSpPr/>
          <p:nvPr/>
        </p:nvSpPr>
        <p:spPr>
          <a:xfrm>
            <a:off x="6758277" y="2659072"/>
            <a:ext cx="4751306" cy="142193"/>
          </a:xfrm>
          <a:custGeom>
            <a:avLst/>
            <a:gdLst/>
            <a:ahLst/>
            <a:cxnLst/>
            <a:rect l="l" t="t" r="r" b="b"/>
            <a:pathLst>
              <a:path w="4751306" h="142192">
                <a:moveTo>
                  <a:pt x="0" y="0"/>
                </a:moveTo>
                <a:lnTo>
                  <a:pt x="4751306" y="0"/>
                </a:lnTo>
                <a:lnTo>
                  <a:pt x="47513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Initial Data Quality Issues:</a:t>
            </a:r>
          </a:p>
        </p:txBody>
      </p:sp>
      <p:sp>
        <p:nvSpPr>
          <p:cNvPr id="88" name="Shape377957122310">
            <a:extLst>
              <a:ext uri="{FF2B5EF4-FFF2-40B4-BE49-F238E27FC236}">
                <a16:creationId xmlns:a16="http://schemas.microsoft.com/office/drawing/2014/main" id="{8DBF967D-7437-131E-692E-1EF36357648F}"/>
              </a:ext>
            </a:extLst>
          </p:cNvPr>
          <p:cNvSpPr/>
          <p:nvPr/>
        </p:nvSpPr>
        <p:spPr>
          <a:xfrm>
            <a:off x="6710028" y="291509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9" name="Shape382252089606">
            <a:extLst>
              <a:ext uri="{FF2B5EF4-FFF2-40B4-BE49-F238E27FC236}">
                <a16:creationId xmlns:a16="http://schemas.microsoft.com/office/drawing/2014/main" id="{4C49CD62-3001-0C42-53EF-FCB59DF6AD5C}"/>
              </a:ext>
            </a:extLst>
          </p:cNvPr>
          <p:cNvSpPr/>
          <p:nvPr/>
        </p:nvSpPr>
        <p:spPr>
          <a:xfrm>
            <a:off x="6796105" y="295358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0" name="Shape386547056902">
            <a:extLst>
              <a:ext uri="{FF2B5EF4-FFF2-40B4-BE49-F238E27FC236}">
                <a16:creationId xmlns:a16="http://schemas.microsoft.com/office/drawing/2014/main" id="{1D439BB5-0E78-5C22-AB8A-D7985011826F}"/>
              </a:ext>
            </a:extLst>
          </p:cNvPr>
          <p:cNvSpPr/>
          <p:nvPr/>
        </p:nvSpPr>
        <p:spPr>
          <a:xfrm>
            <a:off x="6749810" y="299553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91" name="Shape390842024198">
            <a:extLst>
              <a:ext uri="{FF2B5EF4-FFF2-40B4-BE49-F238E27FC236}">
                <a16:creationId xmlns:a16="http://schemas.microsoft.com/office/drawing/2014/main" id="{0CE11372-8375-691E-96BA-8ED0EAE93C9E}"/>
              </a:ext>
            </a:extLst>
          </p:cNvPr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6808802" y="3036275"/>
            <a:ext cx="192330" cy="231581"/>
          </a:xfrm>
          <a:custGeom>
            <a:avLst/>
            <a:gdLst/>
            <a:ahLst/>
            <a:cxnLst/>
            <a:rect l="l" t="t" r="r" b="b"/>
            <a:pathLst>
              <a:path w="192329" h="231581">
                <a:moveTo>
                  <a:pt x="0" y="0"/>
                </a:moveTo>
                <a:lnTo>
                  <a:pt x="192330" y="0"/>
                </a:lnTo>
                <a:lnTo>
                  <a:pt x="192330" y="231581"/>
                </a:lnTo>
                <a:lnTo>
                  <a:pt x="0" y="231581"/>
                </a:lnTo>
                <a:close/>
              </a:path>
            </a:pathLst>
          </a:custGeom>
        </p:spPr>
      </p:pic>
      <p:sp>
        <p:nvSpPr>
          <p:cNvPr id="92" name="Shape395136991494">
            <a:extLst>
              <a:ext uri="{FF2B5EF4-FFF2-40B4-BE49-F238E27FC236}">
                <a16:creationId xmlns:a16="http://schemas.microsoft.com/office/drawing/2014/main" id="{94A3BB34-5EFD-1732-BCC5-E22EA71A9AD6}"/>
              </a:ext>
            </a:extLst>
          </p:cNvPr>
          <p:cNvSpPr/>
          <p:nvPr/>
        </p:nvSpPr>
        <p:spPr>
          <a:xfrm>
            <a:off x="7188323" y="3009872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Inconsistent stop naming conventions</a:t>
            </a:r>
          </a:p>
        </p:txBody>
      </p:sp>
      <p:sp>
        <p:nvSpPr>
          <p:cNvPr id="93" name="Shape399431958790">
            <a:extLst>
              <a:ext uri="{FF2B5EF4-FFF2-40B4-BE49-F238E27FC236}">
                <a16:creationId xmlns:a16="http://schemas.microsoft.com/office/drawing/2014/main" id="{DC32AEE9-0A16-56C6-32E6-061E42CA44F7}"/>
              </a:ext>
            </a:extLst>
          </p:cNvPr>
          <p:cNvSpPr/>
          <p:nvPr/>
        </p:nvSpPr>
        <p:spPr>
          <a:xfrm>
            <a:off x="6710028" y="344462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4" name="Shape403726926086">
            <a:extLst>
              <a:ext uri="{FF2B5EF4-FFF2-40B4-BE49-F238E27FC236}">
                <a16:creationId xmlns:a16="http://schemas.microsoft.com/office/drawing/2014/main" id="{68B3CFFF-A5EB-5C04-1600-63CE94BB233D}"/>
              </a:ext>
            </a:extLst>
          </p:cNvPr>
          <p:cNvSpPr/>
          <p:nvPr/>
        </p:nvSpPr>
        <p:spPr>
          <a:xfrm>
            <a:off x="6796105" y="3483117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5" name="Shape408021893382">
            <a:extLst>
              <a:ext uri="{FF2B5EF4-FFF2-40B4-BE49-F238E27FC236}">
                <a16:creationId xmlns:a16="http://schemas.microsoft.com/office/drawing/2014/main" id="{15C25559-5D30-CAF2-D411-F566280070BF}"/>
              </a:ext>
            </a:extLst>
          </p:cNvPr>
          <p:cNvSpPr/>
          <p:nvPr/>
        </p:nvSpPr>
        <p:spPr>
          <a:xfrm>
            <a:off x="6749810" y="3525065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96" name="Shape412316860678">
            <a:extLst>
              <a:ext uri="{FF2B5EF4-FFF2-40B4-BE49-F238E27FC236}">
                <a16:creationId xmlns:a16="http://schemas.microsoft.com/office/drawing/2014/main" id="{99C8B956-5BF5-55A4-8E4B-725F4F603893}"/>
              </a:ext>
            </a:extLst>
          </p:cNvPr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xmlns="" r:embed="rId12"/>
              </a:ext>
            </a:extLst>
          </a:blip>
          <a:stretch>
            <a:fillRect/>
          </a:stretch>
        </p:blipFill>
        <p:spPr>
          <a:xfrm>
            <a:off x="6798988" y="3565810"/>
            <a:ext cx="211955" cy="231581"/>
          </a:xfrm>
          <a:custGeom>
            <a:avLst/>
            <a:gdLst/>
            <a:ahLst/>
            <a:cxnLst/>
            <a:rect l="l" t="t" r="r" b="b"/>
            <a:pathLst>
              <a:path w="211955" h="231581">
                <a:moveTo>
                  <a:pt x="0" y="0"/>
                </a:moveTo>
                <a:lnTo>
                  <a:pt x="211955" y="0"/>
                </a:lnTo>
                <a:lnTo>
                  <a:pt x="2119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97" name="Shape416611827974">
            <a:extLst>
              <a:ext uri="{FF2B5EF4-FFF2-40B4-BE49-F238E27FC236}">
                <a16:creationId xmlns:a16="http://schemas.microsoft.com/office/drawing/2014/main" id="{5C3A0162-CCDD-BD87-4993-35939CBA60E9}"/>
              </a:ext>
            </a:extLst>
          </p:cNvPr>
          <p:cNvSpPr/>
          <p:nvPr/>
        </p:nvSpPr>
        <p:spPr>
          <a:xfrm>
            <a:off x="7230923" y="3444627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Mixed coordinate formats </a:t>
            </a:r>
            <a:r>
              <a:rPr lang="en-US" sz="1400" dirty="0">
                <a:solidFill>
                  <a:srgbClr val="FFFFFF"/>
                </a:solidFill>
                <a:latin typeface="+mn-lt"/>
              </a:rPr>
              <a:t>S</a:t>
            </a:r>
            <a:r>
              <a:rPr sz="1400" dirty="0">
                <a:solidFill>
                  <a:srgbClr val="FFFFFF"/>
                </a:solidFill>
                <a:latin typeface="+mn-lt"/>
              </a:rPr>
              <a:t>139282 E30.28382)</a:t>
            </a:r>
          </a:p>
        </p:txBody>
      </p:sp>
      <p:sp>
        <p:nvSpPr>
          <p:cNvPr id="98" name="Shape420906795270">
            <a:extLst>
              <a:ext uri="{FF2B5EF4-FFF2-40B4-BE49-F238E27FC236}">
                <a16:creationId xmlns:a16="http://schemas.microsoft.com/office/drawing/2014/main" id="{14241CC6-D021-5789-F8A4-8F82C0F27E82}"/>
              </a:ext>
            </a:extLst>
          </p:cNvPr>
          <p:cNvSpPr/>
          <p:nvPr/>
        </p:nvSpPr>
        <p:spPr>
          <a:xfrm>
            <a:off x="6710028" y="397416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9" name="Shape425201762566">
            <a:extLst>
              <a:ext uri="{FF2B5EF4-FFF2-40B4-BE49-F238E27FC236}">
                <a16:creationId xmlns:a16="http://schemas.microsoft.com/office/drawing/2014/main" id="{D524917C-3042-76CD-EE3D-C0A7F4639378}"/>
              </a:ext>
            </a:extLst>
          </p:cNvPr>
          <p:cNvSpPr/>
          <p:nvPr/>
        </p:nvSpPr>
        <p:spPr>
          <a:xfrm>
            <a:off x="6796106" y="401265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0" name="Shape429496729862">
            <a:extLst>
              <a:ext uri="{FF2B5EF4-FFF2-40B4-BE49-F238E27FC236}">
                <a16:creationId xmlns:a16="http://schemas.microsoft.com/office/drawing/2014/main" id="{7CF77715-DFA3-A21F-8D14-A3ED5A899461}"/>
              </a:ext>
            </a:extLst>
          </p:cNvPr>
          <p:cNvSpPr/>
          <p:nvPr/>
        </p:nvSpPr>
        <p:spPr>
          <a:xfrm>
            <a:off x="6749810" y="405460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01" name="Shape433791697158">
            <a:extLst>
              <a:ext uri="{FF2B5EF4-FFF2-40B4-BE49-F238E27FC236}">
                <a16:creationId xmlns:a16="http://schemas.microsoft.com/office/drawing/2014/main" id="{A655B101-AF98-6A3F-AA6D-636A8E237C9C}"/>
              </a:ext>
            </a:extLst>
          </p:cNvPr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xmlns="" r:embed="rId14"/>
              </a:ext>
            </a:extLst>
          </a:blip>
          <a:stretch>
            <a:fillRect/>
          </a:stretch>
        </p:blipFill>
        <p:spPr>
          <a:xfrm>
            <a:off x="6789176" y="409534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02" name="Shape438086664454">
            <a:extLst>
              <a:ext uri="{FF2B5EF4-FFF2-40B4-BE49-F238E27FC236}">
                <a16:creationId xmlns:a16="http://schemas.microsoft.com/office/drawing/2014/main" id="{BD958322-12CA-B929-4E9C-C7C1BFBE2B55}"/>
              </a:ext>
            </a:extLst>
          </p:cNvPr>
          <p:cNvSpPr/>
          <p:nvPr/>
        </p:nvSpPr>
        <p:spPr>
          <a:xfrm>
            <a:off x="7230926" y="3974162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Potential missing values and duplicates</a:t>
            </a:r>
          </a:p>
        </p:txBody>
      </p:sp>
      <p:sp>
        <p:nvSpPr>
          <p:cNvPr id="103" name="Shape442381631750">
            <a:extLst>
              <a:ext uri="{FF2B5EF4-FFF2-40B4-BE49-F238E27FC236}">
                <a16:creationId xmlns:a16="http://schemas.microsoft.com/office/drawing/2014/main" id="{17D641A7-D7EB-E800-6473-FD3A89F6C627}"/>
              </a:ext>
            </a:extLst>
          </p:cNvPr>
          <p:cNvSpPr/>
          <p:nvPr/>
        </p:nvSpPr>
        <p:spPr>
          <a:xfrm>
            <a:off x="6710028" y="450369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4" name="Shape446676599046">
            <a:extLst>
              <a:ext uri="{FF2B5EF4-FFF2-40B4-BE49-F238E27FC236}">
                <a16:creationId xmlns:a16="http://schemas.microsoft.com/office/drawing/2014/main" id="{8B83727B-1DA7-3A51-8C56-CC8F99206ED7}"/>
              </a:ext>
            </a:extLst>
          </p:cNvPr>
          <p:cNvSpPr/>
          <p:nvPr/>
        </p:nvSpPr>
        <p:spPr>
          <a:xfrm>
            <a:off x="6796105" y="4542189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5" name="Shape450971566342">
            <a:extLst>
              <a:ext uri="{FF2B5EF4-FFF2-40B4-BE49-F238E27FC236}">
                <a16:creationId xmlns:a16="http://schemas.microsoft.com/office/drawing/2014/main" id="{19B428F7-3663-F43F-1DE1-6EDB4B53D87C}"/>
              </a:ext>
            </a:extLst>
          </p:cNvPr>
          <p:cNvSpPr/>
          <p:nvPr/>
        </p:nvSpPr>
        <p:spPr>
          <a:xfrm>
            <a:off x="6749810" y="4584137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06" name="Shape455266533638">
            <a:extLst>
              <a:ext uri="{FF2B5EF4-FFF2-40B4-BE49-F238E27FC236}">
                <a16:creationId xmlns:a16="http://schemas.microsoft.com/office/drawing/2014/main" id="{4257D0CB-A1F5-D0EB-B4BF-BE9534AC939F}"/>
              </a:ext>
            </a:extLst>
          </p:cNvPr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xmlns="" r:embed="rId16"/>
              </a:ext>
            </a:extLst>
          </a:blip>
          <a:stretch>
            <a:fillRect/>
          </a:stretch>
        </p:blipFill>
        <p:spPr>
          <a:xfrm>
            <a:off x="6820577" y="4624882"/>
            <a:ext cx="168779" cy="231581"/>
          </a:xfrm>
          <a:custGeom>
            <a:avLst/>
            <a:gdLst/>
            <a:ahLst/>
            <a:cxnLst/>
            <a:rect l="l" t="t" r="r" b="b"/>
            <a:pathLst>
              <a:path w="168779" h="231581">
                <a:moveTo>
                  <a:pt x="0" y="0"/>
                </a:moveTo>
                <a:lnTo>
                  <a:pt x="168779" y="0"/>
                </a:lnTo>
                <a:lnTo>
                  <a:pt x="1687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07" name="Shape459561500934">
            <a:extLst>
              <a:ext uri="{FF2B5EF4-FFF2-40B4-BE49-F238E27FC236}">
                <a16:creationId xmlns:a16="http://schemas.microsoft.com/office/drawing/2014/main" id="{B2974B43-1871-2501-F869-032DD94B3023}"/>
              </a:ext>
            </a:extLst>
          </p:cNvPr>
          <p:cNvSpPr/>
          <p:nvPr/>
        </p:nvSpPr>
        <p:spPr>
          <a:xfrm>
            <a:off x="7230923" y="4503699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FFFFFF"/>
                </a:solidFill>
                <a:latin typeface="+mn-lt"/>
              </a:rPr>
              <a:t>Non-standardized data structure across routes</a:t>
            </a:r>
          </a:p>
        </p:txBody>
      </p:sp>
      <p:sp>
        <p:nvSpPr>
          <p:cNvPr id="108" name="Shape463856468230">
            <a:extLst>
              <a:ext uri="{FF2B5EF4-FFF2-40B4-BE49-F238E27FC236}">
                <a16:creationId xmlns:a16="http://schemas.microsoft.com/office/drawing/2014/main" id="{B2ABA256-488B-1CC8-FA10-F9BE44A388F5}"/>
              </a:ext>
            </a:extLst>
          </p:cNvPr>
          <p:cNvSpPr/>
          <p:nvPr/>
        </p:nvSpPr>
        <p:spPr>
          <a:xfrm>
            <a:off x="6710028" y="505761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9" name="Shape468151435526">
            <a:extLst>
              <a:ext uri="{FF2B5EF4-FFF2-40B4-BE49-F238E27FC236}">
                <a16:creationId xmlns:a16="http://schemas.microsoft.com/office/drawing/2014/main" id="{23E98738-1F3E-268F-69BB-D10CFC797A1B}"/>
              </a:ext>
            </a:extLst>
          </p:cNvPr>
          <p:cNvSpPr/>
          <p:nvPr/>
        </p:nvSpPr>
        <p:spPr>
          <a:xfrm>
            <a:off x="6796106" y="5096109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0" name="Shape472446402822">
            <a:extLst>
              <a:ext uri="{FF2B5EF4-FFF2-40B4-BE49-F238E27FC236}">
                <a16:creationId xmlns:a16="http://schemas.microsoft.com/office/drawing/2014/main" id="{D541D447-BAED-6FB6-F8D4-600D445BEBC6}"/>
              </a:ext>
            </a:extLst>
          </p:cNvPr>
          <p:cNvSpPr/>
          <p:nvPr/>
        </p:nvSpPr>
        <p:spPr>
          <a:xfrm>
            <a:off x="6749810" y="5138057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11" name="Shape476741370118">
            <a:extLst>
              <a:ext uri="{FF2B5EF4-FFF2-40B4-BE49-F238E27FC236}">
                <a16:creationId xmlns:a16="http://schemas.microsoft.com/office/drawing/2014/main" id="{9F7B1D3F-8A64-8098-75D3-CD2C16922A0E}"/>
              </a:ext>
            </a:extLst>
          </p:cNvPr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xmlns="" r:embed="rId18"/>
              </a:ext>
            </a:extLst>
          </a:blip>
          <a:stretch>
            <a:fillRect/>
          </a:stretch>
        </p:blipFill>
        <p:spPr>
          <a:xfrm>
            <a:off x="6789176" y="517880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12" name="Shape481036337414">
            <a:extLst>
              <a:ext uri="{FF2B5EF4-FFF2-40B4-BE49-F238E27FC236}">
                <a16:creationId xmlns:a16="http://schemas.microsoft.com/office/drawing/2014/main" id="{73EAC71D-8F81-7134-8E94-6143CF8AD47A}"/>
              </a:ext>
            </a:extLst>
          </p:cNvPr>
          <p:cNvSpPr/>
          <p:nvPr/>
        </p:nvSpPr>
        <p:spPr>
          <a:xfrm>
            <a:off x="7230926" y="5057618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Nature: Spatial-Temporal Data with Geographic Coordinates</a:t>
            </a:r>
          </a:p>
        </p:txBody>
      </p:sp>
      <p:sp>
        <p:nvSpPr>
          <p:cNvPr id="113" name="Shape485331304710">
            <a:extLst>
              <a:ext uri="{FF2B5EF4-FFF2-40B4-BE49-F238E27FC236}">
                <a16:creationId xmlns:a16="http://schemas.microsoft.com/office/drawing/2014/main" id="{AF3B81EF-A013-30AF-42B4-D40354BF4951}"/>
              </a:ext>
            </a:extLst>
          </p:cNvPr>
          <p:cNvSpPr/>
          <p:nvPr/>
        </p:nvSpPr>
        <p:spPr>
          <a:xfrm>
            <a:off x="737024" y="334765"/>
            <a:ext cx="5130479" cy="564507"/>
          </a:xfrm>
          <a:custGeom>
            <a:avLst/>
            <a:gdLst/>
            <a:ahLst/>
            <a:cxnLst/>
            <a:rect l="l" t="t" r="r" b="b"/>
            <a:pathLst>
              <a:path w="5130479" h="564506">
                <a:moveTo>
                  <a:pt x="0" y="0"/>
                </a:moveTo>
                <a:lnTo>
                  <a:pt x="5130479" y="0"/>
                </a:lnTo>
                <a:lnTo>
                  <a:pt x="5130479" y="564506"/>
                </a:lnTo>
                <a:lnTo>
                  <a:pt x="0" y="56450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DATASET OVERVIEW</a:t>
            </a:r>
          </a:p>
        </p:txBody>
      </p:sp>
      <p:sp>
        <p:nvSpPr>
          <p:cNvPr id="114" name="Shape489626272006">
            <a:extLst>
              <a:ext uri="{FF2B5EF4-FFF2-40B4-BE49-F238E27FC236}">
                <a16:creationId xmlns:a16="http://schemas.microsoft.com/office/drawing/2014/main" id="{BC5F9137-677A-180F-CFF4-7B6FEA7E32CF}"/>
              </a:ext>
            </a:extLst>
          </p:cNvPr>
          <p:cNvSpPr/>
          <p:nvPr/>
        </p:nvSpPr>
        <p:spPr>
          <a:xfrm>
            <a:off x="737024" y="1630362"/>
            <a:ext cx="5194581" cy="581468"/>
          </a:xfrm>
          <a:custGeom>
            <a:avLst/>
            <a:gdLst/>
            <a:ahLst/>
            <a:cxnLst/>
            <a:rect l="l" t="t" r="r" b="b"/>
            <a:pathLst>
              <a:path w="4781045" h="581467">
                <a:moveTo>
                  <a:pt x="0" y="0"/>
                </a:moveTo>
                <a:lnTo>
                  <a:pt x="4781045" y="0"/>
                </a:lnTo>
                <a:lnTo>
                  <a:pt x="4781045" y="581467"/>
                </a:lnTo>
                <a:lnTo>
                  <a:pt x="0" y="58146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dirty="0">
                <a:solidFill>
                  <a:srgbClr val="000000"/>
                </a:solidFill>
                <a:latin typeface="+mn-lt"/>
              </a:rPr>
              <a:t>Source: Bus route information</a:t>
            </a:r>
            <a:r>
              <a:rPr lang="en-US" sz="2100" dirty="0">
                <a:solidFill>
                  <a:srgbClr val="000000"/>
                </a:solidFill>
                <a:latin typeface="+mn-lt"/>
              </a:rPr>
              <a:t> f</a:t>
            </a:r>
            <a:r>
              <a:rPr sz="2100" dirty="0">
                <a:solidFill>
                  <a:srgbClr val="000000"/>
                </a:solidFill>
                <a:latin typeface="+mn-lt"/>
              </a:rPr>
              <a:t>or Kigali public transport</a:t>
            </a:r>
          </a:p>
        </p:txBody>
      </p:sp>
    </p:spTree>
    <p:extLst>
      <p:ext uri="{BB962C8B-B14F-4D97-AF65-F5344CB8AC3E}">
        <p14:creationId xmlns:p14="http://schemas.microsoft.com/office/powerpoint/2010/main" val="237687018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0372-AD33-13C2-EB70-E881453A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137438953737">
            <a:extLst>
              <a:ext uri="{FF2B5EF4-FFF2-40B4-BE49-F238E27FC236}">
                <a16:creationId xmlns:a16="http://schemas.microsoft.com/office/drawing/2014/main" id="{B1C89E07-AE43-D70A-506C-B0E5AED88343}"/>
              </a:ext>
            </a:extLst>
          </p:cNvPr>
          <p:cNvSpPr/>
          <p:nvPr/>
        </p:nvSpPr>
        <p:spPr>
          <a:xfrm rot="5400000">
            <a:off x="10198776" y="192837"/>
            <a:ext cx="961718" cy="1795244"/>
          </a:xfrm>
          <a:custGeom>
            <a:avLst/>
            <a:gdLst/>
            <a:ahLst/>
            <a:cxnLst/>
            <a:rect l="l" t="t" r="r" b="b"/>
            <a:pathLst>
              <a:path w="961718" h="1795243">
                <a:moveTo>
                  <a:pt x="0" y="308711"/>
                </a:moveTo>
                <a:arcTo wR="308711" hR="308711" stAng="10800000" swAng="5400000"/>
                <a:lnTo>
                  <a:pt x="653006" y="0"/>
                </a:lnTo>
                <a:arcTo wR="308711" hR="308711" stAng="16200000" swAng="5400000"/>
                <a:lnTo>
                  <a:pt x="961718" y="1486532"/>
                </a:lnTo>
                <a:arcTo wR="308711" hR="308711" stAng="0" swAng="5400000"/>
                <a:lnTo>
                  <a:pt x="308711" y="1795243"/>
                </a:lnTo>
                <a:arcTo wR="308711" hR="308711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21">
            <a:extLst>
              <a:ext uri="{FF2B5EF4-FFF2-40B4-BE49-F238E27FC236}">
                <a16:creationId xmlns:a16="http://schemas.microsoft.com/office/drawing/2014/main" id="{45A8C549-1D11-C371-AFC5-9434FD7048F4}"/>
              </a:ext>
            </a:extLst>
          </p:cNvPr>
          <p:cNvSpPr/>
          <p:nvPr/>
        </p:nvSpPr>
        <p:spPr>
          <a:xfrm>
            <a:off x="756054" y="3048000"/>
            <a:ext cx="5327754" cy="274320"/>
          </a:xfrm>
          <a:custGeom>
            <a:avLst/>
            <a:gdLst/>
            <a:ahLst/>
            <a:cxnLst/>
            <a:rect l="l" t="t" r="r" b="b"/>
            <a:pathLst>
              <a:path w="5327754" h="274320">
                <a:moveTo>
                  <a:pt x="0" y="0"/>
                </a:moveTo>
                <a:lnTo>
                  <a:pt x="5327754" y="0"/>
                </a:lnTo>
                <a:lnTo>
                  <a:pt x="5327754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Application to TransConnect:</a:t>
            </a:r>
          </a:p>
        </p:txBody>
      </p:sp>
      <p:sp>
        <p:nvSpPr>
          <p:cNvPr id="37" name="Shape158913790217">
            <a:extLst>
              <a:ext uri="{FF2B5EF4-FFF2-40B4-BE49-F238E27FC236}">
                <a16:creationId xmlns:a16="http://schemas.microsoft.com/office/drawing/2014/main" id="{E5D69182-8D75-6E3F-EB7E-B4E863545A36}"/>
              </a:ext>
            </a:extLst>
          </p:cNvPr>
          <p:cNvSpPr/>
          <p:nvPr/>
        </p:nvSpPr>
        <p:spPr>
          <a:xfrm rot="21056040">
            <a:off x="776223" y="34367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3">
            <a:extLst>
              <a:ext uri="{FF2B5EF4-FFF2-40B4-BE49-F238E27FC236}">
                <a16:creationId xmlns:a16="http://schemas.microsoft.com/office/drawing/2014/main" id="{CC43892A-5F83-CA97-3DF1-7059A84F1474}"/>
              </a:ext>
            </a:extLst>
          </p:cNvPr>
          <p:cNvSpPr/>
          <p:nvPr/>
        </p:nvSpPr>
        <p:spPr>
          <a:xfrm>
            <a:off x="783526" y="3449599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9" name="Shape167503724809">
            <a:extLst>
              <a:ext uri="{FF2B5EF4-FFF2-40B4-BE49-F238E27FC236}">
                <a16:creationId xmlns:a16="http://schemas.microsoft.com/office/drawing/2014/main" id="{A3EE9685-B4D8-7E80-25A9-0B609C847C3F}"/>
              </a:ext>
            </a:extLst>
          </p:cNvPr>
          <p:cNvSpPr/>
          <p:nvPr/>
        </p:nvSpPr>
        <p:spPr>
          <a:xfrm>
            <a:off x="985986" y="3345745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Identify missing values</a:t>
            </a:r>
          </a:p>
        </p:txBody>
      </p:sp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AE4EC018-A4EC-D23C-ECD2-5B691BD2C5C9}"/>
              </a:ext>
            </a:extLst>
          </p:cNvPr>
          <p:cNvSpPr/>
          <p:nvPr/>
        </p:nvSpPr>
        <p:spPr>
          <a:xfrm rot="21056040">
            <a:off x="776223" y="3802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1BBFB998-1C44-B85C-D845-B93ED972333E}"/>
              </a:ext>
            </a:extLst>
          </p:cNvPr>
          <p:cNvSpPr/>
          <p:nvPr/>
        </p:nvSpPr>
        <p:spPr>
          <a:xfrm>
            <a:off x="783526" y="381536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7">
            <a:extLst>
              <a:ext uri="{FF2B5EF4-FFF2-40B4-BE49-F238E27FC236}">
                <a16:creationId xmlns:a16="http://schemas.microsoft.com/office/drawing/2014/main" id="{227441CF-78E4-45EC-D5FA-8D97FAFBA1CD}"/>
              </a:ext>
            </a:extLst>
          </p:cNvPr>
          <p:cNvSpPr/>
          <p:nvPr/>
        </p:nvSpPr>
        <p:spPr>
          <a:xfrm>
            <a:off x="985986" y="3711506"/>
            <a:ext cx="5567214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 coordinate formats: Remove ‘E’</a:t>
            </a:r>
            <a:r>
              <a:rPr lang="en-US" dirty="0">
                <a:solidFill>
                  <a:srgbClr val="000000"/>
                </a:solidFill>
              </a:rPr>
              <a:t>, ‘S’</a:t>
            </a:r>
            <a:r>
              <a:rPr sz="1800" dirty="0">
                <a:solidFill>
                  <a:srgbClr val="000000"/>
                </a:solidFill>
                <a:latin typeface="+mn-lt"/>
              </a:rPr>
              <a:t> characters</a:t>
            </a:r>
          </a:p>
        </p:txBody>
      </p:sp>
      <p:sp>
        <p:nvSpPr>
          <p:cNvPr id="43" name="Shape184683593993">
            <a:extLst>
              <a:ext uri="{FF2B5EF4-FFF2-40B4-BE49-F238E27FC236}">
                <a16:creationId xmlns:a16="http://schemas.microsoft.com/office/drawing/2014/main" id="{D7D69219-4D82-1996-6D30-5E29EF9688F8}"/>
              </a:ext>
            </a:extLst>
          </p:cNvPr>
          <p:cNvSpPr/>
          <p:nvPr/>
        </p:nvSpPr>
        <p:spPr>
          <a:xfrm rot="21056040">
            <a:off x="776223" y="41682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9">
            <a:extLst>
              <a:ext uri="{FF2B5EF4-FFF2-40B4-BE49-F238E27FC236}">
                <a16:creationId xmlns:a16="http://schemas.microsoft.com/office/drawing/2014/main" id="{2C79662D-A958-6C24-F3B1-D8440E33B3E9}"/>
              </a:ext>
            </a:extLst>
          </p:cNvPr>
          <p:cNvSpPr/>
          <p:nvPr/>
        </p:nvSpPr>
        <p:spPr>
          <a:xfrm>
            <a:off x="783526" y="418112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5">
            <a:extLst>
              <a:ext uri="{FF2B5EF4-FFF2-40B4-BE49-F238E27FC236}">
                <a16:creationId xmlns:a16="http://schemas.microsoft.com/office/drawing/2014/main" id="{E533482A-AE23-2CED-A7B6-880B75795E8E}"/>
              </a:ext>
            </a:extLst>
          </p:cNvPr>
          <p:cNvSpPr/>
          <p:nvPr/>
        </p:nvSpPr>
        <p:spPr>
          <a:xfrm>
            <a:off x="985986" y="4077266"/>
            <a:ext cx="5097822" cy="548640"/>
          </a:xfrm>
          <a:custGeom>
            <a:avLst/>
            <a:gdLst/>
            <a:ahLst/>
            <a:cxnLst/>
            <a:rect l="l" t="t" r="r" b="b"/>
            <a:pathLst>
              <a:path w="5097822" h="548640">
                <a:moveTo>
                  <a:pt x="0" y="0"/>
                </a:moveTo>
                <a:lnTo>
                  <a:pt x="5097822" y="0"/>
                </a:lnTo>
                <a:lnTo>
                  <a:pt x="5097822" y="548640"/>
                </a:lnTo>
                <a:lnTo>
                  <a:pt x="0" y="5486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Convert to standard decimal degrees: -1.39282, 30.28382</a:t>
            </a:r>
          </a:p>
        </p:txBody>
      </p:sp>
      <p:sp>
        <p:nvSpPr>
          <p:cNvPr id="46" name="Shape197568495881">
            <a:extLst>
              <a:ext uri="{FF2B5EF4-FFF2-40B4-BE49-F238E27FC236}">
                <a16:creationId xmlns:a16="http://schemas.microsoft.com/office/drawing/2014/main" id="{82897420-EE11-660C-696F-28FCD24E4AC2}"/>
              </a:ext>
            </a:extLst>
          </p:cNvPr>
          <p:cNvSpPr/>
          <p:nvPr/>
        </p:nvSpPr>
        <p:spPr>
          <a:xfrm rot="21056040">
            <a:off x="776223" y="48083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AA156D95-A597-7E5C-9957-27F3C671F7B9}"/>
              </a:ext>
            </a:extLst>
          </p:cNvPr>
          <p:cNvSpPr/>
          <p:nvPr/>
        </p:nvSpPr>
        <p:spPr>
          <a:xfrm>
            <a:off x="783526" y="482120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>
            <a:extLst>
              <a:ext uri="{FF2B5EF4-FFF2-40B4-BE49-F238E27FC236}">
                <a16:creationId xmlns:a16="http://schemas.microsoft.com/office/drawing/2014/main" id="{61CD59F4-4291-71E1-2824-ADB549C8A45E}"/>
              </a:ext>
            </a:extLst>
          </p:cNvPr>
          <p:cNvSpPr/>
          <p:nvPr/>
        </p:nvSpPr>
        <p:spPr>
          <a:xfrm>
            <a:off x="985986" y="4717346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Handle missing stop names or coordinates</a:t>
            </a:r>
          </a:p>
        </p:txBody>
      </p:sp>
      <p:sp>
        <p:nvSpPr>
          <p:cNvPr id="49" name="Shape210453397769">
            <a:extLst>
              <a:ext uri="{FF2B5EF4-FFF2-40B4-BE49-F238E27FC236}">
                <a16:creationId xmlns:a16="http://schemas.microsoft.com/office/drawing/2014/main" id="{73F88440-ACBE-6048-95F7-2BA58F8C85E4}"/>
              </a:ext>
            </a:extLst>
          </p:cNvPr>
          <p:cNvSpPr/>
          <p:nvPr/>
        </p:nvSpPr>
        <p:spPr>
          <a:xfrm>
            <a:off x="623886" y="609600"/>
            <a:ext cx="5014913" cy="564507"/>
          </a:xfrm>
          <a:custGeom>
            <a:avLst/>
            <a:gdLst/>
            <a:ahLst/>
            <a:cxnLst/>
            <a:rect l="l" t="t" r="r" b="b"/>
            <a:pathLst>
              <a:path w="4602520" h="564506">
                <a:moveTo>
                  <a:pt x="0" y="0"/>
                </a:moveTo>
                <a:lnTo>
                  <a:pt x="4602520" y="0"/>
                </a:lnTo>
                <a:lnTo>
                  <a:pt x="4602520" y="564506"/>
                </a:lnTo>
                <a:lnTo>
                  <a:pt x="0" y="56450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1. DATA CLEANING</a:t>
            </a:r>
          </a:p>
        </p:txBody>
      </p:sp>
      <p:sp>
        <p:nvSpPr>
          <p:cNvPr id="50" name="Shape214748365065">
            <a:extLst>
              <a:ext uri="{FF2B5EF4-FFF2-40B4-BE49-F238E27FC236}">
                <a16:creationId xmlns:a16="http://schemas.microsoft.com/office/drawing/2014/main" id="{9C709E65-3C3F-985E-A3F7-646694EC0DBC}"/>
              </a:ext>
            </a:extLst>
          </p:cNvPr>
          <p:cNvSpPr/>
          <p:nvPr/>
        </p:nvSpPr>
        <p:spPr>
          <a:xfrm>
            <a:off x="627151" y="1711964"/>
            <a:ext cx="5122599" cy="581468"/>
          </a:xfrm>
          <a:custGeom>
            <a:avLst/>
            <a:gdLst/>
            <a:ahLst/>
            <a:cxnLst/>
            <a:rect l="l" t="t" r="r" b="b"/>
            <a:pathLst>
              <a:path w="5122599" h="581467">
                <a:moveTo>
                  <a:pt x="0" y="0"/>
                </a:moveTo>
                <a:lnTo>
                  <a:pt x="5122599" y="0"/>
                </a:lnTo>
                <a:lnTo>
                  <a:pt x="5122599" y="581467"/>
                </a:lnTo>
                <a:lnTo>
                  <a:pt x="0" y="58146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dirty="0">
                <a:solidFill>
                  <a:srgbClr val="000000"/>
                </a:solidFill>
                <a:latin typeface="+mn-lt"/>
              </a:rPr>
              <a:t>Purpose: Handle missing, incorrect, and inconsistent data</a:t>
            </a:r>
          </a:p>
        </p:txBody>
      </p:sp>
      <p:sp>
        <p:nvSpPr>
          <p:cNvPr id="2" name="Shape201863463177">
            <a:extLst>
              <a:ext uri="{FF2B5EF4-FFF2-40B4-BE49-F238E27FC236}">
                <a16:creationId xmlns:a16="http://schemas.microsoft.com/office/drawing/2014/main" id="{F44B9BD8-5BD0-8893-1E98-C41C5F1F2905}"/>
              </a:ext>
            </a:extLst>
          </p:cNvPr>
          <p:cNvSpPr/>
          <p:nvPr/>
        </p:nvSpPr>
        <p:spPr>
          <a:xfrm>
            <a:off x="765198" y="5137562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Shape206158430473">
            <a:extLst>
              <a:ext uri="{FF2B5EF4-FFF2-40B4-BE49-F238E27FC236}">
                <a16:creationId xmlns:a16="http://schemas.microsoft.com/office/drawing/2014/main" id="{EA21AC2F-61C2-645A-ACF1-DD16AEADC389}"/>
              </a:ext>
            </a:extLst>
          </p:cNvPr>
          <p:cNvSpPr/>
          <p:nvPr/>
        </p:nvSpPr>
        <p:spPr>
          <a:xfrm>
            <a:off x="967658" y="5033708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Handle duplicates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B85A86-8FAD-DFA0-E4BD-81F8A650F138}"/>
              </a:ext>
            </a:extLst>
          </p:cNvPr>
          <p:cNvSpPr/>
          <p:nvPr/>
        </p:nvSpPr>
        <p:spPr>
          <a:xfrm>
            <a:off x="6553200" y="1618548"/>
            <a:ext cx="5625427" cy="4917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route details CSV file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'Route Details - Kabuga - Nyabugogo.csv’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coordinate formats - convert S/E to negative/positive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missing values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.dropna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duplicates based on stop name and coordinates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.drop_duplicates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5827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6503-0E06-6291-C540-A285FFE1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55834575107">
            <a:extLst>
              <a:ext uri="{FF2B5EF4-FFF2-40B4-BE49-F238E27FC236}">
                <a16:creationId xmlns:a16="http://schemas.microsoft.com/office/drawing/2014/main" id="{8EE34E26-2773-DDF3-D456-D55F94D1AAE6}"/>
              </a:ext>
            </a:extLst>
          </p:cNvPr>
          <p:cNvSpPr/>
          <p:nvPr/>
        </p:nvSpPr>
        <p:spPr>
          <a:xfrm rot="20848072" flipV="1">
            <a:off x="-2100563" y="-337212"/>
            <a:ext cx="8046720" cy="7881012"/>
          </a:xfrm>
          <a:custGeom>
            <a:avLst/>
            <a:gdLst/>
            <a:ahLst/>
            <a:cxnLst/>
            <a:rect l="l" t="t" r="r" b="b"/>
            <a:pathLst>
              <a:path w="8046719" h="7881011">
                <a:moveTo>
                  <a:pt x="0" y="1402268"/>
                </a:moveTo>
                <a:arcTo wR="1402268" hR="1402268" stAng="10800000" swAng="5400000"/>
                <a:lnTo>
                  <a:pt x="6644451" y="0"/>
                </a:lnTo>
                <a:arcTo wR="1402268" hR="1402268" stAng="16200000" swAng="5400000"/>
                <a:lnTo>
                  <a:pt x="8046719" y="6478743"/>
                </a:lnTo>
                <a:arcTo wR="1402268" hR="1402268" stAng="0" swAng="5400000"/>
                <a:lnTo>
                  <a:pt x="1402268" y="7881012"/>
                </a:lnTo>
                <a:arcTo wR="1402268" hR="140226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Shape60129542403">
            <a:extLst>
              <a:ext uri="{FF2B5EF4-FFF2-40B4-BE49-F238E27FC236}">
                <a16:creationId xmlns:a16="http://schemas.microsoft.com/office/drawing/2014/main" id="{078343BF-F6B8-E27C-0F79-AD731002BEF7}"/>
              </a:ext>
            </a:extLst>
          </p:cNvPr>
          <p:cNvSpPr/>
          <p:nvPr/>
        </p:nvSpPr>
        <p:spPr>
          <a:xfrm>
            <a:off x="7075044" y="2606040"/>
            <a:ext cx="4752000" cy="822960"/>
          </a:xfrm>
          <a:custGeom>
            <a:avLst/>
            <a:gdLst/>
            <a:ahLst/>
            <a:cxnLst/>
            <a:rect l="l" t="t" r="r" b="b"/>
            <a:pathLst>
              <a:path w="4752000" h="822960">
                <a:moveTo>
                  <a:pt x="0" y="0"/>
                </a:moveTo>
                <a:lnTo>
                  <a:pt x="4752000" y="0"/>
                </a:lnTo>
                <a:lnTo>
                  <a:pt x="4752000" y="822960"/>
                </a:lnTo>
                <a:lnTo>
                  <a:pt x="0" y="8229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Efficient multi-route management</a:t>
            </a:r>
          </a:p>
        </p:txBody>
      </p:sp>
      <p:sp>
        <p:nvSpPr>
          <p:cNvPr id="16" name="Shape68719476995">
            <a:extLst>
              <a:ext uri="{FF2B5EF4-FFF2-40B4-BE49-F238E27FC236}">
                <a16:creationId xmlns:a16="http://schemas.microsoft.com/office/drawing/2014/main" id="{94B79775-21A9-914B-26AC-DF68BD43DA0B}"/>
              </a:ext>
            </a:extLst>
          </p:cNvPr>
          <p:cNvSpPr/>
          <p:nvPr/>
        </p:nvSpPr>
        <p:spPr>
          <a:xfrm>
            <a:off x="5791200" y="1247775"/>
            <a:ext cx="6544733" cy="1097280"/>
          </a:xfrm>
          <a:custGeom>
            <a:avLst/>
            <a:gdLst/>
            <a:ahLst/>
            <a:cxnLst/>
            <a:rect l="l" t="t" r="r" b="b"/>
            <a:pathLst>
              <a:path w="4752000" h="1097280">
                <a:moveTo>
                  <a:pt x="0" y="0"/>
                </a:moveTo>
                <a:lnTo>
                  <a:pt x="4752000" y="0"/>
                </a:lnTo>
                <a:lnTo>
                  <a:pt x="4752000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Data Integration: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Merge multiple route datasets into unified structure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Create stops table (unique stops with IDs)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Create routes table (route sequences referencing stops)</a:t>
            </a:r>
          </a:p>
        </p:txBody>
      </p:sp>
      <p:sp>
        <p:nvSpPr>
          <p:cNvPr id="17" name="Shape73014444291">
            <a:extLst>
              <a:ext uri="{FF2B5EF4-FFF2-40B4-BE49-F238E27FC236}">
                <a16:creationId xmlns:a16="http://schemas.microsoft.com/office/drawing/2014/main" id="{14236784-3DA0-6D4B-47A4-9C9932A408CF}"/>
              </a:ext>
            </a:extLst>
          </p:cNvPr>
          <p:cNvSpPr/>
          <p:nvPr/>
        </p:nvSpPr>
        <p:spPr>
          <a:xfrm>
            <a:off x="8467" y="762000"/>
            <a:ext cx="4873554" cy="914400"/>
          </a:xfrm>
          <a:custGeom>
            <a:avLst/>
            <a:gdLst/>
            <a:ahLst/>
            <a:cxnLst/>
            <a:rect l="l" t="t" r="r" b="b"/>
            <a:pathLst>
              <a:path w="4873554" h="1656197">
                <a:moveTo>
                  <a:pt x="0" y="0"/>
                </a:moveTo>
                <a:lnTo>
                  <a:pt x="4873554" y="0"/>
                </a:lnTo>
                <a:lnTo>
                  <a:pt x="4873554" y="1656197"/>
                </a:lnTo>
                <a:lnTo>
                  <a:pt x="0" y="165619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8EDFC"/>
                </a:solidFill>
                <a:latin typeface="+mn-lt"/>
              </a:rPr>
              <a:t>2. DATA INTEGRATION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33BD88-94E7-9344-F922-18BA480FD0D2}"/>
              </a:ext>
            </a:extLst>
          </p:cNvPr>
          <p:cNvSpPr/>
          <p:nvPr/>
        </p:nvSpPr>
        <p:spPr>
          <a:xfrm>
            <a:off x="578994" y="3017520"/>
            <a:ext cx="6496050" cy="349567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unique stop IDs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route information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'Kabuga_Nyabugogo_001'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route_name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 -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Nyabugogo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route-stop sequence mapping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route_stop_sequence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'Kabuga_Nyabugogo_001'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to_dict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'records'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0790415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6E40-BB25-91FC-87FD-2EF427BC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55834575107">
            <a:extLst>
              <a:ext uri="{FF2B5EF4-FFF2-40B4-BE49-F238E27FC236}">
                <a16:creationId xmlns:a16="http://schemas.microsoft.com/office/drawing/2014/main" id="{2D928FE8-D29D-3931-5998-3A878B82C6F5}"/>
              </a:ext>
            </a:extLst>
          </p:cNvPr>
          <p:cNvSpPr/>
          <p:nvPr/>
        </p:nvSpPr>
        <p:spPr>
          <a:xfrm rot="20848072" flipV="1">
            <a:off x="-2100563" y="-337212"/>
            <a:ext cx="8046720" cy="7881012"/>
          </a:xfrm>
          <a:custGeom>
            <a:avLst/>
            <a:gdLst/>
            <a:ahLst/>
            <a:cxnLst/>
            <a:rect l="l" t="t" r="r" b="b"/>
            <a:pathLst>
              <a:path w="8046719" h="7881011">
                <a:moveTo>
                  <a:pt x="0" y="1402268"/>
                </a:moveTo>
                <a:arcTo wR="1402268" hR="1402268" stAng="10800000" swAng="5400000"/>
                <a:lnTo>
                  <a:pt x="6644451" y="0"/>
                </a:lnTo>
                <a:arcTo wR="1402268" hR="1402268" stAng="16200000" swAng="5400000"/>
                <a:lnTo>
                  <a:pt x="8046719" y="6478743"/>
                </a:lnTo>
                <a:arcTo wR="1402268" hR="1402268" stAng="0" swAng="5400000"/>
                <a:lnTo>
                  <a:pt x="1402268" y="7881012"/>
                </a:lnTo>
                <a:arcTo wR="1402268" hR="140226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Shape60129542403">
            <a:extLst>
              <a:ext uri="{FF2B5EF4-FFF2-40B4-BE49-F238E27FC236}">
                <a16:creationId xmlns:a16="http://schemas.microsoft.com/office/drawing/2014/main" id="{3DFBE1A7-8A16-9888-B084-D5EF685C07A3}"/>
              </a:ext>
            </a:extLst>
          </p:cNvPr>
          <p:cNvSpPr/>
          <p:nvPr/>
        </p:nvSpPr>
        <p:spPr>
          <a:xfrm>
            <a:off x="7112882" y="4191000"/>
            <a:ext cx="4752000" cy="822960"/>
          </a:xfrm>
          <a:custGeom>
            <a:avLst/>
            <a:gdLst/>
            <a:ahLst/>
            <a:cxnLst/>
            <a:rect l="l" t="t" r="r" b="b"/>
            <a:pathLst>
              <a:path w="4752000" h="822960">
                <a:moveTo>
                  <a:pt x="0" y="0"/>
                </a:moveTo>
                <a:lnTo>
                  <a:pt x="4752000" y="0"/>
                </a:lnTo>
                <a:lnTo>
                  <a:pt x="4752000" y="822960"/>
                </a:lnTo>
                <a:lnTo>
                  <a:pt x="0" y="8229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Faster processing for route optimization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Foundation for transfer point identification</a:t>
            </a:r>
          </a:p>
        </p:txBody>
      </p:sp>
      <p:sp>
        <p:nvSpPr>
          <p:cNvPr id="15" name="Shape64424509699">
            <a:extLst>
              <a:ext uri="{FF2B5EF4-FFF2-40B4-BE49-F238E27FC236}">
                <a16:creationId xmlns:a16="http://schemas.microsoft.com/office/drawing/2014/main" id="{759BE559-A65F-C6DE-DE25-0FDE14F0B9AF}"/>
              </a:ext>
            </a:extLst>
          </p:cNvPr>
          <p:cNvSpPr/>
          <p:nvPr/>
        </p:nvSpPr>
        <p:spPr>
          <a:xfrm>
            <a:off x="5867400" y="1219200"/>
            <a:ext cx="5514000" cy="1632573"/>
          </a:xfrm>
          <a:custGeom>
            <a:avLst/>
            <a:gdLst/>
            <a:ahLst/>
            <a:cxnLst/>
            <a:rect l="l" t="t" r="r" b="b"/>
            <a:pathLst>
              <a:path w="4752000" h="1097280">
                <a:moveTo>
                  <a:pt x="0" y="0"/>
                </a:moveTo>
                <a:lnTo>
                  <a:pt x="4752000" y="0"/>
                </a:lnTo>
                <a:lnTo>
                  <a:pt x="4752000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Data Reduction: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Remove irrelevant columns: "Route Price"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Focus on core features: </a:t>
            </a:r>
            <a:r>
              <a:rPr sz="1800" dirty="0" err="1">
                <a:solidFill>
                  <a:srgbClr val="000000"/>
                </a:solidFill>
                <a:latin typeface="+mn-lt"/>
              </a:rPr>
              <a:t>stop_id</a:t>
            </a:r>
            <a:r>
              <a:rPr sz="1800" dirty="0">
                <a:solidFill>
                  <a:srgbClr val="000000"/>
                </a:solidFill>
                <a:latin typeface="+mn-lt"/>
              </a:rPr>
              <a:t>, latitude, longitude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Deduplicate identical stops across routes</a:t>
            </a:r>
          </a:p>
        </p:txBody>
      </p:sp>
      <p:sp>
        <p:nvSpPr>
          <p:cNvPr id="17" name="Shape73014444291">
            <a:extLst>
              <a:ext uri="{FF2B5EF4-FFF2-40B4-BE49-F238E27FC236}">
                <a16:creationId xmlns:a16="http://schemas.microsoft.com/office/drawing/2014/main" id="{23B318E8-96F1-0DDA-EEDA-4F3160AD104F}"/>
              </a:ext>
            </a:extLst>
          </p:cNvPr>
          <p:cNvSpPr/>
          <p:nvPr/>
        </p:nvSpPr>
        <p:spPr>
          <a:xfrm>
            <a:off x="8467" y="762000"/>
            <a:ext cx="4873554" cy="1656198"/>
          </a:xfrm>
          <a:custGeom>
            <a:avLst/>
            <a:gdLst/>
            <a:ahLst/>
            <a:cxnLst/>
            <a:rect l="l" t="t" r="r" b="b"/>
            <a:pathLst>
              <a:path w="4873554" h="1656197">
                <a:moveTo>
                  <a:pt x="0" y="0"/>
                </a:moveTo>
                <a:lnTo>
                  <a:pt x="4873554" y="0"/>
                </a:lnTo>
                <a:lnTo>
                  <a:pt x="4873554" y="1656197"/>
                </a:lnTo>
                <a:lnTo>
                  <a:pt x="0" y="165619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8EDFC"/>
                </a:solidFill>
                <a:latin typeface="+mn-lt"/>
              </a:rPr>
              <a:t>3</a:t>
            </a:r>
            <a:r>
              <a:rPr sz="4000" b="1" dirty="0">
                <a:solidFill>
                  <a:srgbClr val="E8EDFC"/>
                </a:solidFill>
                <a:latin typeface="+mn-lt"/>
              </a:rPr>
              <a:t>. DATA REDUCTION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08440B2-B911-C750-F1ED-9C371522FB4E}"/>
              </a:ext>
            </a:extLst>
          </p:cNvPr>
          <p:cNvSpPr/>
          <p:nvPr/>
        </p:nvSpPr>
        <p:spPr>
          <a:xfrm>
            <a:off x="-304800" y="3078480"/>
            <a:ext cx="7162800" cy="30480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Select key features for modeling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route_name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df_integrated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].copy()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Rename columns for consistency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stop_name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irrelevant columns that were in raw data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columns_removed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df_integrated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03224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B2FF-4EF8-A062-AC04-BC699FCF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2">
            <a:extLst>
              <a:ext uri="{FF2B5EF4-FFF2-40B4-BE49-F238E27FC236}">
                <a16:creationId xmlns:a16="http://schemas.microsoft.com/office/drawing/2014/main" id="{2773BE98-92C1-4718-FADE-24D9CE4BBB9E}"/>
              </a:ext>
            </a:extLst>
          </p:cNvPr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>
            <a:extLst>
              <a:ext uri="{FF2B5EF4-FFF2-40B4-BE49-F238E27FC236}">
                <a16:creationId xmlns:a16="http://schemas.microsoft.com/office/drawing/2014/main" id="{9AB1395D-D937-3704-11A9-7558944E60F4}"/>
              </a:ext>
            </a:extLst>
          </p:cNvPr>
          <p:cNvSpPr/>
          <p:nvPr/>
        </p:nvSpPr>
        <p:spPr>
          <a:xfrm rot="19730944" flipH="1">
            <a:off x="7609579" y="3191725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4">
            <a:extLst>
              <a:ext uri="{FF2B5EF4-FFF2-40B4-BE49-F238E27FC236}">
                <a16:creationId xmlns:a16="http://schemas.microsoft.com/office/drawing/2014/main" id="{73ED0240-11B6-EBE9-7319-D14D35C8FCA5}"/>
              </a:ext>
            </a:extLst>
          </p:cNvPr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C2068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>
            <a:extLst>
              <a:ext uri="{FF2B5EF4-FFF2-40B4-BE49-F238E27FC236}">
                <a16:creationId xmlns:a16="http://schemas.microsoft.com/office/drawing/2014/main" id="{25D24CA3-9AB2-FE67-8471-B488853D4625}"/>
              </a:ext>
            </a:extLst>
          </p:cNvPr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050E2E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2">
            <a:extLst>
              <a:ext uri="{FF2B5EF4-FFF2-40B4-BE49-F238E27FC236}">
                <a16:creationId xmlns:a16="http://schemas.microsoft.com/office/drawing/2014/main" id="{79408591-B4A4-F553-2C82-03AF7A6CBC8A}"/>
              </a:ext>
            </a:extLst>
          </p:cNvPr>
          <p:cNvSpPr/>
          <p:nvPr/>
        </p:nvSpPr>
        <p:spPr>
          <a:xfrm>
            <a:off x="515938" y="2003613"/>
            <a:ext cx="5123392" cy="548640"/>
          </a:xfrm>
          <a:custGeom>
            <a:avLst/>
            <a:gdLst/>
            <a:ahLst/>
            <a:cxnLst/>
            <a:rect l="l" t="t" r="r" b="b"/>
            <a:pathLst>
              <a:path w="5123392" h="548640">
                <a:moveTo>
                  <a:pt x="0" y="0"/>
                </a:moveTo>
                <a:lnTo>
                  <a:pt x="5123392" y="0"/>
                </a:lnTo>
                <a:lnTo>
                  <a:pt x="5123392" y="548639"/>
                </a:lnTo>
                <a:lnTo>
                  <a:pt x="0" y="54863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>
                <a:solidFill>
                  <a:srgbClr val="000000"/>
                </a:solidFill>
                <a:latin typeface="+mn-lt"/>
              </a:rPr>
              <a:t>Purpose: Convert data into model-ready format</a:t>
            </a:r>
          </a:p>
        </p:txBody>
      </p:sp>
      <p:sp>
        <p:nvSpPr>
          <p:cNvPr id="46" name="Shape197568495878">
            <a:extLst>
              <a:ext uri="{FF2B5EF4-FFF2-40B4-BE49-F238E27FC236}">
                <a16:creationId xmlns:a16="http://schemas.microsoft.com/office/drawing/2014/main" id="{8585FADC-3C2D-B41B-F89B-B7B8E6F11191}"/>
              </a:ext>
            </a:extLst>
          </p:cNvPr>
          <p:cNvSpPr/>
          <p:nvPr/>
        </p:nvSpPr>
        <p:spPr>
          <a:xfrm>
            <a:off x="515938" y="273513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>
            <a:extLst>
              <a:ext uri="{FF2B5EF4-FFF2-40B4-BE49-F238E27FC236}">
                <a16:creationId xmlns:a16="http://schemas.microsoft.com/office/drawing/2014/main" id="{C1B09A14-9FB8-3B6A-7034-AAF228A2D7C5}"/>
              </a:ext>
            </a:extLst>
          </p:cNvPr>
          <p:cNvSpPr/>
          <p:nvPr/>
        </p:nvSpPr>
        <p:spPr>
          <a:xfrm>
            <a:off x="602014" y="277362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0">
            <a:extLst>
              <a:ext uri="{FF2B5EF4-FFF2-40B4-BE49-F238E27FC236}">
                <a16:creationId xmlns:a16="http://schemas.microsoft.com/office/drawing/2014/main" id="{918A5F21-7FE2-86FE-4F28-8110F3FA85B9}"/>
              </a:ext>
            </a:extLst>
          </p:cNvPr>
          <p:cNvSpPr/>
          <p:nvPr/>
        </p:nvSpPr>
        <p:spPr>
          <a:xfrm>
            <a:off x="555719" y="281557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49" name="Shape210453397766">
            <a:extLst>
              <a:ext uri="{FF2B5EF4-FFF2-40B4-BE49-F238E27FC236}">
                <a16:creationId xmlns:a16="http://schemas.microsoft.com/office/drawing/2014/main" id="{D707A2DD-D354-4CB0-4EFB-084AADE195D8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95086" y="2856316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0" name="Shape214748365062">
            <a:extLst>
              <a:ext uri="{FF2B5EF4-FFF2-40B4-BE49-F238E27FC236}">
                <a16:creationId xmlns:a16="http://schemas.microsoft.com/office/drawing/2014/main" id="{764A7605-565D-B71E-0F11-094C44266BF9}"/>
              </a:ext>
            </a:extLst>
          </p:cNvPr>
          <p:cNvSpPr/>
          <p:nvPr/>
        </p:nvSpPr>
        <p:spPr>
          <a:xfrm>
            <a:off x="1036838" y="2735132"/>
            <a:ext cx="4602492" cy="2065468"/>
          </a:xfrm>
          <a:custGeom>
            <a:avLst/>
            <a:gdLst/>
            <a:ahLst/>
            <a:cxnLst/>
            <a:rect l="l" t="t" r="r" b="b"/>
            <a:pathLst>
              <a:path w="4602492" h="1097280">
                <a:moveTo>
                  <a:pt x="0" y="0"/>
                </a:moveTo>
                <a:lnTo>
                  <a:pt x="4602492" y="0"/>
                </a:lnTo>
                <a:lnTo>
                  <a:pt x="4602492" y="1097280"/>
                </a:lnTo>
                <a:lnTo>
                  <a:pt x="0" y="10972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Key Transformations for </a:t>
            </a:r>
            <a:r>
              <a:rPr sz="1800" dirty="0" err="1">
                <a:solidFill>
                  <a:srgbClr val="000000"/>
                </a:solidFill>
                <a:latin typeface="+mn-lt"/>
              </a:rPr>
              <a:t>TransConnect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Coordinate validation and normalization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Feature engineering using Haversine formula: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Distance between consecutive stops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Estimated travel time between stops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Create sequential ordering of stops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defRPr>
                <a:latin typeface="+mn-lt"/>
              </a:defRPr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defRPr>
                <a:latin typeface="+mn-lt"/>
              </a:defRPr>
            </a:pPr>
            <a:endParaRPr sz="1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1" name="Shape219043332358">
            <a:extLst>
              <a:ext uri="{FF2B5EF4-FFF2-40B4-BE49-F238E27FC236}">
                <a16:creationId xmlns:a16="http://schemas.microsoft.com/office/drawing/2014/main" id="{876FB7DF-9E85-76E7-0437-60ADBA74B7EC}"/>
              </a:ext>
            </a:extLst>
          </p:cNvPr>
          <p:cNvSpPr/>
          <p:nvPr/>
        </p:nvSpPr>
        <p:spPr>
          <a:xfrm>
            <a:off x="515938" y="40152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38">
            <a:extLst>
              <a:ext uri="{FF2B5EF4-FFF2-40B4-BE49-F238E27FC236}">
                <a16:creationId xmlns:a16="http://schemas.microsoft.com/office/drawing/2014/main" id="{C4B32A6F-6A51-7869-5C58-D938ED996756}"/>
              </a:ext>
            </a:extLst>
          </p:cNvPr>
          <p:cNvSpPr/>
          <p:nvPr/>
        </p:nvSpPr>
        <p:spPr>
          <a:xfrm>
            <a:off x="515938" y="463017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18">
            <a:extLst>
              <a:ext uri="{FF2B5EF4-FFF2-40B4-BE49-F238E27FC236}">
                <a16:creationId xmlns:a16="http://schemas.microsoft.com/office/drawing/2014/main" id="{FF5689C6-9147-BF01-F2B6-AF74DF71A41E}"/>
              </a:ext>
            </a:extLst>
          </p:cNvPr>
          <p:cNvSpPr/>
          <p:nvPr/>
        </p:nvSpPr>
        <p:spPr>
          <a:xfrm>
            <a:off x="555719" y="4863449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2" name="Shape266287972614">
            <a:extLst>
              <a:ext uri="{FF2B5EF4-FFF2-40B4-BE49-F238E27FC236}">
                <a16:creationId xmlns:a16="http://schemas.microsoft.com/office/drawing/2014/main" id="{5206D8D2-E55A-C154-5384-992839E1F473}"/>
              </a:ext>
            </a:extLst>
          </p:cNvPr>
          <p:cNvSpPr/>
          <p:nvPr/>
        </p:nvSpPr>
        <p:spPr>
          <a:xfrm>
            <a:off x="648309" y="484207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0">
            <a:extLst>
              <a:ext uri="{FF2B5EF4-FFF2-40B4-BE49-F238E27FC236}">
                <a16:creationId xmlns:a16="http://schemas.microsoft.com/office/drawing/2014/main" id="{0BE18EA2-F598-F40D-6773-BF7607A52D19}"/>
              </a:ext>
            </a:extLst>
          </p:cNvPr>
          <p:cNvSpPr/>
          <p:nvPr/>
        </p:nvSpPr>
        <p:spPr>
          <a:xfrm>
            <a:off x="602014" y="488402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4" name="Shape274877907206">
            <a:extLst>
              <a:ext uri="{FF2B5EF4-FFF2-40B4-BE49-F238E27FC236}">
                <a16:creationId xmlns:a16="http://schemas.microsoft.com/office/drawing/2014/main" id="{4546758A-0FB1-7C4D-7E6A-F2D263DA6D52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929" y="4964682"/>
            <a:ext cx="231580" cy="204104"/>
          </a:xfrm>
          <a:custGeom>
            <a:avLst/>
            <a:gdLst/>
            <a:ahLst/>
            <a:cxnLst/>
            <a:rect l="l" t="t" r="r" b="b"/>
            <a:pathLst>
              <a:path w="231580" h="204103">
                <a:moveTo>
                  <a:pt x="0" y="0"/>
                </a:moveTo>
                <a:lnTo>
                  <a:pt x="231580" y="0"/>
                </a:lnTo>
                <a:lnTo>
                  <a:pt x="231580" y="204104"/>
                </a:lnTo>
                <a:lnTo>
                  <a:pt x="0" y="204104"/>
                </a:lnTo>
                <a:close/>
              </a:path>
            </a:pathLst>
          </a:custGeom>
        </p:spPr>
      </p:pic>
      <p:sp>
        <p:nvSpPr>
          <p:cNvPr id="65" name="Shape279172874502">
            <a:extLst>
              <a:ext uri="{FF2B5EF4-FFF2-40B4-BE49-F238E27FC236}">
                <a16:creationId xmlns:a16="http://schemas.microsoft.com/office/drawing/2014/main" id="{DB8DD98F-815D-3651-E38B-CDA62C30A262}"/>
              </a:ext>
            </a:extLst>
          </p:cNvPr>
          <p:cNvSpPr/>
          <p:nvPr/>
        </p:nvSpPr>
        <p:spPr>
          <a:xfrm>
            <a:off x="1036838" y="4863449"/>
            <a:ext cx="4068562" cy="548640"/>
          </a:xfrm>
          <a:custGeom>
            <a:avLst/>
            <a:gdLst/>
            <a:ahLst/>
            <a:cxnLst/>
            <a:rect l="l" t="t" r="r" b="b"/>
            <a:pathLst>
              <a:path w="4602492" h="548640">
                <a:moveTo>
                  <a:pt x="0" y="0"/>
                </a:moveTo>
                <a:lnTo>
                  <a:pt x="4602492" y="0"/>
                </a:lnTo>
                <a:lnTo>
                  <a:pt x="4602492" y="548640"/>
                </a:lnTo>
                <a:lnTo>
                  <a:pt x="0" y="5486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Raw coordinates actionable features for AI model</a:t>
            </a:r>
          </a:p>
        </p:txBody>
      </p:sp>
      <p:sp>
        <p:nvSpPr>
          <p:cNvPr id="66" name="Shape283467841798">
            <a:extLst>
              <a:ext uri="{FF2B5EF4-FFF2-40B4-BE49-F238E27FC236}">
                <a16:creationId xmlns:a16="http://schemas.microsoft.com/office/drawing/2014/main" id="{B2104AFE-BA4E-FC78-FE2F-FBF9517D4095}"/>
              </a:ext>
            </a:extLst>
          </p:cNvPr>
          <p:cNvSpPr/>
          <p:nvPr/>
        </p:nvSpPr>
        <p:spPr>
          <a:xfrm>
            <a:off x="515938" y="603004"/>
            <a:ext cx="5110726" cy="1107558"/>
          </a:xfrm>
          <a:custGeom>
            <a:avLst/>
            <a:gdLst/>
            <a:ahLst/>
            <a:cxnLst/>
            <a:rect l="l" t="t" r="r" b="b"/>
            <a:pathLst>
              <a:path w="5110726" h="1107557">
                <a:moveTo>
                  <a:pt x="0" y="0"/>
                </a:moveTo>
                <a:lnTo>
                  <a:pt x="5110726" y="0"/>
                </a:lnTo>
                <a:lnTo>
                  <a:pt x="5110726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50E2E"/>
                </a:solidFill>
              </a:rPr>
              <a:t>4</a:t>
            </a:r>
            <a:r>
              <a:rPr sz="4000" b="1" dirty="0">
                <a:solidFill>
                  <a:srgbClr val="050E2E"/>
                </a:solidFill>
                <a:latin typeface="+mn-lt"/>
              </a:rPr>
              <a:t>. DATA TRANSFORMATION</a:t>
            </a: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8E167CC3-7F87-C5F5-A3D8-2D52863B20DA}"/>
              </a:ext>
            </a:extLst>
          </p:cNvPr>
          <p:cNvSpPr/>
          <p:nvPr/>
        </p:nvSpPr>
        <p:spPr>
          <a:xfrm>
            <a:off x="5486400" y="457200"/>
            <a:ext cx="5365021" cy="2630696"/>
          </a:xfrm>
          <a:prstGeom prst="snip2Diag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6371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Earth radius in km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degrees to radians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radians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dlat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Haversine formula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dlat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atan2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9F5C6BDB-A793-F3D9-31E0-F9EA1B4EFA0D}"/>
              </a:ext>
            </a:extLst>
          </p:cNvPr>
          <p:cNvSpPr/>
          <p:nvPr/>
        </p:nvSpPr>
        <p:spPr>
          <a:xfrm>
            <a:off x="4983333" y="4622152"/>
            <a:ext cx="5029811" cy="22098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distance to next stop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current_idx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distance_to_next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Estimate travel time (assuming average speed 25 km/h in urban areas)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travel_time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to minutes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current_idx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estimated_travel_time_min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travel_time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83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5791-774A-87BE-BD88-5DBD322D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516E31A5-0C2D-F037-8B82-E1B7C6DC455E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FDB99398-C82F-820E-7608-2836C17C5722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C96CF577-2420-E07C-BBFB-6E9F27DDD304}"/>
              </a:ext>
            </a:extLst>
          </p:cNvPr>
          <p:cNvSpPr/>
          <p:nvPr/>
        </p:nvSpPr>
        <p:spPr>
          <a:xfrm>
            <a:off x="6911384" y="5833361"/>
            <a:ext cx="4668442" cy="640080"/>
          </a:xfrm>
          <a:custGeom>
            <a:avLst/>
            <a:gdLst/>
            <a:ahLst/>
            <a:cxnLst/>
            <a:rect l="l" t="t" r="r" b="b"/>
            <a:pathLst>
              <a:path w="2063663" h="640080">
                <a:moveTo>
                  <a:pt x="0" y="0"/>
                </a:moveTo>
                <a:lnTo>
                  <a:pt x="2063663" y="0"/>
                </a:lnTo>
                <a:lnTo>
                  <a:pt x="2063663" y="640079"/>
                </a:lnTo>
                <a:lnTo>
                  <a:pt x="0" y="6400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2100" b="1" dirty="0">
                <a:solidFill>
                  <a:srgbClr val="FFFFFF"/>
                </a:solidFill>
                <a:latin typeface="+mn-lt"/>
              </a:rPr>
              <a:t>Impact: </a:t>
            </a:r>
            <a:r>
              <a:rPr lang="en-US" sz="1400" dirty="0"/>
              <a:t>Helps analyze congestion patterns or route efficiency per time segment.</a:t>
            </a:r>
          </a:p>
        </p:txBody>
      </p:sp>
      <p:sp>
        <p:nvSpPr>
          <p:cNvPr id="48" name="Shape206158430473">
            <a:extLst>
              <a:ext uri="{FF2B5EF4-FFF2-40B4-BE49-F238E27FC236}">
                <a16:creationId xmlns:a16="http://schemas.microsoft.com/office/drawing/2014/main" id="{3A7FDDFB-8A1F-9D30-AE62-890864C14730}"/>
              </a:ext>
            </a:extLst>
          </p:cNvPr>
          <p:cNvSpPr/>
          <p:nvPr/>
        </p:nvSpPr>
        <p:spPr>
          <a:xfrm>
            <a:off x="6837758" y="620268"/>
            <a:ext cx="4668442" cy="827532"/>
          </a:xfrm>
          <a:custGeom>
            <a:avLst/>
            <a:gdLst/>
            <a:ahLst/>
            <a:cxnLst/>
            <a:rect l="l" t="t" r="r" b="b"/>
            <a:pathLst>
              <a:path w="2293595" h="853440">
                <a:moveTo>
                  <a:pt x="0" y="0"/>
                </a:moveTo>
                <a:lnTo>
                  <a:pt x="2293595" y="0"/>
                </a:lnTo>
                <a:lnTo>
                  <a:pt x="2293595" y="853440"/>
                </a:lnTo>
                <a:lnTo>
                  <a:pt x="0" y="8534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Data Discretization: </a:t>
            </a:r>
            <a:endParaRPr lang="en-US" sz="2100" b="1" dirty="0">
              <a:solidFill>
                <a:srgbClr val="FFFFFF"/>
              </a:solidFill>
              <a:latin typeface="+mn-lt"/>
            </a:endParaRPr>
          </a:p>
          <a:p>
            <a:r>
              <a:rPr lang="en-US" sz="1400" b="1" dirty="0"/>
              <a:t>Purpose:</a:t>
            </a:r>
            <a:r>
              <a:rPr lang="en-US" sz="1400" dirty="0"/>
              <a:t> Convert continuous data into categories for simpler analysis.</a:t>
            </a:r>
          </a:p>
        </p:txBody>
      </p:sp>
      <p:sp>
        <p:nvSpPr>
          <p:cNvPr id="49" name="Shape210453397769">
            <a:extLst>
              <a:ext uri="{FF2B5EF4-FFF2-40B4-BE49-F238E27FC236}">
                <a16:creationId xmlns:a16="http://schemas.microsoft.com/office/drawing/2014/main" id="{229B98B8-A28C-F9F2-D84A-E31379B4B042}"/>
              </a:ext>
            </a:extLst>
          </p:cNvPr>
          <p:cNvSpPr/>
          <p:nvPr/>
        </p:nvSpPr>
        <p:spPr>
          <a:xfrm rot="21056040">
            <a:off x="6730197" y="395391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>
            <a:extLst>
              <a:ext uri="{FF2B5EF4-FFF2-40B4-BE49-F238E27FC236}">
                <a16:creationId xmlns:a16="http://schemas.microsoft.com/office/drawing/2014/main" id="{B91CAFB1-610B-EDA8-71A6-21CE6D5E0C3F}"/>
              </a:ext>
            </a:extLst>
          </p:cNvPr>
          <p:cNvSpPr/>
          <p:nvPr/>
        </p:nvSpPr>
        <p:spPr>
          <a:xfrm>
            <a:off x="6737502" y="396679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41F99D10-C0BB-4F37-37F5-74E71633380B}"/>
              </a:ext>
            </a:extLst>
          </p:cNvPr>
          <p:cNvSpPr/>
          <p:nvPr/>
        </p:nvSpPr>
        <p:spPr>
          <a:xfrm>
            <a:off x="6939959" y="389372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1: "Start" (0–2 km)</a:t>
            </a:r>
          </a:p>
        </p:txBody>
      </p:sp>
      <p:sp>
        <p:nvSpPr>
          <p:cNvPr id="52" name="Shape223338299657">
            <a:extLst>
              <a:ext uri="{FF2B5EF4-FFF2-40B4-BE49-F238E27FC236}">
                <a16:creationId xmlns:a16="http://schemas.microsoft.com/office/drawing/2014/main" id="{51065222-E2E8-FC6D-16BE-5ACD50918AC5}"/>
              </a:ext>
            </a:extLst>
          </p:cNvPr>
          <p:cNvSpPr/>
          <p:nvPr/>
        </p:nvSpPr>
        <p:spPr>
          <a:xfrm rot="21056040">
            <a:off x="6730197" y="4238395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>
            <a:extLst>
              <a:ext uri="{FF2B5EF4-FFF2-40B4-BE49-F238E27FC236}">
                <a16:creationId xmlns:a16="http://schemas.microsoft.com/office/drawing/2014/main" id="{0CD19764-03ED-9999-0D8C-1D9B6960F671}"/>
              </a:ext>
            </a:extLst>
          </p:cNvPr>
          <p:cNvSpPr/>
          <p:nvPr/>
        </p:nvSpPr>
        <p:spPr>
          <a:xfrm>
            <a:off x="6737502" y="425127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Shape231928234249">
            <a:extLst>
              <a:ext uri="{FF2B5EF4-FFF2-40B4-BE49-F238E27FC236}">
                <a16:creationId xmlns:a16="http://schemas.microsoft.com/office/drawing/2014/main" id="{7AF6BAD8-51BF-BA93-A5D5-7FC079823FE5}"/>
              </a:ext>
            </a:extLst>
          </p:cNvPr>
          <p:cNvSpPr/>
          <p:nvPr/>
        </p:nvSpPr>
        <p:spPr>
          <a:xfrm>
            <a:off x="6939959" y="4178207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2: "Early" (2–5 km)</a:t>
            </a:r>
          </a:p>
        </p:txBody>
      </p:sp>
      <p:sp>
        <p:nvSpPr>
          <p:cNvPr id="55" name="Shape236223201545">
            <a:extLst>
              <a:ext uri="{FF2B5EF4-FFF2-40B4-BE49-F238E27FC236}">
                <a16:creationId xmlns:a16="http://schemas.microsoft.com/office/drawing/2014/main" id="{E5BE7D1C-9212-1AF3-4C8E-CAF7B116ABDA}"/>
              </a:ext>
            </a:extLst>
          </p:cNvPr>
          <p:cNvSpPr/>
          <p:nvPr/>
        </p:nvSpPr>
        <p:spPr>
          <a:xfrm rot="21056040">
            <a:off x="6730197" y="45228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41">
            <a:extLst>
              <a:ext uri="{FF2B5EF4-FFF2-40B4-BE49-F238E27FC236}">
                <a16:creationId xmlns:a16="http://schemas.microsoft.com/office/drawing/2014/main" id="{587342BD-5015-E704-8ACB-9802C85F237E}"/>
              </a:ext>
            </a:extLst>
          </p:cNvPr>
          <p:cNvSpPr/>
          <p:nvPr/>
        </p:nvSpPr>
        <p:spPr>
          <a:xfrm>
            <a:off x="6737502" y="453575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D0677CB1-92D0-A8B7-47C7-5FBD3FF7093D}"/>
              </a:ext>
            </a:extLst>
          </p:cNvPr>
          <p:cNvSpPr/>
          <p:nvPr/>
        </p:nvSpPr>
        <p:spPr>
          <a:xfrm>
            <a:off x="6939959" y="446268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3: "Mid" (5–10 km)</a:t>
            </a:r>
          </a:p>
        </p:txBody>
      </p:sp>
      <p:sp>
        <p:nvSpPr>
          <p:cNvPr id="58" name="Shape249108103433">
            <a:extLst>
              <a:ext uri="{FF2B5EF4-FFF2-40B4-BE49-F238E27FC236}">
                <a16:creationId xmlns:a16="http://schemas.microsoft.com/office/drawing/2014/main" id="{547E51B3-0DD5-6126-7FC3-182866535C4B}"/>
              </a:ext>
            </a:extLst>
          </p:cNvPr>
          <p:cNvSpPr/>
          <p:nvPr/>
        </p:nvSpPr>
        <p:spPr>
          <a:xfrm rot="21056040">
            <a:off x="6730197" y="482513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0" name="Shape257698038025">
            <a:extLst>
              <a:ext uri="{FF2B5EF4-FFF2-40B4-BE49-F238E27FC236}">
                <a16:creationId xmlns:a16="http://schemas.microsoft.com/office/drawing/2014/main" id="{18985CEA-1F03-FCF1-3089-340DA848D9B7}"/>
              </a:ext>
            </a:extLst>
          </p:cNvPr>
          <p:cNvSpPr/>
          <p:nvPr/>
        </p:nvSpPr>
        <p:spPr>
          <a:xfrm>
            <a:off x="6939959" y="476494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853440">
                <a:moveTo>
                  <a:pt x="0" y="0"/>
                </a:moveTo>
                <a:lnTo>
                  <a:pt x="2063663" y="0"/>
                </a:lnTo>
                <a:lnTo>
                  <a:pt x="2063663" y="853440"/>
                </a:lnTo>
                <a:lnTo>
                  <a:pt x="0" y="8534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4: "Late" (10+ km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333A4CD3-E23A-F743-56EE-61B0A31039B6}"/>
              </a:ext>
            </a:extLst>
          </p:cNvPr>
          <p:cNvSpPr/>
          <p:nvPr/>
        </p:nvSpPr>
        <p:spPr>
          <a:xfrm>
            <a:off x="685800" y="381000"/>
            <a:ext cx="4781045" cy="533400"/>
          </a:xfrm>
          <a:custGeom>
            <a:avLst/>
            <a:gdLst/>
            <a:ahLst/>
            <a:cxnLst/>
            <a:rect l="l" t="t" r="r" b="b"/>
            <a:pathLst>
              <a:path w="4781045" h="1324958">
                <a:moveTo>
                  <a:pt x="0" y="0"/>
                </a:moveTo>
                <a:lnTo>
                  <a:pt x="4781045" y="0"/>
                </a:lnTo>
                <a:lnTo>
                  <a:pt x="4781045" y="1324958"/>
                </a:lnTo>
                <a:lnTo>
                  <a:pt x="0" y="132495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200" b="1" dirty="0">
                <a:solidFill>
                  <a:srgbClr val="050E2E"/>
                </a:solidFill>
              </a:rPr>
              <a:t>5</a:t>
            </a:r>
            <a:r>
              <a:rPr sz="3200" b="1" dirty="0">
                <a:solidFill>
                  <a:srgbClr val="050E2E"/>
                </a:solidFill>
                <a:latin typeface="+mn-lt"/>
              </a:rPr>
              <a:t>. DATA DISCRETIZATION</a:t>
            </a:r>
          </a:p>
        </p:txBody>
      </p:sp>
      <p:sp>
        <p:nvSpPr>
          <p:cNvPr id="3" name="Shape253403070729">
            <a:extLst>
              <a:ext uri="{FF2B5EF4-FFF2-40B4-BE49-F238E27FC236}">
                <a16:creationId xmlns:a16="http://schemas.microsoft.com/office/drawing/2014/main" id="{83401E75-43CB-55B8-C792-4718657EB09B}"/>
              </a:ext>
            </a:extLst>
          </p:cNvPr>
          <p:cNvSpPr/>
          <p:nvPr/>
        </p:nvSpPr>
        <p:spPr>
          <a:xfrm>
            <a:off x="6737502" y="483801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EA60D-F441-3869-85A8-7D7F7B9D7C38}"/>
              </a:ext>
            </a:extLst>
          </p:cNvPr>
          <p:cNvSpPr txBox="1"/>
          <p:nvPr/>
        </p:nvSpPr>
        <p:spPr>
          <a:xfrm>
            <a:off x="10263090" y="3791402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Enables traffic pattern analysis by route segment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BBBAF-CE68-4F7A-FC08-1526D9EEC572}"/>
              </a:ext>
            </a:extLst>
          </p:cNvPr>
          <p:cNvSpPr txBox="1"/>
          <p:nvPr/>
        </p:nvSpPr>
        <p:spPr>
          <a:xfrm>
            <a:off x="6773660" y="2670237"/>
            <a:ext cx="2763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Convert continuous "</a:t>
            </a:r>
            <a:r>
              <a:rPr lang="en-US" dirty="0" err="1">
                <a:solidFill>
                  <a:schemeClr val="bg1"/>
                </a:solidFill>
              </a:rPr>
              <a:t>distance_from_start</a:t>
            </a:r>
            <a:r>
              <a:rPr lang="en-US" dirty="0">
                <a:solidFill>
                  <a:schemeClr val="bg1"/>
                </a:solidFill>
              </a:rPr>
              <a:t>" into categories: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34F35108-7880-40AE-EF46-954E014BBFC0}"/>
              </a:ext>
            </a:extLst>
          </p:cNvPr>
          <p:cNvSpPr/>
          <p:nvPr/>
        </p:nvSpPr>
        <p:spPr>
          <a:xfrm>
            <a:off x="599823" y="1353002"/>
            <a:ext cx="5181600" cy="24384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Discretize cumulative distance into route segments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cumulative_distance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'Early'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'Mid'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'Late'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route_segment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cumulative_distance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include_lowest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9D4662A1-16F2-2D24-64FB-DD0AD48A2DB5}"/>
              </a:ext>
            </a:extLst>
          </p:cNvPr>
          <p:cNvSpPr/>
          <p:nvPr/>
        </p:nvSpPr>
        <p:spPr>
          <a:xfrm>
            <a:off x="589741" y="3883021"/>
            <a:ext cx="5205911" cy="2166985"/>
          </a:xfrm>
          <a:prstGeom prst="round2SameRect">
            <a:avLst>
              <a:gd name="adj1" fmla="val 0"/>
              <a:gd name="adj2" fmla="val 17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Discretize travel time estimates - handle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values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'inf'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'Very Short'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'Short'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'Medium'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travel_time_category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estimated_travel_time_min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time_labels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9765249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E2FE5-D4F5-4478-1959-5963634F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07F2047E-D70C-9A46-2482-314D9C5F1A14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653274FB-63A3-E0E1-1DE8-96493C3AACAC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9">
            <a:extLst>
              <a:ext uri="{FF2B5EF4-FFF2-40B4-BE49-F238E27FC236}">
                <a16:creationId xmlns:a16="http://schemas.microsoft.com/office/drawing/2014/main" id="{DED5506E-1677-2075-29E6-A79F604B97B4}"/>
              </a:ext>
            </a:extLst>
          </p:cNvPr>
          <p:cNvSpPr/>
          <p:nvPr/>
        </p:nvSpPr>
        <p:spPr>
          <a:xfrm>
            <a:off x="7162800" y="1132932"/>
            <a:ext cx="5638800" cy="1762668"/>
          </a:xfrm>
          <a:custGeom>
            <a:avLst/>
            <a:gdLst/>
            <a:ahLst/>
            <a:cxnLst/>
            <a:rect l="l" t="t" r="r" b="b"/>
            <a:pathLst>
              <a:path w="2063663" h="1920239">
                <a:moveTo>
                  <a:pt x="0" y="0"/>
                </a:moveTo>
                <a:lnTo>
                  <a:pt x="2063663" y="0"/>
                </a:lnTo>
                <a:lnTo>
                  <a:pt x="2063663" y="1920240"/>
                </a:lnTo>
                <a:lnTo>
                  <a:pt x="0" y="19202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400" b="1" dirty="0">
                <a:solidFill>
                  <a:srgbClr val="FFFFFF"/>
                </a:solidFill>
                <a:latin typeface="+mn-lt"/>
              </a:rPr>
              <a:t>Data Augmentation:</a:t>
            </a:r>
            <a:r>
              <a:rPr lang="en-US" sz="2400" b="1" dirty="0">
                <a:solidFill>
                  <a:srgbClr val="FFFFFF"/>
                </a:solidFill>
                <a:latin typeface="+mn-lt"/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Generate synthetic trips with varying travel times 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Simulate different conditions: rush hour, weather, events 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Add temporal features: </a:t>
            </a:r>
            <a:r>
              <a:rPr sz="1600" dirty="0" err="1">
                <a:solidFill>
                  <a:srgbClr val="FFFFFF"/>
                </a:solidFill>
                <a:latin typeface="+mn-lt"/>
              </a:rPr>
              <a:t>time_of_day</a:t>
            </a:r>
            <a:r>
              <a:rPr sz="1600" dirty="0">
                <a:solidFill>
                  <a:srgbClr val="FFFFFF"/>
                </a:solidFill>
                <a:latin typeface="+mn-lt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+mn-lt"/>
              </a:rPr>
              <a:t>day_of_week</a:t>
            </a:r>
            <a:endParaRPr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07B4BFE2-5A2A-3EA7-7EE0-FE7EE1B0E0DF}"/>
              </a:ext>
            </a:extLst>
          </p:cNvPr>
          <p:cNvSpPr/>
          <p:nvPr/>
        </p:nvSpPr>
        <p:spPr>
          <a:xfrm>
            <a:off x="7239000" y="3973853"/>
            <a:ext cx="4724400" cy="640080"/>
          </a:xfrm>
          <a:custGeom>
            <a:avLst/>
            <a:gdLst/>
            <a:ahLst/>
            <a:cxnLst/>
            <a:rect l="l" t="t" r="r" b="b"/>
            <a:pathLst>
              <a:path w="2063663" h="640080">
                <a:moveTo>
                  <a:pt x="0" y="0"/>
                </a:moveTo>
                <a:lnTo>
                  <a:pt x="2063663" y="0"/>
                </a:lnTo>
                <a:lnTo>
                  <a:pt x="2063663" y="640079"/>
                </a:lnTo>
                <a:lnTo>
                  <a:pt x="0" y="6400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b="1" dirty="0"/>
              <a:t>Impact:</a:t>
            </a:r>
          </a:p>
          <a:p>
            <a:r>
              <a:rPr lang="en-US" dirty="0"/>
              <a:t>More robust and reliable system, even under uncertain or missing data conditions.</a:t>
            </a:r>
            <a:endParaRPr lang="en-US" b="1" dirty="0"/>
          </a:p>
        </p:txBody>
      </p:sp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6AC56D6C-9691-3A71-B1B1-93F95F89ECE6}"/>
              </a:ext>
            </a:extLst>
          </p:cNvPr>
          <p:cNvSpPr/>
          <p:nvPr/>
        </p:nvSpPr>
        <p:spPr>
          <a:xfrm>
            <a:off x="6939959" y="389372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877D0889-62C1-20C6-9AFC-42936587C17A}"/>
              </a:ext>
            </a:extLst>
          </p:cNvPr>
          <p:cNvSpPr/>
          <p:nvPr/>
        </p:nvSpPr>
        <p:spPr>
          <a:xfrm>
            <a:off x="6939959" y="446268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BDBD78AF-C56C-377D-B930-1C91C6879DDF}"/>
              </a:ext>
            </a:extLst>
          </p:cNvPr>
          <p:cNvSpPr/>
          <p:nvPr/>
        </p:nvSpPr>
        <p:spPr>
          <a:xfrm>
            <a:off x="685800" y="381000"/>
            <a:ext cx="4781045" cy="1324958"/>
          </a:xfrm>
          <a:custGeom>
            <a:avLst/>
            <a:gdLst/>
            <a:ahLst/>
            <a:cxnLst/>
            <a:rect l="l" t="t" r="r" b="b"/>
            <a:pathLst>
              <a:path w="4781045" h="1324958">
                <a:moveTo>
                  <a:pt x="0" y="0"/>
                </a:moveTo>
                <a:lnTo>
                  <a:pt x="4781045" y="0"/>
                </a:lnTo>
                <a:lnTo>
                  <a:pt x="4781045" y="1324958"/>
                </a:lnTo>
                <a:lnTo>
                  <a:pt x="0" y="132495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200" b="1" dirty="0">
                <a:solidFill>
                  <a:srgbClr val="050E2E"/>
                </a:solidFill>
                <a:latin typeface="+mn-lt"/>
              </a:rPr>
              <a:t>6</a:t>
            </a:r>
            <a:r>
              <a:rPr sz="3200" b="1" dirty="0">
                <a:solidFill>
                  <a:srgbClr val="050E2E"/>
                </a:solidFill>
                <a:latin typeface="+mn-lt"/>
              </a:rPr>
              <a:t>. DATA AUGMENTATION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3F963-30AB-E06A-EC7F-7662B9152F89}"/>
              </a:ext>
            </a:extLst>
          </p:cNvPr>
          <p:cNvSpPr txBox="1"/>
          <p:nvPr/>
        </p:nvSpPr>
        <p:spPr>
          <a:xfrm>
            <a:off x="7111670" y="2775002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Purpose:</a:t>
            </a:r>
            <a:r>
              <a:rPr lang="en-US" dirty="0">
                <a:solidFill>
                  <a:schemeClr val="bg1"/>
                </a:solidFill>
              </a:rPr>
              <a:t> Enrich the dataset with synthetic variations to improve prediction accuracy.</a:t>
            </a: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7864AC45-3878-B648-834C-832D38BD4FFD}"/>
              </a:ext>
            </a:extLst>
          </p:cNvPr>
          <p:cNvSpPr/>
          <p:nvPr/>
        </p:nvSpPr>
        <p:spPr>
          <a:xfrm flipH="1">
            <a:off x="228597" y="1883409"/>
            <a:ext cx="3751583" cy="2307591"/>
          </a:xfrm>
          <a:prstGeom prst="accentBorderCallout1">
            <a:avLst>
              <a:gd name="adj1" fmla="val 18750"/>
              <a:gd name="adj2" fmla="val -8333"/>
              <a:gd name="adj3" fmla="val -7033"/>
              <a:gd name="adj4" fmla="val -55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condition column to original data first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'condition'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'normal'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augmented_data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Start with original data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Shape176093659398">
            <a:extLst>
              <a:ext uri="{FF2B5EF4-FFF2-40B4-BE49-F238E27FC236}">
                <a16:creationId xmlns:a16="http://schemas.microsoft.com/office/drawing/2014/main" id="{2C78A27D-045A-E625-5B06-9724305D819A}"/>
              </a:ext>
            </a:extLst>
          </p:cNvPr>
          <p:cNvSpPr/>
          <p:nvPr/>
        </p:nvSpPr>
        <p:spPr>
          <a:xfrm rot="19730944" flipH="1">
            <a:off x="3662152" y="4629303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28519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E85D-74AD-3943-8DD7-E4E49C39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BE842-E2A7-80A5-17DD-D28B0CEB5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7" y="1376562"/>
            <a:ext cx="7261251" cy="4407113"/>
          </a:xfrm>
          <a:prstGeom prst="rect">
            <a:avLst/>
          </a:prstGeom>
        </p:spPr>
      </p:pic>
      <p:sp>
        <p:nvSpPr>
          <p:cNvPr id="30" name="Shape128849019139">
            <a:extLst>
              <a:ext uri="{FF2B5EF4-FFF2-40B4-BE49-F238E27FC236}">
                <a16:creationId xmlns:a16="http://schemas.microsoft.com/office/drawing/2014/main" id="{7AA2A0FD-EFB5-63D1-D6D1-89C79ACB7FE3}"/>
              </a:ext>
            </a:extLst>
          </p:cNvPr>
          <p:cNvSpPr/>
          <p:nvPr/>
        </p:nvSpPr>
        <p:spPr>
          <a:xfrm rot="20510412">
            <a:off x="1151325" y="6040462"/>
            <a:ext cx="1581406" cy="1546956"/>
          </a:xfrm>
          <a:custGeom>
            <a:avLst/>
            <a:gdLst/>
            <a:ahLst/>
            <a:cxnLst/>
            <a:rect l="l" t="t" r="r" b="b"/>
            <a:pathLst>
              <a:path w="1581406" h="1546956">
                <a:moveTo>
                  <a:pt x="0" y="319477"/>
                </a:moveTo>
                <a:arcTo wR="319477" hR="319477" stAng="10800000" swAng="5400000"/>
                <a:lnTo>
                  <a:pt x="1261928" y="0"/>
                </a:lnTo>
                <a:arcTo wR="319477" hR="319477" stAng="16200000" swAng="5400000"/>
                <a:lnTo>
                  <a:pt x="1581405" y="1227479"/>
                </a:lnTo>
                <a:arcTo wR="319477" hR="319477" stAng="0" swAng="5400000"/>
                <a:lnTo>
                  <a:pt x="319477" y="1546955"/>
                </a:lnTo>
                <a:arcTo wR="319477" hR="31947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1" name="Shape133143986435">
            <a:extLst>
              <a:ext uri="{FF2B5EF4-FFF2-40B4-BE49-F238E27FC236}">
                <a16:creationId xmlns:a16="http://schemas.microsoft.com/office/drawing/2014/main" id="{D8B25561-9A8E-7912-44B4-CF581E8D963A}"/>
              </a:ext>
            </a:extLst>
          </p:cNvPr>
          <p:cNvSpPr/>
          <p:nvPr/>
        </p:nvSpPr>
        <p:spPr>
          <a:xfrm>
            <a:off x="6710028" y="94456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1">
            <a:extLst>
              <a:ext uri="{FF2B5EF4-FFF2-40B4-BE49-F238E27FC236}">
                <a16:creationId xmlns:a16="http://schemas.microsoft.com/office/drawing/2014/main" id="{A101AEDB-5D9F-3D4A-AE34-053F2A759A29}"/>
              </a:ext>
            </a:extLst>
          </p:cNvPr>
          <p:cNvSpPr/>
          <p:nvPr/>
        </p:nvSpPr>
        <p:spPr>
          <a:xfrm>
            <a:off x="6796104" y="98305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27">
            <a:extLst>
              <a:ext uri="{FF2B5EF4-FFF2-40B4-BE49-F238E27FC236}">
                <a16:creationId xmlns:a16="http://schemas.microsoft.com/office/drawing/2014/main" id="{2D9360BC-05D7-E033-1C42-AFEDC503B715}"/>
              </a:ext>
            </a:extLst>
          </p:cNvPr>
          <p:cNvSpPr/>
          <p:nvPr/>
        </p:nvSpPr>
        <p:spPr>
          <a:xfrm>
            <a:off x="6749810" y="102500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4" name="Shape146028888323">
            <a:extLst>
              <a:ext uri="{FF2B5EF4-FFF2-40B4-BE49-F238E27FC236}">
                <a16:creationId xmlns:a16="http://schemas.microsoft.com/office/drawing/2014/main" id="{1A7BCB82-0E66-452E-EA6C-01FA9C59A1F3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6793101" y="1065745"/>
            <a:ext cx="223731" cy="231581"/>
          </a:xfrm>
          <a:custGeom>
            <a:avLst/>
            <a:gdLst/>
            <a:ahLst/>
            <a:cxnLst/>
            <a:rect l="l" t="t" r="r" b="b"/>
            <a:pathLst>
              <a:path w="223730" h="231581">
                <a:moveTo>
                  <a:pt x="0" y="0"/>
                </a:moveTo>
                <a:lnTo>
                  <a:pt x="223730" y="0"/>
                </a:lnTo>
                <a:lnTo>
                  <a:pt x="223730" y="231581"/>
                </a:lnTo>
                <a:lnTo>
                  <a:pt x="0" y="231581"/>
                </a:lnTo>
                <a:close/>
              </a:path>
            </a:pathLst>
          </a:custGeom>
        </p:spPr>
      </p:pic>
      <p:sp>
        <p:nvSpPr>
          <p:cNvPr id="35" name="Shape150323855619">
            <a:extLst>
              <a:ext uri="{FF2B5EF4-FFF2-40B4-BE49-F238E27FC236}">
                <a16:creationId xmlns:a16="http://schemas.microsoft.com/office/drawing/2014/main" id="{FEBF4E91-83E8-7E36-B561-3FCC6490E089}"/>
              </a:ext>
            </a:extLst>
          </p:cNvPr>
          <p:cNvSpPr/>
          <p:nvPr/>
        </p:nvSpPr>
        <p:spPr>
          <a:xfrm>
            <a:off x="7230923" y="944562"/>
            <a:ext cx="4230406" cy="1097280"/>
          </a:xfrm>
          <a:custGeom>
            <a:avLst/>
            <a:gdLst/>
            <a:ahLst/>
            <a:cxnLst/>
            <a:rect l="l" t="t" r="r" b="b"/>
            <a:pathLst>
              <a:path w="4230406" h="1097280">
                <a:moveTo>
                  <a:pt x="0" y="0"/>
                </a:moveTo>
                <a:lnTo>
                  <a:pt x="4230406" y="0"/>
                </a:lnTo>
                <a:lnTo>
                  <a:pt x="4230406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Before Preprocessing: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Messy, overlapping points on map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Inconsistent stop representations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Unreliable spatial relationships</a:t>
            </a:r>
          </a:p>
        </p:txBody>
      </p:sp>
      <p:sp>
        <p:nvSpPr>
          <p:cNvPr id="36" name="Shape154618822915">
            <a:extLst>
              <a:ext uri="{FF2B5EF4-FFF2-40B4-BE49-F238E27FC236}">
                <a16:creationId xmlns:a16="http://schemas.microsoft.com/office/drawing/2014/main" id="{E8082D9B-1F7C-C31A-99E3-0602B3546792}"/>
              </a:ext>
            </a:extLst>
          </p:cNvPr>
          <p:cNvSpPr/>
          <p:nvPr/>
        </p:nvSpPr>
        <p:spPr>
          <a:xfrm>
            <a:off x="6710028" y="227044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1">
            <a:extLst>
              <a:ext uri="{FF2B5EF4-FFF2-40B4-BE49-F238E27FC236}">
                <a16:creationId xmlns:a16="http://schemas.microsoft.com/office/drawing/2014/main" id="{85ADAB1E-F7F7-0416-D766-9A6D0380E9C5}"/>
              </a:ext>
            </a:extLst>
          </p:cNvPr>
          <p:cNvSpPr/>
          <p:nvPr/>
        </p:nvSpPr>
        <p:spPr>
          <a:xfrm>
            <a:off x="6796104" y="230893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07">
            <a:extLst>
              <a:ext uri="{FF2B5EF4-FFF2-40B4-BE49-F238E27FC236}">
                <a16:creationId xmlns:a16="http://schemas.microsoft.com/office/drawing/2014/main" id="{607735BE-E82C-C3E4-0588-567061B3F25F}"/>
              </a:ext>
            </a:extLst>
          </p:cNvPr>
          <p:cNvSpPr/>
          <p:nvPr/>
        </p:nvSpPr>
        <p:spPr>
          <a:xfrm>
            <a:off x="6749810" y="235088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9" name="Shape167503724803">
            <a:extLst>
              <a:ext uri="{FF2B5EF4-FFF2-40B4-BE49-F238E27FC236}">
                <a16:creationId xmlns:a16="http://schemas.microsoft.com/office/drawing/2014/main" id="{72D314C0-AA4C-1FA4-2769-50B21450D753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6789176" y="2391626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0" name="Shape171798692099">
            <a:extLst>
              <a:ext uri="{FF2B5EF4-FFF2-40B4-BE49-F238E27FC236}">
                <a16:creationId xmlns:a16="http://schemas.microsoft.com/office/drawing/2014/main" id="{E2085499-F676-0337-5250-AE45B7254133}"/>
              </a:ext>
            </a:extLst>
          </p:cNvPr>
          <p:cNvSpPr/>
          <p:nvPr/>
        </p:nvSpPr>
        <p:spPr>
          <a:xfrm>
            <a:off x="7230923" y="2270442"/>
            <a:ext cx="4230406" cy="1097280"/>
          </a:xfrm>
          <a:custGeom>
            <a:avLst/>
            <a:gdLst/>
            <a:ahLst/>
            <a:cxnLst/>
            <a:rect l="l" t="t" r="r" b="b"/>
            <a:pathLst>
              <a:path w="4230406" h="1097280">
                <a:moveTo>
                  <a:pt x="0" y="0"/>
                </a:moveTo>
                <a:lnTo>
                  <a:pt x="4230406" y="0"/>
                </a:lnTo>
                <a:lnTo>
                  <a:pt x="4230406" y="1097280"/>
                </a:lnTo>
                <a:lnTo>
                  <a:pt x="0" y="10972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After Preprocessing: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Clean, sequential route visualization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Accurate stop positioning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Calculated distances and travel times</a:t>
            </a:r>
          </a:p>
        </p:txBody>
      </p:sp>
      <p:sp>
        <p:nvSpPr>
          <p:cNvPr id="41" name="Shape176093659395">
            <a:extLst>
              <a:ext uri="{FF2B5EF4-FFF2-40B4-BE49-F238E27FC236}">
                <a16:creationId xmlns:a16="http://schemas.microsoft.com/office/drawing/2014/main" id="{894AB4D4-079F-4F3A-8E9F-A87AC855599B}"/>
              </a:ext>
            </a:extLst>
          </p:cNvPr>
          <p:cNvSpPr/>
          <p:nvPr/>
        </p:nvSpPr>
        <p:spPr>
          <a:xfrm>
            <a:off x="6710028" y="359632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1">
            <a:extLst>
              <a:ext uri="{FF2B5EF4-FFF2-40B4-BE49-F238E27FC236}">
                <a16:creationId xmlns:a16="http://schemas.microsoft.com/office/drawing/2014/main" id="{45360D88-3F16-6D70-B273-64CF750825DD}"/>
              </a:ext>
            </a:extLst>
          </p:cNvPr>
          <p:cNvSpPr/>
          <p:nvPr/>
        </p:nvSpPr>
        <p:spPr>
          <a:xfrm>
            <a:off x="6796105" y="363481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87">
            <a:extLst>
              <a:ext uri="{FF2B5EF4-FFF2-40B4-BE49-F238E27FC236}">
                <a16:creationId xmlns:a16="http://schemas.microsoft.com/office/drawing/2014/main" id="{F94B2EDF-09AC-C9E8-67F2-D4DB3BB567B5}"/>
              </a:ext>
            </a:extLst>
          </p:cNvPr>
          <p:cNvSpPr/>
          <p:nvPr/>
        </p:nvSpPr>
        <p:spPr>
          <a:xfrm>
            <a:off x="6749810" y="367676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44" name="Shape188978561283">
            <a:extLst>
              <a:ext uri="{FF2B5EF4-FFF2-40B4-BE49-F238E27FC236}">
                <a16:creationId xmlns:a16="http://schemas.microsoft.com/office/drawing/2014/main" id="{F6E85EA1-DEF0-40FD-5963-E8C147A2F69C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6791138" y="3717506"/>
            <a:ext cx="227656" cy="231581"/>
          </a:xfrm>
          <a:custGeom>
            <a:avLst/>
            <a:gdLst/>
            <a:ahLst/>
            <a:cxnLst/>
            <a:rect l="l" t="t" r="r" b="b"/>
            <a:pathLst>
              <a:path w="227655" h="231581">
                <a:moveTo>
                  <a:pt x="0" y="0"/>
                </a:moveTo>
                <a:lnTo>
                  <a:pt x="227655" y="0"/>
                </a:lnTo>
                <a:lnTo>
                  <a:pt x="2276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5" name="Shape193273528579">
            <a:extLst>
              <a:ext uri="{FF2B5EF4-FFF2-40B4-BE49-F238E27FC236}">
                <a16:creationId xmlns:a16="http://schemas.microsoft.com/office/drawing/2014/main" id="{9DC6CB1C-B7F8-6BFA-DCBA-41A26776C929}"/>
              </a:ext>
            </a:extLst>
          </p:cNvPr>
          <p:cNvSpPr/>
          <p:nvPr/>
        </p:nvSpPr>
        <p:spPr>
          <a:xfrm>
            <a:off x="7230926" y="3596322"/>
            <a:ext cx="4580074" cy="2652077"/>
          </a:xfrm>
          <a:custGeom>
            <a:avLst/>
            <a:gdLst/>
            <a:ahLst/>
            <a:cxnLst/>
            <a:rect l="l" t="t" r="r" b="b"/>
            <a:pathLst>
              <a:path w="4230406" h="1920239">
                <a:moveTo>
                  <a:pt x="0" y="0"/>
                </a:moveTo>
                <a:lnTo>
                  <a:pt x="4230406" y="0"/>
                </a:lnTo>
                <a:lnTo>
                  <a:pt x="4230406" y="1920240"/>
                </a:lnTo>
                <a:lnTo>
                  <a:pt x="0" y="19202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 on Model Readiness: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 spatial data for route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sz="1800" dirty="0">
                <a:solidFill>
                  <a:srgbClr val="000000"/>
                </a:solidFill>
                <a:latin typeface="+mn-lt"/>
              </a:rPr>
              <a:t>optimization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Engineered features for arrival prediction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Structured data for CI algorithms (Genetic Algorithms, ML)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Foundation for real-time intelligence system</a:t>
            </a:r>
          </a:p>
        </p:txBody>
      </p:sp>
      <p:sp>
        <p:nvSpPr>
          <p:cNvPr id="46" name="Shape197568495875">
            <a:extLst>
              <a:ext uri="{FF2B5EF4-FFF2-40B4-BE49-F238E27FC236}">
                <a16:creationId xmlns:a16="http://schemas.microsoft.com/office/drawing/2014/main" id="{54F66655-5956-5488-187D-976E8D5EA7E5}"/>
              </a:ext>
            </a:extLst>
          </p:cNvPr>
          <p:cNvSpPr/>
          <p:nvPr/>
        </p:nvSpPr>
        <p:spPr>
          <a:xfrm>
            <a:off x="766762" y="511966"/>
            <a:ext cx="6029342" cy="826106"/>
          </a:xfrm>
          <a:custGeom>
            <a:avLst/>
            <a:gdLst/>
            <a:ahLst/>
            <a:cxnLst/>
            <a:rect l="l" t="t" r="r" b="b"/>
            <a:pathLst>
              <a:path w="4781045" h="1107557">
                <a:moveTo>
                  <a:pt x="0" y="0"/>
                </a:moveTo>
                <a:lnTo>
                  <a:pt x="4781045" y="0"/>
                </a:lnTo>
                <a:lnTo>
                  <a:pt x="4781045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5. VISUALIZATION &amp; IMPACT</a:t>
            </a:r>
          </a:p>
        </p:txBody>
      </p:sp>
      <p:sp>
        <p:nvSpPr>
          <p:cNvPr id="29" name="Shape124554051843">
            <a:extLst>
              <a:ext uri="{FF2B5EF4-FFF2-40B4-BE49-F238E27FC236}">
                <a16:creationId xmlns:a16="http://schemas.microsoft.com/office/drawing/2014/main" id="{2F3DE1C1-64ED-81B1-5C58-E8D029DB4AEE}"/>
              </a:ext>
            </a:extLst>
          </p:cNvPr>
          <p:cNvSpPr/>
          <p:nvPr/>
        </p:nvSpPr>
        <p:spPr>
          <a:xfrm rot="20510412">
            <a:off x="-2452818" y="4588346"/>
            <a:ext cx="2855415" cy="2793210"/>
          </a:xfrm>
          <a:custGeom>
            <a:avLst/>
            <a:gdLst/>
            <a:ahLst/>
            <a:cxnLst/>
            <a:rect l="l" t="t" r="r" b="b"/>
            <a:pathLst>
              <a:path w="2855415" h="2793210">
                <a:moveTo>
                  <a:pt x="0" y="400015"/>
                </a:moveTo>
                <a:arcTo wR="400015" hR="400015" stAng="10800000" swAng="5400000"/>
                <a:lnTo>
                  <a:pt x="2455399" y="0"/>
                </a:lnTo>
                <a:arcTo wR="400015" hR="400015" stAng="16200000" swAng="5400000"/>
                <a:lnTo>
                  <a:pt x="2855415" y="2393194"/>
                </a:lnTo>
                <a:arcTo wR="400015" hR="400015" stAng="0" swAng="5400000"/>
                <a:lnTo>
                  <a:pt x="400015" y="2793209"/>
                </a:lnTo>
                <a:arcTo wR="400015" hR="400015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96036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945" y="-130634"/>
            <a:ext cx="10758889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002060"/>
                </a:solidFill>
                <a:ea typeface="Verdana" panose="020B0604030504040204" pitchFamily="34" charset="0"/>
              </a:rPr>
              <a:t>BEFORE – DATA PREPROCESSING</a:t>
            </a:r>
            <a:endParaRPr lang="en-US" sz="4800" b="1" dirty="0">
              <a:solidFill>
                <a:srgbClr val="002060"/>
              </a:solidFill>
              <a:ea typeface="Verdan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631" y="1079653"/>
            <a:ext cx="7644739" cy="5427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70216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3884" y="2710150"/>
            <a:ext cx="10515600" cy="1114195"/>
          </a:xfrm>
        </p:spPr>
        <p:txBody>
          <a:bodyPr>
            <a:noAutofit/>
          </a:bodyPr>
          <a:lstStyle/>
          <a:p>
            <a:r>
              <a:rPr lang="en-US" sz="7200" b="1" dirty="0" smtClean="0">
                <a:solidFill>
                  <a:srgbClr val="002060"/>
                </a:solidFill>
                <a:ea typeface="Verdana" panose="020B0604030504040204" pitchFamily="34" charset="0"/>
              </a:rPr>
              <a:t>DATA PREPOCESSING STEPS</a:t>
            </a:r>
            <a:endParaRPr lang="en-US" sz="7200" b="1" dirty="0">
              <a:solidFill>
                <a:srgbClr val="002060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630548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027" y="231098"/>
            <a:ext cx="3545034" cy="284837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584" y="231098"/>
            <a:ext cx="3692645" cy="28483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752" y="231098"/>
            <a:ext cx="3646583" cy="284837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026" y="3419669"/>
            <a:ext cx="5078373" cy="283791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8823" y="3419669"/>
            <a:ext cx="2895350" cy="28379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5381" y="3419669"/>
            <a:ext cx="2894701" cy="283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44297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53884" y="2710150"/>
            <a:ext cx="10515600" cy="1114195"/>
          </a:xfrm>
        </p:spPr>
        <p:txBody>
          <a:bodyPr>
            <a:normAutofit fontScale="90000"/>
          </a:bodyPr>
          <a:lstStyle/>
          <a:p>
            <a:r>
              <a:rPr lang="en-US" sz="7200" b="1" dirty="0" smtClean="0">
                <a:solidFill>
                  <a:srgbClr val="002060"/>
                </a:solidFill>
                <a:ea typeface="Verdana" panose="020B0604030504040204" pitchFamily="34" charset="0"/>
              </a:rPr>
              <a:t>VISUALIZATION</a:t>
            </a:r>
            <a:endParaRPr lang="en-US" sz="7200" b="1" dirty="0">
              <a:solidFill>
                <a:srgbClr val="002060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52209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809" y="0"/>
            <a:ext cx="10058400" cy="669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23817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798" y="149345"/>
            <a:ext cx="9930404" cy="6559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0570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42" y="1036088"/>
            <a:ext cx="11105002" cy="5641058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16945" y="-130634"/>
            <a:ext cx="10758889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 smtClean="0">
                <a:solidFill>
                  <a:srgbClr val="002060"/>
                </a:solidFill>
                <a:ea typeface="Verdana" panose="020B0604030504040204" pitchFamily="34" charset="0"/>
              </a:rPr>
              <a:t>AFTER – CLEAN PREPROCESSING</a:t>
            </a:r>
            <a:endParaRPr lang="en-US" sz="4800" b="1" dirty="0">
              <a:solidFill>
                <a:srgbClr val="002060"/>
              </a:solidFill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32386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D650-7821-7D91-A818-67A546A9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115964117254">
            <a:extLst>
              <a:ext uri="{FF2B5EF4-FFF2-40B4-BE49-F238E27FC236}">
                <a16:creationId xmlns:a16="http://schemas.microsoft.com/office/drawing/2014/main" id="{7F1F874F-D9B6-B890-7CE0-DD018BB333FE}"/>
              </a:ext>
            </a:extLst>
          </p:cNvPr>
          <p:cNvSpPr/>
          <p:nvPr/>
        </p:nvSpPr>
        <p:spPr>
          <a:xfrm>
            <a:off x="515938" y="200361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8" name="Shape120259084550">
            <a:extLst>
              <a:ext uri="{FF2B5EF4-FFF2-40B4-BE49-F238E27FC236}">
                <a16:creationId xmlns:a16="http://schemas.microsoft.com/office/drawing/2014/main" id="{C65AB4B1-F587-8EAC-0E07-312D2C1060B5}"/>
              </a:ext>
            </a:extLst>
          </p:cNvPr>
          <p:cNvSpPr/>
          <p:nvPr/>
        </p:nvSpPr>
        <p:spPr>
          <a:xfrm>
            <a:off x="602014" y="204210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9" name="Shape124554051846">
            <a:extLst>
              <a:ext uri="{FF2B5EF4-FFF2-40B4-BE49-F238E27FC236}">
                <a16:creationId xmlns:a16="http://schemas.microsoft.com/office/drawing/2014/main" id="{CA9BDED5-157D-8D3F-15D3-88F9985DA82C}"/>
              </a:ext>
            </a:extLst>
          </p:cNvPr>
          <p:cNvSpPr/>
          <p:nvPr/>
        </p:nvSpPr>
        <p:spPr>
          <a:xfrm>
            <a:off x="555719" y="208405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0" name="Shape128849019142">
            <a:extLst>
              <a:ext uri="{FF2B5EF4-FFF2-40B4-BE49-F238E27FC236}">
                <a16:creationId xmlns:a16="http://schemas.microsoft.com/office/drawing/2014/main" id="{FAFFBDA4-1BB9-CAD4-FE94-0807B9369CEC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595086" y="212479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31" name="Shape133143986438">
            <a:extLst>
              <a:ext uri="{FF2B5EF4-FFF2-40B4-BE49-F238E27FC236}">
                <a16:creationId xmlns:a16="http://schemas.microsoft.com/office/drawing/2014/main" id="{DE4A95DD-B850-916F-C782-56D235557C6F}"/>
              </a:ext>
            </a:extLst>
          </p:cNvPr>
          <p:cNvSpPr/>
          <p:nvPr/>
        </p:nvSpPr>
        <p:spPr>
          <a:xfrm>
            <a:off x="1036838" y="2003612"/>
            <a:ext cx="4602492" cy="1219200"/>
          </a:xfrm>
          <a:custGeom>
            <a:avLst/>
            <a:gdLst/>
            <a:ahLst/>
            <a:cxnLst/>
            <a:rect l="l" t="t" r="r" b="b"/>
            <a:pathLst>
              <a:path w="4602492" h="1219200">
                <a:moveTo>
                  <a:pt x="0" y="0"/>
                </a:moveTo>
                <a:lnTo>
                  <a:pt x="4602492" y="0"/>
                </a:lnTo>
                <a:lnTo>
                  <a:pt x="4602492" y="1219200"/>
                </a:lnTo>
                <a:lnTo>
                  <a:pt x="0" y="12192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FF0000"/>
                </a:solidFill>
                <a:latin typeface="+mn-lt"/>
              </a:rPr>
              <a:t>Challenges Encountered: </a:t>
            </a:r>
            <a:endParaRPr lang="en-US" sz="1600" b="1" dirty="0">
              <a:solidFill>
                <a:srgbClr val="FF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Interpreting mixed coordinate formats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S</a:t>
            </a:r>
            <a:r>
              <a:rPr sz="1600" dirty="0">
                <a:solidFill>
                  <a:srgbClr val="000000"/>
                </a:solidFill>
                <a:latin typeface="+mn-lt"/>
              </a:rPr>
              <a:t>tandardizing stop names without official references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H</a:t>
            </a:r>
            <a:r>
              <a:rPr sz="1600" dirty="0">
                <a:solidFill>
                  <a:srgbClr val="000000"/>
                </a:solidFill>
                <a:latin typeface="+mn-lt"/>
              </a:rPr>
              <a:t>andling incomplete route information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E</a:t>
            </a:r>
            <a:r>
              <a:rPr sz="1600" dirty="0">
                <a:solidFill>
                  <a:srgbClr val="000000"/>
                </a:solidFill>
                <a:latin typeface="+mn-lt"/>
              </a:rPr>
              <a:t>nsuring spatial accuracy for distance calculations</a:t>
            </a:r>
          </a:p>
        </p:txBody>
      </p:sp>
      <p:sp>
        <p:nvSpPr>
          <p:cNvPr id="32" name="Shape137438953734">
            <a:extLst>
              <a:ext uri="{FF2B5EF4-FFF2-40B4-BE49-F238E27FC236}">
                <a16:creationId xmlns:a16="http://schemas.microsoft.com/office/drawing/2014/main" id="{D801DC36-BB10-4763-8E60-8D36C341CBA5}"/>
              </a:ext>
            </a:extLst>
          </p:cNvPr>
          <p:cNvSpPr/>
          <p:nvPr/>
        </p:nvSpPr>
        <p:spPr>
          <a:xfrm>
            <a:off x="515938" y="342601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>
            <a:extLst>
              <a:ext uri="{FF2B5EF4-FFF2-40B4-BE49-F238E27FC236}">
                <a16:creationId xmlns:a16="http://schemas.microsoft.com/office/drawing/2014/main" id="{1327D979-FE6B-F011-215E-AEC41982FF20}"/>
              </a:ext>
            </a:extLst>
          </p:cNvPr>
          <p:cNvSpPr/>
          <p:nvPr/>
        </p:nvSpPr>
        <p:spPr>
          <a:xfrm>
            <a:off x="602014" y="3821520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>
            <a:extLst>
              <a:ext uri="{FF2B5EF4-FFF2-40B4-BE49-F238E27FC236}">
                <a16:creationId xmlns:a16="http://schemas.microsoft.com/office/drawing/2014/main" id="{567803B0-79E9-5991-6FFB-6E5EF88DBD0B}"/>
              </a:ext>
            </a:extLst>
          </p:cNvPr>
          <p:cNvSpPr/>
          <p:nvPr/>
        </p:nvSpPr>
        <p:spPr>
          <a:xfrm>
            <a:off x="555719" y="3863468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5" name="Shape150323855622">
            <a:extLst>
              <a:ext uri="{FF2B5EF4-FFF2-40B4-BE49-F238E27FC236}">
                <a16:creationId xmlns:a16="http://schemas.microsoft.com/office/drawing/2014/main" id="{E61BA3D1-99B2-7ADF-312E-8C922A0679FB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04899" y="3904212"/>
            <a:ext cx="211955" cy="231581"/>
          </a:xfrm>
          <a:custGeom>
            <a:avLst/>
            <a:gdLst/>
            <a:ahLst/>
            <a:cxnLst/>
            <a:rect l="l" t="t" r="r" b="b"/>
            <a:pathLst>
              <a:path w="211955" h="231581">
                <a:moveTo>
                  <a:pt x="0" y="0"/>
                </a:moveTo>
                <a:lnTo>
                  <a:pt x="211955" y="0"/>
                </a:lnTo>
                <a:lnTo>
                  <a:pt x="2119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36" name="Shape154618822918">
            <a:extLst>
              <a:ext uri="{FF2B5EF4-FFF2-40B4-BE49-F238E27FC236}">
                <a16:creationId xmlns:a16="http://schemas.microsoft.com/office/drawing/2014/main" id="{C9562924-7454-2C87-4960-5921B3029BA0}"/>
              </a:ext>
            </a:extLst>
          </p:cNvPr>
          <p:cNvSpPr/>
          <p:nvPr/>
        </p:nvSpPr>
        <p:spPr>
          <a:xfrm>
            <a:off x="1053771" y="3819522"/>
            <a:ext cx="4602492" cy="1463040"/>
          </a:xfrm>
          <a:custGeom>
            <a:avLst/>
            <a:gdLst/>
            <a:ahLst/>
            <a:cxnLst/>
            <a:rect l="l" t="t" r="r" b="b"/>
            <a:pathLst>
              <a:path w="4602492" h="1463040">
                <a:moveTo>
                  <a:pt x="0" y="0"/>
                </a:moveTo>
                <a:lnTo>
                  <a:pt x="4602492" y="0"/>
                </a:lnTo>
                <a:lnTo>
                  <a:pt x="4602492" y="1463040"/>
                </a:lnTo>
                <a:lnTo>
                  <a:pt x="0" y="14630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i="1" dirty="0">
                <a:solidFill>
                  <a:srgbClr val="00B050"/>
                </a:solidFill>
                <a:latin typeface="+mn-lt"/>
              </a:rPr>
              <a:t>Lessons Learned: </a:t>
            </a:r>
            <a:endParaRPr lang="en-US" sz="1600" b="1" i="1" dirty="0">
              <a:solidFill>
                <a:srgbClr val="00B05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Data preprocessing is crucial (80% of data science work)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Clean, structured data enables effective CI applications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Domain knowledge essential for data interpretation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Quality preprocessing directly impacts model performance</a:t>
            </a:r>
          </a:p>
        </p:txBody>
      </p:sp>
      <p:sp>
        <p:nvSpPr>
          <p:cNvPr id="37" name="Shape158913790214">
            <a:extLst>
              <a:ext uri="{FF2B5EF4-FFF2-40B4-BE49-F238E27FC236}">
                <a16:creationId xmlns:a16="http://schemas.microsoft.com/office/drawing/2014/main" id="{0061537D-71CD-3683-8C82-AB25775EDA45}"/>
              </a:ext>
            </a:extLst>
          </p:cNvPr>
          <p:cNvSpPr/>
          <p:nvPr/>
        </p:nvSpPr>
        <p:spPr>
          <a:xfrm>
            <a:off x="6490230" y="1149435"/>
            <a:ext cx="5701770" cy="975360"/>
          </a:xfrm>
          <a:custGeom>
            <a:avLst/>
            <a:gdLst/>
            <a:ahLst/>
            <a:cxnLst/>
            <a:rect l="l" t="t" r="r" b="b"/>
            <a:pathLst>
              <a:path w="5123392" h="975360">
                <a:moveTo>
                  <a:pt x="0" y="0"/>
                </a:moveTo>
                <a:lnTo>
                  <a:pt x="5123392" y="0"/>
                </a:lnTo>
                <a:lnTo>
                  <a:pt x="5123392" y="975359"/>
                </a:lnTo>
                <a:lnTo>
                  <a:pt x="0" y="975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000000"/>
                </a:solidFill>
                <a:latin typeface="+mn-lt"/>
              </a:rPr>
              <a:t>Conclusion: The preprocessed dataset is now ready for: </a:t>
            </a:r>
            <a:endParaRPr lang="en-US" sz="1600" b="1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000000"/>
                </a:solidFill>
                <a:latin typeface="+mn-lt"/>
              </a:rPr>
              <a:t>Machine learning model training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 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Route optimization algorithms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 Real-time arrival prediction systems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 Intelligent transportation analytics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.</a:t>
            </a:r>
            <a:endParaRPr sz="16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8" name="Shape163208757510">
            <a:extLst>
              <a:ext uri="{FF2B5EF4-FFF2-40B4-BE49-F238E27FC236}">
                <a16:creationId xmlns:a16="http://schemas.microsoft.com/office/drawing/2014/main" id="{7D6D1F1E-7227-C812-8AFE-EE1FDC493FFE}"/>
              </a:ext>
            </a:extLst>
          </p:cNvPr>
          <p:cNvSpPr/>
          <p:nvPr/>
        </p:nvSpPr>
        <p:spPr>
          <a:xfrm>
            <a:off x="515938" y="603004"/>
            <a:ext cx="5110726" cy="1107558"/>
          </a:xfrm>
          <a:custGeom>
            <a:avLst/>
            <a:gdLst/>
            <a:ahLst/>
            <a:cxnLst/>
            <a:rect l="l" t="t" r="r" b="b"/>
            <a:pathLst>
              <a:path w="5110726" h="1107557">
                <a:moveTo>
                  <a:pt x="0" y="0"/>
                </a:moveTo>
                <a:lnTo>
                  <a:pt x="5110726" y="0"/>
                </a:lnTo>
                <a:lnTo>
                  <a:pt x="5110726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050E2E"/>
                </a:solidFill>
                <a:latin typeface="+mn-lt"/>
              </a:rPr>
              <a:t>CHALLENGES &amp; LESSONS LEARNED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1719D51F-6739-3685-33ED-0FAD3C724219}"/>
              </a:ext>
            </a:extLst>
          </p:cNvPr>
          <p:cNvSpPr/>
          <p:nvPr/>
        </p:nvSpPr>
        <p:spPr>
          <a:xfrm>
            <a:off x="6324600" y="2435612"/>
            <a:ext cx="5562600" cy="2593588"/>
          </a:xfrm>
          <a:prstGeom prst="round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TRANSCONNECT DATA PREPROCESSING SUMMARY</a:t>
            </a:r>
          </a:p>
          <a:p>
            <a:r>
              <a:rPr lang="en-US" sz="1400" dirty="0"/>
              <a:t>==================================================</a:t>
            </a:r>
          </a:p>
          <a:p>
            <a:r>
              <a:rPr lang="en-US" sz="1400" dirty="0"/>
              <a:t>Original stops: 36</a:t>
            </a:r>
          </a:p>
          <a:p>
            <a:r>
              <a:rPr lang="en-US" sz="1400" dirty="0"/>
              <a:t>Cleaned stops: 36</a:t>
            </a:r>
          </a:p>
          <a:p>
            <a:r>
              <a:rPr lang="en-US" sz="1400" dirty="0"/>
              <a:t>Total route distance: 26.07 km</a:t>
            </a:r>
          </a:p>
          <a:p>
            <a:r>
              <a:rPr lang="en-US" sz="1400" dirty="0"/>
              <a:t>Total travel time: 62.6 minutes</a:t>
            </a:r>
          </a:p>
          <a:p>
            <a:r>
              <a:rPr lang="en-US" sz="1400" dirty="0"/>
              <a:t>Augmented dataset size: 216 rows</a:t>
            </a:r>
          </a:p>
          <a:p>
            <a:r>
              <a:rPr lang="en-US" sz="1400" dirty="0"/>
              <a:t>Conditions simulated: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533B4-1A48-71D0-9632-7E28690B8A22}"/>
              </a:ext>
            </a:extLst>
          </p:cNvPr>
          <p:cNvSpPr txBox="1"/>
          <p:nvPr/>
        </p:nvSpPr>
        <p:spPr>
          <a:xfrm>
            <a:off x="6496326" y="5103169"/>
            <a:ext cx="42539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Summary for </a:t>
            </a:r>
            <a:r>
              <a:rPr lang="en-US" sz="1100" dirty="0" err="1"/>
              <a:t>Transconnect</a:t>
            </a:r>
            <a:r>
              <a:rPr lang="en-US" sz="1100" dirty="0"/>
              <a:t> for Route </a:t>
            </a:r>
            <a:r>
              <a:rPr lang="en-US" sz="1100" b="1" i="1" dirty="0"/>
              <a:t>“Kabuga – </a:t>
            </a:r>
            <a:r>
              <a:rPr lang="en-US" sz="1100" b="1" i="1" dirty="0" err="1"/>
              <a:t>Nyabugogo</a:t>
            </a:r>
            <a:r>
              <a:rPr lang="en-US" sz="1100" b="1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744428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C761-0098-6C1E-6AF3-9C98DA0E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49352FA8-2906-B018-822D-3C54FEB92F2D}"/>
              </a:ext>
            </a:extLst>
          </p:cNvPr>
          <p:cNvSpPr/>
          <p:nvPr/>
        </p:nvSpPr>
        <p:spPr>
          <a:xfrm rot="1869057">
            <a:off x="9169019" y="1723459"/>
            <a:ext cx="4121641" cy="4072913"/>
          </a:xfrm>
          <a:custGeom>
            <a:avLst/>
            <a:gdLst/>
            <a:ahLst/>
            <a:cxnLst/>
            <a:rect l="l" t="t" r="r" b="b"/>
            <a:pathLst>
              <a:path w="4121641" h="4072913">
                <a:moveTo>
                  <a:pt x="317571" y="123014"/>
                </a:moveTo>
                <a:cubicBezTo>
                  <a:pt x="432530" y="45349"/>
                  <a:pt x="571117" y="0"/>
                  <a:pt x="720294" y="0"/>
                </a:cubicBezTo>
                <a:lnTo>
                  <a:pt x="1954153" y="0"/>
                </a:lnTo>
                <a:lnTo>
                  <a:pt x="4121641" y="3585869"/>
                </a:lnTo>
                <a:lnTo>
                  <a:pt x="4107013" y="3632989"/>
                </a:lnTo>
                <a:cubicBezTo>
                  <a:pt x="3997667" y="3891513"/>
                  <a:pt x="3741678" y="4072912"/>
                  <a:pt x="3443323" y="4072912"/>
                </a:cubicBezTo>
                <a:lnTo>
                  <a:pt x="720294" y="4072912"/>
                </a:lnTo>
                <a:cubicBezTo>
                  <a:pt x="322487" y="4072912"/>
                  <a:pt x="0" y="3750426"/>
                  <a:pt x="0" y="3352617"/>
                </a:cubicBezTo>
                <a:lnTo>
                  <a:pt x="0" y="720295"/>
                </a:lnTo>
                <a:cubicBezTo>
                  <a:pt x="0" y="471665"/>
                  <a:pt x="125972" y="252457"/>
                  <a:pt x="317571" y="123014"/>
                </a:cubicBezTo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>
            <a:extLst>
              <a:ext uri="{FF2B5EF4-FFF2-40B4-BE49-F238E27FC236}">
                <a16:creationId xmlns:a16="http://schemas.microsoft.com/office/drawing/2014/main" id="{382F5C12-AAA7-29C8-D015-D8B74CA5D67A}"/>
              </a:ext>
            </a:extLst>
          </p:cNvPr>
          <p:cNvSpPr/>
          <p:nvPr/>
        </p:nvSpPr>
        <p:spPr>
          <a:xfrm rot="18119516" flipV="1">
            <a:off x="10080758" y="-295618"/>
            <a:ext cx="587002" cy="712598"/>
          </a:xfrm>
          <a:custGeom>
            <a:avLst/>
            <a:gdLst/>
            <a:ahLst/>
            <a:cxnLst/>
            <a:rect l="l" t="t" r="r" b="b"/>
            <a:pathLst>
              <a:path w="587002" h="712598">
                <a:moveTo>
                  <a:pt x="142478" y="712598"/>
                </a:moveTo>
                <a:lnTo>
                  <a:pt x="587002" y="987"/>
                </a:lnTo>
                <a:lnTo>
                  <a:pt x="582107" y="0"/>
                </a:lnTo>
                <a:lnTo>
                  <a:pt x="147370" y="0"/>
                </a:lnTo>
                <a:cubicBezTo>
                  <a:pt x="65979" y="0"/>
                  <a:pt x="0" y="65980"/>
                  <a:pt x="0" y="147370"/>
                </a:cubicBezTo>
                <a:lnTo>
                  <a:pt x="0" y="566216"/>
                </a:lnTo>
                <a:cubicBezTo>
                  <a:pt x="0" y="627259"/>
                  <a:pt x="37114" y="679633"/>
                  <a:pt x="90006" y="702005"/>
                </a:cubicBezTo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>
            <a:extLst>
              <a:ext uri="{FF2B5EF4-FFF2-40B4-BE49-F238E27FC236}">
                <a16:creationId xmlns:a16="http://schemas.microsoft.com/office/drawing/2014/main" id="{E2E1B5CD-C9F0-2D42-4BEA-AB9FB0D3F972}"/>
              </a:ext>
            </a:extLst>
          </p:cNvPr>
          <p:cNvSpPr/>
          <p:nvPr/>
        </p:nvSpPr>
        <p:spPr>
          <a:xfrm rot="18119516" flipV="1">
            <a:off x="11183889" y="-254470"/>
            <a:ext cx="1323931" cy="1637497"/>
          </a:xfrm>
          <a:custGeom>
            <a:avLst/>
            <a:gdLst/>
            <a:ahLst/>
            <a:cxnLst/>
            <a:rect l="l" t="t" r="r" b="b"/>
            <a:pathLst>
              <a:path w="1323931" h="1637497">
                <a:moveTo>
                  <a:pt x="815840" y="1637497"/>
                </a:moveTo>
                <a:lnTo>
                  <a:pt x="1323930" y="824129"/>
                </a:lnTo>
                <a:lnTo>
                  <a:pt x="4637" y="0"/>
                </a:lnTo>
                <a:lnTo>
                  <a:pt x="0" y="46011"/>
                </a:lnTo>
                <a:lnTo>
                  <a:pt x="0" y="1223279"/>
                </a:lnTo>
                <a:cubicBezTo>
                  <a:pt x="0" y="1452045"/>
                  <a:pt x="185452" y="1637497"/>
                  <a:pt x="414218" y="1637497"/>
                </a:cubicBezTo>
                <a:close/>
              </a:path>
            </a:pathLst>
          </a:custGeom>
          <a:solidFill>
            <a:srgbClr val="050E2E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4" name="Shape231928234249">
            <a:extLst>
              <a:ext uri="{FF2B5EF4-FFF2-40B4-BE49-F238E27FC236}">
                <a16:creationId xmlns:a16="http://schemas.microsoft.com/office/drawing/2014/main" id="{2DCB79A3-18A8-31D4-C6DB-0CE72AA346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36548" y="1620116"/>
            <a:ext cx="5237884" cy="5237884"/>
          </a:xfrm>
          <a:custGeom>
            <a:avLst/>
            <a:gdLst/>
            <a:ahLst/>
            <a:cxnLst/>
            <a:rect l="l" t="t" r="r" b="b"/>
            <a:pathLst>
              <a:path w="5237884" h="5237884">
                <a:moveTo>
                  <a:pt x="0" y="0"/>
                </a:moveTo>
                <a:lnTo>
                  <a:pt x="5237884" y="0"/>
                </a:lnTo>
                <a:lnTo>
                  <a:pt x="5237884" y="5237884"/>
                </a:lnTo>
                <a:lnTo>
                  <a:pt x="0" y="5237884"/>
                </a:lnTo>
                <a:close/>
              </a:path>
            </a:pathLst>
          </a:custGeom>
        </p:spPr>
      </p:pic>
      <p:sp>
        <p:nvSpPr>
          <p:cNvPr id="55" name="Shape236223201545">
            <a:extLst>
              <a:ext uri="{FF2B5EF4-FFF2-40B4-BE49-F238E27FC236}">
                <a16:creationId xmlns:a16="http://schemas.microsoft.com/office/drawing/2014/main" id="{B9D2C677-6BC8-B481-B533-78DCD2D13BFE}"/>
              </a:ext>
            </a:extLst>
          </p:cNvPr>
          <p:cNvSpPr/>
          <p:nvPr/>
        </p:nvSpPr>
        <p:spPr>
          <a:xfrm>
            <a:off x="741407" y="3127159"/>
            <a:ext cx="2932984" cy="426720"/>
          </a:xfrm>
          <a:custGeom>
            <a:avLst/>
            <a:gdLst/>
            <a:ahLst/>
            <a:cxnLst/>
            <a:rect l="l" t="t" r="r" b="b"/>
            <a:pathLst>
              <a:path w="2932984" h="426720">
                <a:moveTo>
                  <a:pt x="0" y="0"/>
                </a:moveTo>
                <a:lnTo>
                  <a:pt x="2932984" y="0"/>
                </a:lnTo>
                <a:lnTo>
                  <a:pt x="2932984" y="426719"/>
                </a:lnTo>
                <a:lnTo>
                  <a:pt x="0" y="42671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000000"/>
                </a:solidFill>
                <a:latin typeface="+mn-lt"/>
              </a:rPr>
              <a:t>Python Script Sections:</a:t>
            </a:r>
          </a:p>
        </p:txBody>
      </p:sp>
      <p:sp>
        <p:nvSpPr>
          <p:cNvPr id="56" name="Shape240518168841">
            <a:extLst>
              <a:ext uri="{FF2B5EF4-FFF2-40B4-BE49-F238E27FC236}">
                <a16:creationId xmlns:a16="http://schemas.microsoft.com/office/drawing/2014/main" id="{C1F9D872-08B4-46CE-F47B-28FF56322947}"/>
              </a:ext>
            </a:extLst>
          </p:cNvPr>
          <p:cNvSpPr/>
          <p:nvPr/>
        </p:nvSpPr>
        <p:spPr>
          <a:xfrm rot="21056040">
            <a:off x="761575" y="364795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F9BAF1B5-2DB4-D17B-3774-2BC3A4FE80BE}"/>
              </a:ext>
            </a:extLst>
          </p:cNvPr>
          <p:cNvSpPr/>
          <p:nvPr/>
        </p:nvSpPr>
        <p:spPr>
          <a:xfrm>
            <a:off x="768879" y="36608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>
            <a:extLst>
              <a:ext uri="{FF2B5EF4-FFF2-40B4-BE49-F238E27FC236}">
                <a16:creationId xmlns:a16="http://schemas.microsoft.com/office/drawing/2014/main" id="{F0181F6A-7719-2200-66FA-16B1EA9F27F6}"/>
              </a:ext>
            </a:extLst>
          </p:cNvPr>
          <p:cNvSpPr/>
          <p:nvPr/>
        </p:nvSpPr>
        <p:spPr>
          <a:xfrm>
            <a:off x="971339" y="3587769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Loading &amp; Initial Assessment</a:t>
            </a:r>
          </a:p>
        </p:txBody>
      </p:sp>
      <p:sp>
        <p:nvSpPr>
          <p:cNvPr id="59" name="Shape253403070729">
            <a:extLst>
              <a:ext uri="{FF2B5EF4-FFF2-40B4-BE49-F238E27FC236}">
                <a16:creationId xmlns:a16="http://schemas.microsoft.com/office/drawing/2014/main" id="{855FFF7A-CE90-BCAF-A1CB-38DDA5B5208D}"/>
              </a:ext>
            </a:extLst>
          </p:cNvPr>
          <p:cNvSpPr/>
          <p:nvPr/>
        </p:nvSpPr>
        <p:spPr>
          <a:xfrm rot="21056040">
            <a:off x="761575" y="4145795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0" name="Shape257698038025">
            <a:extLst>
              <a:ext uri="{FF2B5EF4-FFF2-40B4-BE49-F238E27FC236}">
                <a16:creationId xmlns:a16="http://schemas.microsoft.com/office/drawing/2014/main" id="{2ADB1831-B231-C53B-A188-DD867FED7909}"/>
              </a:ext>
            </a:extLst>
          </p:cNvPr>
          <p:cNvSpPr/>
          <p:nvPr/>
        </p:nvSpPr>
        <p:spPr>
          <a:xfrm>
            <a:off x="768880" y="415867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9CA26374-93B5-6483-A91E-10C253D66AFC}"/>
              </a:ext>
            </a:extLst>
          </p:cNvPr>
          <p:cNvSpPr/>
          <p:nvPr/>
        </p:nvSpPr>
        <p:spPr>
          <a:xfrm>
            <a:off x="971339" y="408560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Cleaning Operations</a:t>
            </a:r>
          </a:p>
        </p:txBody>
      </p:sp>
      <p:sp>
        <p:nvSpPr>
          <p:cNvPr id="62" name="Shape266287972617">
            <a:extLst>
              <a:ext uri="{FF2B5EF4-FFF2-40B4-BE49-F238E27FC236}">
                <a16:creationId xmlns:a16="http://schemas.microsoft.com/office/drawing/2014/main" id="{8DF2F9F2-DF24-A50F-5BDF-10828950CE77}"/>
              </a:ext>
            </a:extLst>
          </p:cNvPr>
          <p:cNvSpPr/>
          <p:nvPr/>
        </p:nvSpPr>
        <p:spPr>
          <a:xfrm rot="21056040">
            <a:off x="761575" y="44302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3">
            <a:extLst>
              <a:ext uri="{FF2B5EF4-FFF2-40B4-BE49-F238E27FC236}">
                <a16:creationId xmlns:a16="http://schemas.microsoft.com/office/drawing/2014/main" id="{4AC4EBF9-9ED8-EB56-21CD-54B788118AAE}"/>
              </a:ext>
            </a:extLst>
          </p:cNvPr>
          <p:cNvSpPr/>
          <p:nvPr/>
        </p:nvSpPr>
        <p:spPr>
          <a:xfrm>
            <a:off x="768880" y="444315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4" name="Shape274877907209">
            <a:extLst>
              <a:ext uri="{FF2B5EF4-FFF2-40B4-BE49-F238E27FC236}">
                <a16:creationId xmlns:a16="http://schemas.microsoft.com/office/drawing/2014/main" id="{4608D2D0-EDB4-7F87-54BC-67A2D12419A5}"/>
              </a:ext>
            </a:extLst>
          </p:cNvPr>
          <p:cNvSpPr/>
          <p:nvPr/>
        </p:nvSpPr>
        <p:spPr>
          <a:xfrm>
            <a:off x="971339" y="437008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Integration &amp; Deduplication</a:t>
            </a:r>
          </a:p>
        </p:txBody>
      </p:sp>
      <p:sp>
        <p:nvSpPr>
          <p:cNvPr id="65" name="Shape279172874505">
            <a:extLst>
              <a:ext uri="{FF2B5EF4-FFF2-40B4-BE49-F238E27FC236}">
                <a16:creationId xmlns:a16="http://schemas.microsoft.com/office/drawing/2014/main" id="{67562B5B-0CF5-6E20-68D3-618755F8BBD9}"/>
              </a:ext>
            </a:extLst>
          </p:cNvPr>
          <p:cNvSpPr/>
          <p:nvPr/>
        </p:nvSpPr>
        <p:spPr>
          <a:xfrm rot="21056040">
            <a:off x="761575" y="471475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6" name="Shape283467841801">
            <a:extLst>
              <a:ext uri="{FF2B5EF4-FFF2-40B4-BE49-F238E27FC236}">
                <a16:creationId xmlns:a16="http://schemas.microsoft.com/office/drawing/2014/main" id="{FABE4CEC-66DA-C5E0-A461-340A277EE096}"/>
              </a:ext>
            </a:extLst>
          </p:cNvPr>
          <p:cNvSpPr/>
          <p:nvPr/>
        </p:nvSpPr>
        <p:spPr>
          <a:xfrm>
            <a:off x="768880" y="47276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Shape287762809097">
            <a:extLst>
              <a:ext uri="{FF2B5EF4-FFF2-40B4-BE49-F238E27FC236}">
                <a16:creationId xmlns:a16="http://schemas.microsoft.com/office/drawing/2014/main" id="{E7195EE7-7EA9-9439-E7DC-6BD8981A5B94}"/>
              </a:ext>
            </a:extLst>
          </p:cNvPr>
          <p:cNvSpPr/>
          <p:nvPr/>
        </p:nvSpPr>
        <p:spPr>
          <a:xfrm>
            <a:off x="971339" y="465456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Feature Engineering (Distance Calculations)</a:t>
            </a:r>
          </a:p>
        </p:txBody>
      </p:sp>
      <p:sp>
        <p:nvSpPr>
          <p:cNvPr id="68" name="Shape292057776393">
            <a:extLst>
              <a:ext uri="{FF2B5EF4-FFF2-40B4-BE49-F238E27FC236}">
                <a16:creationId xmlns:a16="http://schemas.microsoft.com/office/drawing/2014/main" id="{4B2FA392-E318-4852-346C-06BA46983601}"/>
              </a:ext>
            </a:extLst>
          </p:cNvPr>
          <p:cNvSpPr/>
          <p:nvPr/>
        </p:nvSpPr>
        <p:spPr>
          <a:xfrm rot="21056040">
            <a:off x="761575" y="521259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9" name="Shape296352743689">
            <a:extLst>
              <a:ext uri="{FF2B5EF4-FFF2-40B4-BE49-F238E27FC236}">
                <a16:creationId xmlns:a16="http://schemas.microsoft.com/office/drawing/2014/main" id="{CE940B84-9411-51D8-D671-C8351104B762}"/>
              </a:ext>
            </a:extLst>
          </p:cNvPr>
          <p:cNvSpPr/>
          <p:nvPr/>
        </p:nvSpPr>
        <p:spPr>
          <a:xfrm>
            <a:off x="768880" y="5225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0" name="Shape300647710985">
            <a:extLst>
              <a:ext uri="{FF2B5EF4-FFF2-40B4-BE49-F238E27FC236}">
                <a16:creationId xmlns:a16="http://schemas.microsoft.com/office/drawing/2014/main" id="{7AE6350C-79EE-341B-2E5E-2C6FE2D225CD}"/>
              </a:ext>
            </a:extLst>
          </p:cNvPr>
          <p:cNvSpPr/>
          <p:nvPr/>
        </p:nvSpPr>
        <p:spPr>
          <a:xfrm>
            <a:off x="971339" y="515240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Transformation &amp; Discretization</a:t>
            </a:r>
          </a:p>
        </p:txBody>
      </p:sp>
      <p:sp>
        <p:nvSpPr>
          <p:cNvPr id="71" name="Shape304942678281">
            <a:extLst>
              <a:ext uri="{FF2B5EF4-FFF2-40B4-BE49-F238E27FC236}">
                <a16:creationId xmlns:a16="http://schemas.microsoft.com/office/drawing/2014/main" id="{EE42D036-3CA7-5D92-F89A-D053478F8EF6}"/>
              </a:ext>
            </a:extLst>
          </p:cNvPr>
          <p:cNvSpPr/>
          <p:nvPr/>
        </p:nvSpPr>
        <p:spPr>
          <a:xfrm rot="21056040">
            <a:off x="761575" y="571043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2" name="Shape309237645577">
            <a:extLst>
              <a:ext uri="{FF2B5EF4-FFF2-40B4-BE49-F238E27FC236}">
                <a16:creationId xmlns:a16="http://schemas.microsoft.com/office/drawing/2014/main" id="{7A005A24-0B69-DCF4-86FB-3F3586BA1FDC}"/>
              </a:ext>
            </a:extLst>
          </p:cNvPr>
          <p:cNvSpPr/>
          <p:nvPr/>
        </p:nvSpPr>
        <p:spPr>
          <a:xfrm>
            <a:off x="768880" y="57233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3">
            <a:extLst>
              <a:ext uri="{FF2B5EF4-FFF2-40B4-BE49-F238E27FC236}">
                <a16:creationId xmlns:a16="http://schemas.microsoft.com/office/drawing/2014/main" id="{24D8BC42-0976-CD73-EBC7-225AD6470980}"/>
              </a:ext>
            </a:extLst>
          </p:cNvPr>
          <p:cNvSpPr/>
          <p:nvPr/>
        </p:nvSpPr>
        <p:spPr>
          <a:xfrm>
            <a:off x="971339" y="565024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Augmentation for Model Training</a:t>
            </a:r>
          </a:p>
        </p:txBody>
      </p:sp>
      <p:sp>
        <p:nvSpPr>
          <p:cNvPr id="74" name="Shape317827580169">
            <a:extLst>
              <a:ext uri="{FF2B5EF4-FFF2-40B4-BE49-F238E27FC236}">
                <a16:creationId xmlns:a16="http://schemas.microsoft.com/office/drawing/2014/main" id="{EC091C93-148C-1234-A7FF-5E08B60C9C6B}"/>
              </a:ext>
            </a:extLst>
          </p:cNvPr>
          <p:cNvSpPr/>
          <p:nvPr/>
        </p:nvSpPr>
        <p:spPr>
          <a:xfrm rot="21056040">
            <a:off x="761575" y="62082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5" name="Shape322122547465">
            <a:extLst>
              <a:ext uri="{FF2B5EF4-FFF2-40B4-BE49-F238E27FC236}">
                <a16:creationId xmlns:a16="http://schemas.microsoft.com/office/drawing/2014/main" id="{B00F8604-1451-8C4D-CB0E-1236FADB3661}"/>
              </a:ext>
            </a:extLst>
          </p:cNvPr>
          <p:cNvSpPr/>
          <p:nvPr/>
        </p:nvSpPr>
        <p:spPr>
          <a:xfrm>
            <a:off x="768880" y="622115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6" name="Shape326417514761">
            <a:extLst>
              <a:ext uri="{FF2B5EF4-FFF2-40B4-BE49-F238E27FC236}">
                <a16:creationId xmlns:a16="http://schemas.microsoft.com/office/drawing/2014/main" id="{0AD7D72B-4174-2F35-ED63-FD7CD5B50E17}"/>
              </a:ext>
            </a:extLst>
          </p:cNvPr>
          <p:cNvSpPr/>
          <p:nvPr/>
        </p:nvSpPr>
        <p:spPr>
          <a:xfrm>
            <a:off x="971339" y="614808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Visualization of Results</a:t>
            </a:r>
          </a:p>
        </p:txBody>
      </p:sp>
      <p:sp>
        <p:nvSpPr>
          <p:cNvPr id="79" name="Shape339302416649">
            <a:extLst>
              <a:ext uri="{FF2B5EF4-FFF2-40B4-BE49-F238E27FC236}">
                <a16:creationId xmlns:a16="http://schemas.microsoft.com/office/drawing/2014/main" id="{4B0D617B-0643-7999-0B6F-27D130C90396}"/>
              </a:ext>
            </a:extLst>
          </p:cNvPr>
          <p:cNvSpPr/>
          <p:nvPr/>
        </p:nvSpPr>
        <p:spPr>
          <a:xfrm>
            <a:off x="4231194" y="3089928"/>
            <a:ext cx="3160206" cy="1706880"/>
          </a:xfrm>
          <a:custGeom>
            <a:avLst/>
            <a:gdLst/>
            <a:ahLst/>
            <a:cxnLst/>
            <a:rect l="l" t="t" r="r" b="b"/>
            <a:pathLst>
              <a:path w="2703052" h="1706880">
                <a:moveTo>
                  <a:pt x="0" y="0"/>
                </a:moveTo>
                <a:lnTo>
                  <a:pt x="2703052" y="0"/>
                </a:lnTo>
                <a:lnTo>
                  <a:pt x="2703052" y="1706880"/>
                </a:lnTo>
                <a:lnTo>
                  <a:pt x="0" y="17068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000000"/>
                </a:solidFill>
                <a:latin typeface="+mn-lt"/>
              </a:rPr>
              <a:t>Tools &amp; Libraries: </a:t>
            </a:r>
            <a:endParaRPr lang="en-US" sz="14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Pandas for data manipulation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NumPy for numerical operations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Scikit-learn for preprocessing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Haversine for distance calculations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Matplotlib/</a:t>
            </a:r>
            <a:r>
              <a:rPr sz="1400" dirty="0" err="1">
                <a:solidFill>
                  <a:srgbClr val="000000"/>
                </a:solidFill>
                <a:latin typeface="+mn-lt"/>
              </a:rPr>
              <a:t>Plotly</a:t>
            </a:r>
            <a:r>
              <a:rPr sz="1400" dirty="0">
                <a:solidFill>
                  <a:srgbClr val="000000"/>
                </a:solidFill>
                <a:latin typeface="+mn-lt"/>
              </a:rPr>
              <a:t> for visualization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Folium for map-based displays</a:t>
            </a:r>
          </a:p>
        </p:txBody>
      </p:sp>
      <p:sp>
        <p:nvSpPr>
          <p:cNvPr id="80" name="Shape343597383945">
            <a:extLst>
              <a:ext uri="{FF2B5EF4-FFF2-40B4-BE49-F238E27FC236}">
                <a16:creationId xmlns:a16="http://schemas.microsoft.com/office/drawing/2014/main" id="{DFDBC9F4-3E2D-255E-5D47-66A42F30953F}"/>
              </a:ext>
            </a:extLst>
          </p:cNvPr>
          <p:cNvSpPr/>
          <p:nvPr/>
        </p:nvSpPr>
        <p:spPr>
          <a:xfrm>
            <a:off x="741407" y="1217791"/>
            <a:ext cx="6192839" cy="886046"/>
          </a:xfrm>
          <a:custGeom>
            <a:avLst/>
            <a:gdLst/>
            <a:ahLst/>
            <a:cxnLst/>
            <a:rect l="l" t="t" r="r" b="b"/>
            <a:pathLst>
              <a:path w="6192839" h="886046">
                <a:moveTo>
                  <a:pt x="0" y="0"/>
                </a:moveTo>
                <a:lnTo>
                  <a:pt x="6192839" y="0"/>
                </a:lnTo>
                <a:lnTo>
                  <a:pt x="6192839" y="886046"/>
                </a:lnTo>
                <a:lnTo>
                  <a:pt x="0" y="88604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3200" b="1" dirty="0">
                <a:solidFill>
                  <a:srgbClr val="050E2E"/>
                </a:solidFill>
                <a:latin typeface="+mn-lt"/>
              </a:rPr>
              <a:t>CODE DEMONSTRATION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367CC-7294-0373-6FB4-35A2F386980C}"/>
              </a:ext>
            </a:extLst>
          </p:cNvPr>
          <p:cNvSpPr txBox="1"/>
          <p:nvPr/>
        </p:nvSpPr>
        <p:spPr>
          <a:xfrm>
            <a:off x="4343400" y="5081288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Codes: </a:t>
            </a:r>
            <a:r>
              <a:rPr lang="en-US" sz="1200" dirty="0">
                <a:hlinkClick r:id="rId3"/>
              </a:rPr>
              <a:t>https://drive.google.com/file/d/120uvRQOfj2I6KP-9buP23hwFub0JSyPO/view?usp=sharing</a:t>
            </a:r>
            <a:endParaRPr lang="en-US" sz="1200" dirty="0"/>
          </a:p>
          <a:p>
            <a:r>
              <a:rPr lang="en-US" sz="1200" dirty="0"/>
              <a:t>Dataset: </a:t>
            </a:r>
            <a:r>
              <a:rPr lang="en-US" sz="1200" dirty="0">
                <a:hlinkClick r:id="rId4"/>
              </a:rPr>
              <a:t>https://docs.google.com/spreadsheets/d/1nQSVadk_r9I_5k6FVnBV3_UW04ITMIJ-7orBFDDlBv8/edit?usp=sharing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9416689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E1882-357D-A2E2-C792-4D6142E17032}"/>
              </a:ext>
            </a:extLst>
          </p:cNvPr>
          <p:cNvSpPr txBox="1"/>
          <p:nvPr/>
        </p:nvSpPr>
        <p:spPr>
          <a:xfrm>
            <a:off x="5448300" y="3133534"/>
            <a:ext cx="12954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600" b="1" dirty="0">
                <a:solidFill>
                  <a:srgbClr val="050E2E"/>
                </a:solidFill>
                <a:latin typeface="+mn-lt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4646879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5.0.138"/>
  <p:tag name="AS_RELEASE_DATE" val="2022.12.31"/>
  <p:tag name="AS_TITLE" val="Aspose.Slides for Java"/>
  <p:tag name="AS_VERSION" val="22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C2068"/>
      </a:accent1>
      <a:accent2>
        <a:srgbClr val="1332A3"/>
      </a:accent2>
      <a:accent3>
        <a:srgbClr val="1A44DE"/>
      </a:accent3>
      <a:accent4>
        <a:srgbClr val="4E70EB"/>
      </a:accent4>
      <a:accent5>
        <a:srgbClr val="89A0F1"/>
      </a:accent5>
      <a:accent6>
        <a:srgbClr val="C4CFF8"/>
      </a:accent6>
      <a:hlink>
        <a:srgbClr val="0000FF"/>
      </a:hlink>
      <a:folHlink>
        <a:srgbClr val="800080"/>
      </a:folHlink>
    </a:clrScheme>
    <a:fontScheme name="Office">
      <a:majorFont>
        <a:latin typeface="Ubuntu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555</Words>
  <Application>Microsoft Office PowerPoint</Application>
  <PresentationFormat>Widescreen</PresentationFormat>
  <Paragraphs>219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Verdana</vt:lpstr>
      <vt:lpstr>Consolas</vt:lpstr>
      <vt:lpstr>Ubuntu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BEFORE – DATA PREPROCESSING</vt:lpstr>
      <vt:lpstr>DATA PREPOCESSING STEPS</vt:lpstr>
      <vt:lpstr>PowerPoint Presentation</vt:lpstr>
      <vt:lpstr>VISUALIZATION</vt:lpstr>
      <vt:lpstr>PowerPoint Presentation</vt:lpstr>
      <vt:lpstr>PowerPoint Presentation</vt:lpstr>
      <vt:lpstr>AFTER – CLEAN PREPROCESSING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Nsenga Ivan MANZI</dc:creator>
  <cp:lastModifiedBy>Student</cp:lastModifiedBy>
  <cp:revision>11</cp:revision>
  <cp:lastPrinted>2025-10-29T18:42:55Z</cp:lastPrinted>
  <dcterms:created xsi:type="dcterms:W3CDTF">2025-10-29T18:42:55Z</dcterms:created>
  <dcterms:modified xsi:type="dcterms:W3CDTF">2025-10-30T09:48:49Z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103079215366">
    <vt:lpwstr>{"text_id":"","defined_color":""}</vt:lpwstr>
  </property>
  <property fmtid="{D5CDD505-2E9C-101B-9397-08002B2CF9AE}" pid="3" name="103079215369">
    <vt:lpwstr>{"text_id":"1512ef0a-55eb-4112-ae10-67ca9954b1ee","defined_color":""}</vt:lpwstr>
  </property>
  <property fmtid="{D5CDD505-2E9C-101B-9397-08002B2CF9AE}" pid="4" name="107374182662">
    <vt:lpwstr>{"text_id":"","defined_color":""}</vt:lpwstr>
  </property>
  <property fmtid="{D5CDD505-2E9C-101B-9397-08002B2CF9AE}" pid="5" name="111669149958">
    <vt:lpwstr>{"text_id":"","defined_color":""}</vt:lpwstr>
  </property>
  <property fmtid="{D5CDD505-2E9C-101B-9397-08002B2CF9AE}" pid="6" name="115964117254">
    <vt:lpwstr>{"color":"white","src":"icons/Information Technology/46753990-c71c-493f-8121-a39b740dd632.svg","media_type":"icon","theme_id":22,"source_type":"ASSET"}</vt:lpwstr>
  </property>
  <property fmtid="{D5CDD505-2E9C-101B-9397-08002B2CF9AE}" pid="7" name="115964117257">
    <vt:lpwstr>{"text_id":"","defined_color":""}</vt:lpwstr>
  </property>
  <property fmtid="{D5CDD505-2E9C-101B-9397-08002B2CF9AE}" pid="8" name="120259084550">
    <vt:lpwstr>{"text_id":"77cb8eff-a8fc-48cb-8c3a-29fbb6afdb95","defined_color":""}</vt:lpwstr>
  </property>
  <property fmtid="{D5CDD505-2E9C-101B-9397-08002B2CF9AE}" pid="9" name="120259084553">
    <vt:lpwstr>{"text_id":"","defined_color":""}</vt:lpwstr>
  </property>
  <property fmtid="{D5CDD505-2E9C-101B-9397-08002B2CF9AE}" pid="10" name="124554051849">
    <vt:lpwstr>{"text_id":"e127e28c-63d2-4750-947f-4296003d2730","defined_color":""}</vt:lpwstr>
  </property>
  <property fmtid="{D5CDD505-2E9C-101B-9397-08002B2CF9AE}" pid="11" name="128849019142">
    <vt:lpwstr>{"text_id":"6aeb6e73-f630-4948-a888-66e42a3e7a5e","defined_color":""}</vt:lpwstr>
  </property>
  <property fmtid="{D5CDD505-2E9C-101B-9397-08002B2CF9AE}" pid="12" name="128849019145">
    <vt:lpwstr>{"text_id":"7ffecb06-8692-43ef-a21f-3a1401a7ce4f","defined_color":""}</vt:lpwstr>
  </property>
  <property fmtid="{D5CDD505-2E9C-101B-9397-08002B2CF9AE}" pid="13" name="12884902147">
    <vt:lpwstr>{"src":"photos/realistic_5/d13da85c-c76b-46ee-8bb5-802ffd0fec73.png","media_type":"photo","theme_id":22,"source_type":"ASSET"}</vt:lpwstr>
  </property>
  <property fmtid="{D5CDD505-2E9C-101B-9397-08002B2CF9AE}" pid="14" name="12884902150">
    <vt:lpwstr>{"text_id":"","defined_color":""}</vt:lpwstr>
  </property>
  <property fmtid="{D5CDD505-2E9C-101B-9397-08002B2CF9AE}" pid="15" name="12884902153">
    <vt:lpwstr>{"text_id":"","defined_color":""}</vt:lpwstr>
  </property>
  <property fmtid="{D5CDD505-2E9C-101B-9397-08002B2CF9AE}" pid="16" name="133143986441">
    <vt:lpwstr>{"text_id":"a3ed59c2-9b06-4647-8560-888518636115","defined_color":""}</vt:lpwstr>
  </property>
  <property fmtid="{D5CDD505-2E9C-101B-9397-08002B2CF9AE}" pid="17" name="141733921030">
    <vt:lpwstr>{"text_id":"","defined_color":""}</vt:lpwstr>
  </property>
  <property fmtid="{D5CDD505-2E9C-101B-9397-08002B2CF9AE}" pid="18" name="146028888326">
    <vt:lpwstr>{"text_id":"","defined_color":""}</vt:lpwstr>
  </property>
  <property fmtid="{D5CDD505-2E9C-101B-9397-08002B2CF9AE}" pid="19" name="150323855622">
    <vt:lpwstr>{"text_id":"","defined_color":""}</vt:lpwstr>
  </property>
  <property fmtid="{D5CDD505-2E9C-101B-9397-08002B2CF9AE}" pid="20" name="154618822918">
    <vt:lpwstr>{"color":"white","src":"icons/City/4f873bd5-7e03-4351-aee9-c334635ba6b7.svg","media_type":"icon","theme_id":22,"source_type":"ASSET"}</vt:lpwstr>
  </property>
  <property fmtid="{D5CDD505-2E9C-101B-9397-08002B2CF9AE}" pid="21" name="158913790214">
    <vt:lpwstr>{"text_id":"8eaa725f-d5c0-4359-bcd4-bbecfdd216be","defined_color":""}</vt:lpwstr>
  </property>
  <property fmtid="{D5CDD505-2E9C-101B-9397-08002B2CF9AE}" pid="22" name="171798692102">
    <vt:lpwstr>{"text_id":"","defined_color":""}</vt:lpwstr>
  </property>
  <property fmtid="{D5CDD505-2E9C-101B-9397-08002B2CF9AE}" pid="23" name="17179869443">
    <vt:lpwstr>{"text_id":"","defined_color":""}</vt:lpwstr>
  </property>
  <property fmtid="{D5CDD505-2E9C-101B-9397-08002B2CF9AE}" pid="24" name="17179869446">
    <vt:lpwstr>{"text_id":"","defined_color":""}</vt:lpwstr>
  </property>
  <property fmtid="{D5CDD505-2E9C-101B-9397-08002B2CF9AE}" pid="25" name="17179869449">
    <vt:lpwstr>{"src":"photos/health/5307f094-d5fc-4f98-93c8-f7e013d81c26.jpg","media_type":"photo","theme_id":22,"source_type":"ASSET"}</vt:lpwstr>
  </property>
  <property fmtid="{D5CDD505-2E9C-101B-9397-08002B2CF9AE}" pid="26" name="176093659398">
    <vt:lpwstr>{"text_id":"","defined_color":""}</vt:lpwstr>
  </property>
  <property fmtid="{D5CDD505-2E9C-101B-9397-08002B2CF9AE}" pid="27" name="180388626694">
    <vt:lpwstr>{"text_id":"","defined_color":""}</vt:lpwstr>
  </property>
  <property fmtid="{D5CDD505-2E9C-101B-9397-08002B2CF9AE}" pid="28" name="184683593990">
    <vt:lpwstr>{"color":"white","src":"icons/Big Data/0e9076d3-7992-4f5f-acf8-8d0bbcca3bdd.svg","media_type":"icon","theme_id":22,"source_type":"ASSET"}</vt:lpwstr>
  </property>
  <property fmtid="{D5CDD505-2E9C-101B-9397-08002B2CF9AE}" pid="29" name="188978561286">
    <vt:lpwstr>{"text_id":"ca7bc7d2-924c-4db0-8e18-e9f6a0a1c853","defined_color":""}</vt:lpwstr>
  </property>
  <property fmtid="{D5CDD505-2E9C-101B-9397-08002B2CF9AE}" pid="30" name="201863463174">
    <vt:lpwstr>{"text_id":"","defined_color":""}</vt:lpwstr>
  </property>
  <property fmtid="{D5CDD505-2E9C-101B-9397-08002B2CF9AE}" pid="31" name="206158430470">
    <vt:lpwstr>{"text_id":"","defined_color":""}</vt:lpwstr>
  </property>
  <property fmtid="{D5CDD505-2E9C-101B-9397-08002B2CF9AE}" pid="32" name="210453397766">
    <vt:lpwstr>{"text_id":"","defined_color":""}</vt:lpwstr>
  </property>
  <property fmtid="{D5CDD505-2E9C-101B-9397-08002B2CF9AE}" pid="33" name="214748365062">
    <vt:lpwstr>{"color":"white","src":"icons/Information Technology/3a646f3d-621c-45a9-a176-e0c6121582b1.svg","media_type":"icon","theme_id":22,"source_type":"ASSET"}</vt:lpwstr>
  </property>
  <property fmtid="{D5CDD505-2E9C-101B-9397-08002B2CF9AE}" pid="34" name="21474836739">
    <vt:lpwstr>{"text_id":"","defined_color":""}</vt:lpwstr>
  </property>
  <property fmtid="{D5CDD505-2E9C-101B-9397-08002B2CF9AE}" pid="35" name="21474836745">
    <vt:lpwstr>{"src":"photos/realistic_3/703b5cfc-e5e3-4b7c-abd2-25a2621556e0.png","media_type":"photo","theme_id":22,"source_type":"ASSET"}</vt:lpwstr>
  </property>
  <property fmtid="{D5CDD505-2E9C-101B-9397-08002B2CF9AE}" pid="36" name="219043332358">
    <vt:lpwstr>{"text_id":"d764af37-5de7-490b-8ace-49de0d250cca","defined_color":""}</vt:lpwstr>
  </property>
  <property fmtid="{D5CDD505-2E9C-101B-9397-08002B2CF9AE}" pid="37" name="231928234246">
    <vt:lpwstr>{"text_id":"","defined_color":""}</vt:lpwstr>
  </property>
  <property fmtid="{D5CDD505-2E9C-101B-9397-08002B2CF9AE}" pid="38" name="236223201542">
    <vt:lpwstr>{"text_id":"","defined_color":""}</vt:lpwstr>
  </property>
  <property fmtid="{D5CDD505-2E9C-101B-9397-08002B2CF9AE}" pid="39" name="240518168838">
    <vt:lpwstr>{"text_id":"","defined_color":""}</vt:lpwstr>
  </property>
  <property fmtid="{D5CDD505-2E9C-101B-9397-08002B2CF9AE}" pid="40" name="244813136134">
    <vt:lpwstr>{"color":"white","src":"icons/City/84446c92-1849-407a-aa87-5e4e594cf91e.svg","media_type":"icon","theme_id":22,"source_type":"ASSET"}</vt:lpwstr>
  </property>
  <property fmtid="{D5CDD505-2E9C-101B-9397-08002B2CF9AE}" pid="41" name="249108103430">
    <vt:lpwstr>{"text_id":"c6f87bfd-18d4-4dfe-9e48-b72fca09fda9","defined_color":""}</vt:lpwstr>
  </property>
  <property fmtid="{D5CDD505-2E9C-101B-9397-08002B2CF9AE}" pid="42" name="25769804041">
    <vt:lpwstr>{"text_id":"","defined_color":""}</vt:lpwstr>
  </property>
  <property fmtid="{D5CDD505-2E9C-101B-9397-08002B2CF9AE}" pid="43" name="261993005318">
    <vt:lpwstr>{"text_id":"","defined_color":""}</vt:lpwstr>
  </property>
  <property fmtid="{D5CDD505-2E9C-101B-9397-08002B2CF9AE}" pid="44" name="266287972614">
    <vt:lpwstr>{"text_id":"","defined_color":""}</vt:lpwstr>
  </property>
  <property fmtid="{D5CDD505-2E9C-101B-9397-08002B2CF9AE}" pid="45" name="270582939910">
    <vt:lpwstr>{"text_id":"","defined_color":""}</vt:lpwstr>
  </property>
  <property fmtid="{D5CDD505-2E9C-101B-9397-08002B2CF9AE}" pid="46" name="274877907206">
    <vt:lpwstr>{"color":"white","src":"icons/Maps &amp; Location/de04092c-81e8-4169-aabd-3d8a64d97686.svg","media_type":"icon","theme_id":22,"source_type":"ASSET"}</vt:lpwstr>
  </property>
  <property fmtid="{D5CDD505-2E9C-101B-9397-08002B2CF9AE}" pid="47" name="279172874502">
    <vt:lpwstr>{"text_id":"359ada62-2bc6-4709-ab6e-57c2ebc9f0f0","defined_color":""}</vt:lpwstr>
  </property>
  <property fmtid="{D5CDD505-2E9C-101B-9397-08002B2CF9AE}" pid="48" name="283467841798">
    <vt:lpwstr>{"text_id":"6c34c966-aa7e-4db7-b9f2-4446890a446f","defined_color":""}</vt:lpwstr>
  </property>
  <property fmtid="{D5CDD505-2E9C-101B-9397-08002B2CF9AE}" pid="49" name="287762809094">
    <vt:lpwstr>{"text_id":"a165ceeb-b39e-49f4-96c5-49884be83e78","defined_color":""}</vt:lpwstr>
  </property>
  <property fmtid="{D5CDD505-2E9C-101B-9397-08002B2CF9AE}" pid="50" name="30064771334">
    <vt:lpwstr>{"text_id":"9e01b99c-a703-4ec9-b2b6-14e288cd9f8a","defined_color":""}</vt:lpwstr>
  </property>
  <property fmtid="{D5CDD505-2E9C-101B-9397-08002B2CF9AE}" pid="51" name="34359738627">
    <vt:lpwstr>{"text_id":"2e71f599-a326-460c-9ae8-978e3243e00e","defined_color":""}</vt:lpwstr>
  </property>
  <property fmtid="{D5CDD505-2E9C-101B-9397-08002B2CF9AE}" pid="52" name="38654705929">
    <vt:lpwstr>{"text_id":"97e57b04-aa37-4aef-837c-cdb32df06adc","defined_color":""}</vt:lpwstr>
  </property>
  <property fmtid="{D5CDD505-2E9C-101B-9397-08002B2CF9AE}" pid="53" name="42949673219">
    <vt:lpwstr>{"text_id":"a462cff6-bba6-49ca-8f99-9539e9ca9e9d","defined_color":""}</vt:lpwstr>
  </property>
  <property fmtid="{D5CDD505-2E9C-101B-9397-08002B2CF9AE}" pid="54" name="42949673222">
    <vt:lpwstr>{"text_id":"","defined_color":""}</vt:lpwstr>
  </property>
  <property fmtid="{D5CDD505-2E9C-101B-9397-08002B2CF9AE}" pid="55" name="47244640518">
    <vt:lpwstr>{"text_id":"","defined_color":""}</vt:lpwstr>
  </property>
  <property fmtid="{D5CDD505-2E9C-101B-9397-08002B2CF9AE}" pid="56" name="51539607811">
    <vt:lpwstr>{"text_id":"1ce6eb78-d8e0-4535-abc8-c3e5f52f8f21","defined_color":""}</vt:lpwstr>
  </property>
  <property fmtid="{D5CDD505-2E9C-101B-9397-08002B2CF9AE}" pid="57" name="51539607814">
    <vt:lpwstr>{"text_id":"","defined_color":""}</vt:lpwstr>
  </property>
  <property fmtid="{D5CDD505-2E9C-101B-9397-08002B2CF9AE}" pid="58" name="51539607817">
    <vt:lpwstr>{"text_id":"","defined_color":""}</vt:lpwstr>
  </property>
  <property fmtid="{D5CDD505-2E9C-101B-9397-08002B2CF9AE}" pid="59" name="55834575110">
    <vt:lpwstr>{"color":"white","src":"icons/Miscellaneous/711e59d0-59b1-4797-8144-64c4ae3182ee.svg","media_type":"icon","theme_id":22,"source_type":"ASSET"}</vt:lpwstr>
  </property>
  <property fmtid="{D5CDD505-2E9C-101B-9397-08002B2CF9AE}" pid="60" name="55834575113">
    <vt:lpwstr>{"text_id":"","defined_color":""}</vt:lpwstr>
  </property>
  <property fmtid="{D5CDD505-2E9C-101B-9397-08002B2CF9AE}" pid="61" name="60129542403">
    <vt:lpwstr>{"text_id":"35f4424e-0a9a-40a2-9a17-4616c7ecf598","defined_color":""}</vt:lpwstr>
  </property>
  <property fmtid="{D5CDD505-2E9C-101B-9397-08002B2CF9AE}" pid="62" name="60129542406">
    <vt:lpwstr>{"text_id":"e95e48c0-58b3-406f-8baf-ba7666092baa","defined_color":""}</vt:lpwstr>
  </property>
  <property fmtid="{D5CDD505-2E9C-101B-9397-08002B2CF9AE}" pid="63" name="60129542409">
    <vt:lpwstr>{"text_id":"f0e46a51-b72c-4ee2-a6c4-3996fdd44ef9","defined_color":""}</vt:lpwstr>
  </property>
  <property fmtid="{D5CDD505-2E9C-101B-9397-08002B2CF9AE}" pid="64" name="68719476995">
    <vt:lpwstr>{"text_id":"36ba43ec-dbfb-416e-a1dd-8ad24a549ef3","defined_color":""}</vt:lpwstr>
  </property>
  <property fmtid="{D5CDD505-2E9C-101B-9397-08002B2CF9AE}" pid="65" name="73014444294">
    <vt:lpwstr>{"text_id":"","defined_color":""}</vt:lpwstr>
  </property>
  <property fmtid="{D5CDD505-2E9C-101B-9397-08002B2CF9AE}" pid="66" name="73014444297">
    <vt:lpwstr>{"text_id":"","defined_color":""}</vt:lpwstr>
  </property>
  <property fmtid="{D5CDD505-2E9C-101B-9397-08002B2CF9AE}" pid="67" name="77309411587">
    <vt:lpwstr>{"text_id":"68bf9b54-71a9-4ebb-88ed-0be1eccdfc44","defined_color":""}</vt:lpwstr>
  </property>
  <property fmtid="{D5CDD505-2E9C-101B-9397-08002B2CF9AE}" pid="68" name="77309411590">
    <vt:lpwstr>{"text_id":"","defined_color":""}</vt:lpwstr>
  </property>
  <property fmtid="{D5CDD505-2E9C-101B-9397-08002B2CF9AE}" pid="69" name="77309411593">
    <vt:lpwstr>{"text_id":"","defined_color":""}</vt:lpwstr>
  </property>
  <property fmtid="{D5CDD505-2E9C-101B-9397-08002B2CF9AE}" pid="70" name="81604378883">
    <vt:lpwstr>{"text_id":"ea0c42e1-7ec8-4412-81c2-9c9936671c33","defined_color":""}</vt:lpwstr>
  </property>
  <property fmtid="{D5CDD505-2E9C-101B-9397-08002B2CF9AE}" pid="71" name="81604378886">
    <vt:lpwstr>{"text_id":"","defined_color":""}</vt:lpwstr>
  </property>
  <property fmtid="{D5CDD505-2E9C-101B-9397-08002B2CF9AE}" pid="72" name="81604378889">
    <vt:lpwstr>{"text_id":"bd223ff2-2ebe-4e7b-bf6d-52708ae98e2f","defined_color":""}</vt:lpwstr>
  </property>
  <property fmtid="{D5CDD505-2E9C-101B-9397-08002B2CF9AE}" pid="73" name="85899346182">
    <vt:lpwstr>{"color":"white","src":"icons/City/24472e25-40d3-49a8-8696-6f6e1b295074.svg","media_type":"icon","theme_id":22,"source_type":"ASSET"}</vt:lpwstr>
  </property>
  <property fmtid="{D5CDD505-2E9C-101B-9397-08002B2CF9AE}" pid="74" name="90194313478">
    <vt:lpwstr>{"text_id":"7b7336be-c1d3-458f-93c0-cb001c0f79b4","defined_color":""}</vt:lpwstr>
  </property>
  <property fmtid="{D5CDD505-2E9C-101B-9397-08002B2CF9AE}" pid="75" name="94489280777">
    <vt:lpwstr>{"text_id":"","defined_color":""}</vt:lpwstr>
  </property>
  <property fmtid="{D5CDD505-2E9C-101B-9397-08002B2CF9AE}" pid="76" name="98784248073">
    <vt:lpwstr>{"text_id":"","defined_color":""}</vt:lpwstr>
  </property>
  <property fmtid="{D5CDD505-2E9C-101B-9397-08002B2CF9AE}" pid="77" name="background">
    <vt:lpwstr>{"defined_color":""}</vt:lpwstr>
  </property>
</Properties>
</file>