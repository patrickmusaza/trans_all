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2" r:id="rId8"/>
    <p:sldId id="266" r:id="rId9"/>
    <p:sldId id="261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772B-9657-87E9-E3C3-2741F63B8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D28E7-1C34-C1F3-CEAC-F9ED17181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ABAE1-CB49-CB34-9DC8-6C418E383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0617-758F-46CE-AF97-6ED2BD00ED6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5642D-138D-0AA4-5A20-C2ADD2B4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424BF-E6BF-FC38-323E-D2F425740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65B6-CB7B-4188-9F37-4AC9FB7AE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43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AE67D-F308-3372-4043-6B1DD9213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FBF1D-39A6-C7CB-B4C2-A5F7D18E5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45D56-500E-C589-BAD0-E0301D3F9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0617-758F-46CE-AF97-6ED2BD00ED6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B7FD1-5ECE-874E-475C-E4EEF2C1D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5765F-29E9-6A21-8005-1E470DA93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65B6-CB7B-4188-9F37-4AC9FB7AE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65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39B21-0585-0F87-7AFD-18E7D56BB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C7195-4001-52B4-ABAD-E7F832E57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DF16D-ED11-D903-E392-D0312083B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0617-758F-46CE-AF97-6ED2BD00ED6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CAB91-9292-BEB7-1C80-C27386C08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A502C-92F0-4ABF-FA93-55F6BBA58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65B6-CB7B-4188-9F37-4AC9FB7AE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856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CCCB2-DE15-5705-83FB-E3FA0DE4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91BD9-3A45-59D4-76EB-0839A611E1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A87378-7270-A0C1-CBD3-17A324715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1471D-34BB-635F-D6D7-C65ACB4F6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0617-758F-46CE-AF97-6ED2BD00ED6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0A5FE1-885C-E31B-B6A0-6ECAB190F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F76D00-6869-E3FE-6D90-E825B43A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65B6-CB7B-4188-9F37-4AC9FB7AE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196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ADB96-10DB-706E-88CA-47A831E39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EC60B-280D-AED2-1199-7C393226F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FBA683-9568-E89B-BF8C-630B40940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255E9F-5960-9288-4C8B-49DB44B4D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DEF328-7DA7-18CC-D6E5-0A8BFFC97D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1D54B8-3909-36F7-158C-0E0BFAA24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0617-758F-46CE-AF97-6ED2BD00ED6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BF9BB0-FA41-02B1-2951-DDE2F4457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247B2-E97D-BA95-D566-5725F022C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65B6-CB7B-4188-9F37-4AC9FB7AE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47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74C3-E317-A832-746D-2FC286662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33BEC-8AF4-B4A3-0BFC-C0E600C39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0617-758F-46CE-AF97-6ED2BD00ED6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4C4A62-1C70-3EC1-23BF-F5CE65F5A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3B51EA-B0B7-6A0B-FB26-FEE397DF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65B6-CB7B-4188-9F37-4AC9FB7AE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431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907D14-64D5-9F3D-F4F6-25E10C72F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0617-758F-46CE-AF97-6ED2BD00ED6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FED3F5-C64E-A5C8-3EDA-C04E379B9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BC463-FB52-F1C7-7737-DA36F2B95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65B6-CB7B-4188-9F37-4AC9FB7AE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52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5863E-B98A-09C2-8DD5-D0BEF0396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24DA7-D8F7-874E-FA6B-135AE03BE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42F24-9844-251D-DABF-1135BFF11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99D3A-0924-F898-F47F-F10E9E198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0617-758F-46CE-AF97-6ED2BD00ED6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601092-3E83-4BCB-12BB-5E8B3BB9B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0B1F74-91E7-5FAE-541E-DD1EA3525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65B6-CB7B-4188-9F37-4AC9FB7AE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572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244D5-9FFF-80DD-9D18-12B10BAD6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0528B8-D7C1-87E1-1788-364EE8651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E14A36-E0A1-25DB-16BB-69F7D7DC9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53B1D-D59D-2628-DBF7-AD98434A5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0617-758F-46CE-AF97-6ED2BD00ED6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0240F-9FD5-8180-84B6-DCFFAB8D4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5AEF80-CE97-3183-4F77-305D1762A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65B6-CB7B-4188-9F37-4AC9FB7AE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630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FA255-3848-855F-AD96-D0C1C346C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A3D40-5E74-8BC3-AE97-1D095CC7D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86633-A5CA-0B02-6D47-1E1D92756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0617-758F-46CE-AF97-6ED2BD00ED6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C4017-30E5-9D45-3C7C-0D4472143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3F314-6A41-D456-29FD-2BA112466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65B6-CB7B-4188-9F37-4AC9FB7AE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266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A083A7-4BB3-5F18-6982-CD940B7C4B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829093-3FB0-9802-6EF0-2D0AA80A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57C9D-DAF1-5426-D0BE-A59745381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0617-758F-46CE-AF97-6ED2BD00ED6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DDB81-98F9-6A7F-7A0D-591D3E7A8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2B6CF-206E-6763-EAA0-B855FE2F9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65B6-CB7B-4188-9F37-4AC9FB7AE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067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9399E5-8FD6-D707-A0C1-9E294BAF9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E295C-1F46-7014-B21D-D2057B460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43FEB-583A-6EE8-7FDD-F3F67A17B2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80617-758F-46CE-AF97-6ED2BD00ED6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8D77B-A7D8-E5BB-7A1A-CAD9F59C67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842E2-53B9-F48D-4AE4-A5CD94C4C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C65B6-CB7B-4188-9F37-4AC9FB7AE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231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wanda-streets.openalfa.com/kigali-city/bus-routes" TargetMode="External"/><Relationship Id="rId2" Type="http://schemas.openxmlformats.org/officeDocument/2006/relationships/hyperlink" Target="https://kigalibusservices.rw/routes/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458A94-51F1-7AC7-11EC-0FE11B789E54}"/>
              </a:ext>
            </a:extLst>
          </p:cNvPr>
          <p:cNvSpPr txBox="1"/>
          <p:nvPr/>
        </p:nvSpPr>
        <p:spPr>
          <a:xfrm>
            <a:off x="3047999" y="462116"/>
            <a:ext cx="45916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UNIVERSITY OF RWANDA</a:t>
            </a:r>
          </a:p>
          <a:p>
            <a:r>
              <a:rPr lang="en-US" dirty="0"/>
              <a:t>COLLEGE OF SCIENCE AND TECHNOLOGY</a:t>
            </a:r>
          </a:p>
          <a:p>
            <a:r>
              <a:rPr lang="en-US" dirty="0"/>
              <a:t>Y3 CSE</a:t>
            </a:r>
          </a:p>
          <a:p>
            <a:r>
              <a:rPr lang="en-US" dirty="0"/>
              <a:t>Computing Intelligence &amp; Applications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A14952-3F3C-1338-D596-7C07AB085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20" y="196645"/>
            <a:ext cx="1715730" cy="17157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46F046-CE8B-80CD-DEB0-77BD8E2955E9}"/>
              </a:ext>
            </a:extLst>
          </p:cNvPr>
          <p:cNvSpPr txBox="1"/>
          <p:nvPr/>
        </p:nvSpPr>
        <p:spPr>
          <a:xfrm>
            <a:off x="894735" y="2202426"/>
            <a:ext cx="89571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ptos Display" panose="020B0004020202020204" pitchFamily="34" charset="0"/>
              </a:rPr>
              <a:t>DATA PREPROCESSING TECHNIQUES IN PROJECT CONTEXT</a:t>
            </a:r>
          </a:p>
          <a:p>
            <a:endParaRPr lang="en-US" sz="2400" b="1" dirty="0">
              <a:latin typeface="Aptos Display" panose="020B0004020202020204" pitchFamily="34" charset="0"/>
            </a:endParaRPr>
          </a:p>
          <a:p>
            <a:r>
              <a:rPr lang="en-US" sz="2400" b="1" dirty="0">
                <a:latin typeface="Aptos Display" panose="020B0004020202020204" pitchFamily="34" charset="0"/>
              </a:rPr>
              <a:t>	</a:t>
            </a:r>
            <a:r>
              <a:rPr lang="en-US" sz="2400" b="1" dirty="0" err="1">
                <a:latin typeface="Aptos Display" panose="020B0004020202020204" pitchFamily="34" charset="0"/>
              </a:rPr>
              <a:t>TransConnect</a:t>
            </a:r>
            <a:r>
              <a:rPr lang="en-US" sz="2400" b="1" dirty="0">
                <a:latin typeface="Aptos Display" panose="020B0004020202020204" pitchFamily="34" charset="0"/>
              </a:rPr>
              <a:t> - CI-Driven Public Transportation 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D15DB0-AA01-4B28-20DA-5894621DFFE0}"/>
              </a:ext>
            </a:extLst>
          </p:cNvPr>
          <p:cNvSpPr txBox="1"/>
          <p:nvPr/>
        </p:nvSpPr>
        <p:spPr>
          <a:xfrm>
            <a:off x="1413385" y="4188542"/>
            <a:ext cx="47686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Group 4 Members: </a:t>
            </a:r>
          </a:p>
          <a:p>
            <a:pPr lvl="1"/>
            <a:r>
              <a:rPr lang="en-US" dirty="0"/>
              <a:t>MUSAZA PATRICK (223019061)</a:t>
            </a:r>
          </a:p>
          <a:p>
            <a:pPr lvl="1"/>
            <a:r>
              <a:rPr lang="en-US" dirty="0"/>
              <a:t>MANZI NSENGA IVAN (223004392)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796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3326F0-98BD-1C68-5270-584F80F7AA2A}"/>
              </a:ext>
            </a:extLst>
          </p:cNvPr>
          <p:cNvSpPr txBox="1"/>
          <p:nvPr/>
        </p:nvSpPr>
        <p:spPr>
          <a:xfrm>
            <a:off x="562896" y="1466024"/>
            <a:ext cx="619432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Bus route information for Kigali public transport</a:t>
            </a:r>
          </a:p>
          <a:p>
            <a:r>
              <a:rPr lang="en-US" dirty="0"/>
              <a:t>Link: </a:t>
            </a:r>
            <a:r>
              <a:rPr lang="en-US" dirty="0">
                <a:hlinkClick r:id="rId2"/>
              </a:rPr>
              <a:t>https://kigalibusservices.rw/routes/</a:t>
            </a:r>
            <a:endParaRPr lang="en-US" dirty="0"/>
          </a:p>
          <a:p>
            <a:r>
              <a:rPr lang="en-US" dirty="0">
                <a:hlinkClick r:id="rId3"/>
              </a:rPr>
              <a:t>https://rwanda-streets.openalfa.com/kigali-city/bus-routes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Data Description: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Tabular data with bus routes, stop names, and coordinates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Multiple routes with sequential stops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Mixed data types: text (stop names) and numeric (coordinates)</a:t>
            </a:r>
          </a:p>
          <a:p>
            <a:endParaRPr lang="en-US" dirty="0"/>
          </a:p>
          <a:p>
            <a:r>
              <a:rPr lang="en-US" b="1" dirty="0"/>
              <a:t>Initial Data Quality Issues:</a:t>
            </a:r>
          </a:p>
          <a:p>
            <a:r>
              <a:rPr lang="en-US" dirty="0"/>
              <a:t>• Inconsistent stop naming conventions</a:t>
            </a:r>
          </a:p>
          <a:p>
            <a:r>
              <a:rPr lang="en-US" dirty="0"/>
              <a:t>• Mixed coordinate formats (S139282 E30.28382)</a:t>
            </a:r>
          </a:p>
          <a:p>
            <a:r>
              <a:rPr lang="en-US" dirty="0"/>
              <a:t>• Potential missing values and duplicates</a:t>
            </a:r>
          </a:p>
          <a:p>
            <a:r>
              <a:rPr lang="en-US" dirty="0"/>
              <a:t>• Non-standardized data structure across routes</a:t>
            </a:r>
          </a:p>
          <a:p>
            <a:endParaRPr lang="en-US" dirty="0"/>
          </a:p>
          <a:p>
            <a:r>
              <a:rPr lang="en-US" b="1" dirty="0"/>
              <a:t>Nature</a:t>
            </a:r>
            <a:r>
              <a:rPr lang="en-US" dirty="0"/>
              <a:t>: </a:t>
            </a:r>
          </a:p>
          <a:p>
            <a:r>
              <a:rPr lang="en-US" dirty="0"/>
              <a:t>Spatial-Temporal Data with Geographic Coordinates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7EDC9D-6ED3-71C6-3B84-9A6F2F52F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6" y="140461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DATASET OVERVIEW</a:t>
            </a:r>
          </a:p>
        </p:txBody>
      </p:sp>
    </p:spTree>
    <p:extLst>
      <p:ext uri="{BB962C8B-B14F-4D97-AF65-F5344CB8AC3E}">
        <p14:creationId xmlns:p14="http://schemas.microsoft.com/office/powerpoint/2010/main" val="68822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E294DB-620A-ECB5-F335-4F369570058A}"/>
              </a:ext>
            </a:extLst>
          </p:cNvPr>
          <p:cNvSpPr txBox="1"/>
          <p:nvPr/>
        </p:nvSpPr>
        <p:spPr>
          <a:xfrm>
            <a:off x="560439" y="2615380"/>
            <a:ext cx="576170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Purpose</a:t>
            </a:r>
            <a:r>
              <a:rPr lang="en-US" dirty="0"/>
              <a:t>: </a:t>
            </a:r>
          </a:p>
          <a:p>
            <a:r>
              <a:rPr lang="en-US" dirty="0"/>
              <a:t>Handle missing, incorrect, and inconsistent data</a:t>
            </a:r>
          </a:p>
          <a:p>
            <a:endParaRPr lang="en-US" dirty="0"/>
          </a:p>
          <a:p>
            <a:r>
              <a:rPr lang="en-US" b="1" dirty="0"/>
              <a:t>Application to </a:t>
            </a:r>
            <a:r>
              <a:rPr lang="en-US" b="1" dirty="0" err="1"/>
              <a:t>TransConnect</a:t>
            </a:r>
            <a:r>
              <a:rPr lang="en-US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Handle duplicates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Clean coordinate formats: Remove ‘S', 'E' characters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Convert to standard decimal degrees: -1.39282, 30.28382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Handle missing stop names or coordinates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C98C34-67FB-5925-2D31-FD344BB3A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DATA CLEANING</a:t>
            </a:r>
          </a:p>
        </p:txBody>
      </p:sp>
    </p:spTree>
    <p:extLst>
      <p:ext uri="{BB962C8B-B14F-4D97-AF65-F5344CB8AC3E}">
        <p14:creationId xmlns:p14="http://schemas.microsoft.com/office/powerpoint/2010/main" val="3051301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E0EDA-BFE2-04AF-C3FD-205F24AC3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B9FE0F-AD60-4FF5-5FF9-508D0C7A6153}"/>
              </a:ext>
            </a:extLst>
          </p:cNvPr>
          <p:cNvSpPr txBox="1"/>
          <p:nvPr/>
        </p:nvSpPr>
        <p:spPr>
          <a:xfrm>
            <a:off x="457200" y="2202425"/>
            <a:ext cx="57961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Integration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Merge multiple route datasets into unified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stops table (unique stops with IDs)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routes table (route sequences referencing stops)</a:t>
            </a:r>
          </a:p>
          <a:p>
            <a:endParaRPr lang="en-US" dirty="0"/>
          </a:p>
          <a:p>
            <a:r>
              <a:rPr lang="en-US" b="1" dirty="0"/>
              <a:t>Impact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• Efficient multi-route management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6A75D7-9001-F194-0EB3-464FCA85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 INTEGRATION</a:t>
            </a:r>
          </a:p>
        </p:txBody>
      </p:sp>
    </p:spTree>
    <p:extLst>
      <p:ext uri="{BB962C8B-B14F-4D97-AF65-F5344CB8AC3E}">
        <p14:creationId xmlns:p14="http://schemas.microsoft.com/office/powerpoint/2010/main" val="1868557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71646F-3B55-736B-2E09-B2D2F28DAD25}"/>
              </a:ext>
            </a:extLst>
          </p:cNvPr>
          <p:cNvSpPr txBox="1"/>
          <p:nvPr/>
        </p:nvSpPr>
        <p:spPr>
          <a:xfrm>
            <a:off x="457200" y="2202425"/>
            <a:ext cx="57961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Reduction: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 irrelevant columns: "Route Price"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Focus on core features: </a:t>
            </a:r>
            <a:r>
              <a:rPr lang="en-US" dirty="0" err="1"/>
              <a:t>stop_id</a:t>
            </a:r>
            <a:r>
              <a:rPr lang="en-US" dirty="0"/>
              <a:t>, latitude, longitude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Deduplicate identical stops across routes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b="1" dirty="0"/>
              <a:t>Impact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Faster processing for route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Foundation for transfer point identification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E90862-DF94-7C4B-DDEC-482156673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REDUCTION</a:t>
            </a:r>
          </a:p>
        </p:txBody>
      </p:sp>
    </p:spTree>
    <p:extLst>
      <p:ext uri="{BB962C8B-B14F-4D97-AF65-F5344CB8AC3E}">
        <p14:creationId xmlns:p14="http://schemas.microsoft.com/office/powerpoint/2010/main" val="1062079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E29C26-7690-80C9-33B1-27C8F67D74B7}"/>
              </a:ext>
            </a:extLst>
          </p:cNvPr>
          <p:cNvSpPr txBox="1"/>
          <p:nvPr/>
        </p:nvSpPr>
        <p:spPr>
          <a:xfrm>
            <a:off x="462116" y="2202427"/>
            <a:ext cx="508327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Purpose</a:t>
            </a:r>
            <a:r>
              <a:rPr lang="en-US" dirty="0"/>
              <a:t>: Convert data into model-ready format</a:t>
            </a:r>
          </a:p>
          <a:p>
            <a:endParaRPr lang="en-US" dirty="0"/>
          </a:p>
          <a:p>
            <a:r>
              <a:rPr lang="en-US" dirty="0"/>
              <a:t>Key Transformations for </a:t>
            </a:r>
            <a:r>
              <a:rPr lang="en-US" dirty="0" err="1"/>
              <a:t>TransConnect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Coordinate validation and normalization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 engineering using Haversine formula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Distance between consecutive stops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Estimated travel time between stops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sequential ordering of stops</a:t>
            </a:r>
          </a:p>
          <a:p>
            <a:endParaRPr lang="en-US" dirty="0"/>
          </a:p>
          <a:p>
            <a:r>
              <a:rPr lang="en-US" b="1" dirty="0"/>
              <a:t>Impact</a:t>
            </a:r>
            <a:r>
              <a:rPr lang="en-US" dirty="0"/>
              <a:t>: </a:t>
            </a:r>
          </a:p>
          <a:p>
            <a:r>
              <a:rPr lang="en-US" dirty="0"/>
              <a:t>Raw coordinates → actionable features for AI model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3DEA87-1E26-4DAB-4E10-0397AEDF1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DATA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474067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A07F95-2DF1-02B2-E1BE-4C5B8F649D4D}"/>
              </a:ext>
            </a:extLst>
          </p:cNvPr>
          <p:cNvSpPr txBox="1"/>
          <p:nvPr/>
        </p:nvSpPr>
        <p:spPr>
          <a:xfrm>
            <a:off x="629265" y="2077742"/>
            <a:ext cx="697107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Purpose:</a:t>
            </a:r>
            <a:r>
              <a:rPr lang="en-US" dirty="0"/>
              <a:t> Convert continuous data into categories for simpler analysis.</a:t>
            </a:r>
          </a:p>
          <a:p>
            <a:endParaRPr lang="en-US" b="1" dirty="0"/>
          </a:p>
          <a:p>
            <a:r>
              <a:rPr lang="en-US" b="1" dirty="0"/>
              <a:t>Data Discretization: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Convert continuous "</a:t>
            </a:r>
            <a:r>
              <a:rPr lang="en-US" dirty="0" err="1"/>
              <a:t>distance_from_start</a:t>
            </a:r>
            <a:r>
              <a:rPr lang="en-US" dirty="0"/>
              <a:t>" into categories: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Bin 1: "Start" (0-2 km)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Bin 2: "Early" (2-5 km)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Bin 3: "Mid" (5-10 km)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Bin 4: "Late" (10+ km)</a:t>
            </a:r>
            <a:br>
              <a:rPr lang="en-US" dirty="0"/>
            </a:b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Enables traffic pattern analysis by route segment</a:t>
            </a:r>
          </a:p>
          <a:p>
            <a:endParaRPr lang="en-US" dirty="0"/>
          </a:p>
          <a:p>
            <a:r>
              <a:rPr lang="en-US" b="1" dirty="0"/>
              <a:t>Impact</a:t>
            </a:r>
            <a:r>
              <a:rPr lang="en-US" dirty="0"/>
              <a:t>: </a:t>
            </a:r>
          </a:p>
          <a:p>
            <a:r>
              <a:rPr lang="en-US" dirty="0"/>
              <a:t>Helps analyze congestion patterns or route efficiency per time segment.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C93BDC-1464-A207-B8DF-86255F611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DATA DISCRETIZATION</a:t>
            </a:r>
          </a:p>
        </p:txBody>
      </p:sp>
    </p:spTree>
    <p:extLst>
      <p:ext uri="{BB962C8B-B14F-4D97-AF65-F5344CB8AC3E}">
        <p14:creationId xmlns:p14="http://schemas.microsoft.com/office/powerpoint/2010/main" val="505675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99BD4-2300-03D9-D6EA-4B289DDFA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A0920C-2836-9DF6-78A3-FADE5F6A6051}"/>
              </a:ext>
            </a:extLst>
          </p:cNvPr>
          <p:cNvSpPr txBox="1"/>
          <p:nvPr/>
        </p:nvSpPr>
        <p:spPr>
          <a:xfrm>
            <a:off x="629265" y="2382542"/>
            <a:ext cx="649912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Purpose:</a:t>
            </a:r>
            <a:r>
              <a:rPr lang="en-US" dirty="0"/>
              <a:t> Enrich the dataset with synthetic variations to improve prediction accuracy.</a:t>
            </a:r>
            <a:br>
              <a:rPr lang="en-US" dirty="0"/>
            </a:br>
            <a:endParaRPr lang="en-US" b="1" dirty="0"/>
          </a:p>
          <a:p>
            <a:r>
              <a:rPr lang="en-US" b="1" dirty="0"/>
              <a:t>Data Augmentation: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 synthetic trips with varying travel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Simulate different conditions: rush hour, weather,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temporal features: </a:t>
            </a:r>
            <a:r>
              <a:rPr lang="en-US" dirty="0" err="1"/>
              <a:t>time_of_day</a:t>
            </a:r>
            <a:r>
              <a:rPr lang="en-US" dirty="0"/>
              <a:t>, </a:t>
            </a:r>
            <a:r>
              <a:rPr lang="en-US" dirty="0" err="1"/>
              <a:t>day_of_week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Impact:</a:t>
            </a:r>
          </a:p>
          <a:p>
            <a:r>
              <a:rPr lang="en-US" dirty="0"/>
              <a:t>More robust and reliable system, even under uncertain or missing data conditions.</a:t>
            </a:r>
            <a:endParaRPr lang="en-US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80FC91-C418-2B71-1599-37A2C9EDA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DATA AUGMENTATION</a:t>
            </a:r>
          </a:p>
        </p:txBody>
      </p:sp>
    </p:spTree>
    <p:extLst>
      <p:ext uri="{BB962C8B-B14F-4D97-AF65-F5344CB8AC3E}">
        <p14:creationId xmlns:p14="http://schemas.microsoft.com/office/powerpoint/2010/main" val="3404270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4CC457-F262-4DA3-8CB9-075BF3A8E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&amp; IMPACT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E927D2-B184-B509-82C4-44F403CFAB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0482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Before Preprocessing:</a:t>
            </a:r>
          </a:p>
          <a:p>
            <a:r>
              <a:rPr lang="en-US" sz="2000" dirty="0"/>
              <a:t>Messy,</a:t>
            </a:r>
            <a:r>
              <a:rPr lang="en-US" dirty="0"/>
              <a:t> </a:t>
            </a:r>
            <a:r>
              <a:rPr lang="en-US" sz="2000" dirty="0"/>
              <a:t>overlapping points on map</a:t>
            </a:r>
          </a:p>
          <a:p>
            <a:r>
              <a:rPr lang="en-US" sz="2000" dirty="0"/>
              <a:t>Inconsistent stop representations</a:t>
            </a:r>
          </a:p>
          <a:p>
            <a:r>
              <a:rPr lang="en-US" sz="2000" dirty="0"/>
              <a:t>Unreliable spatial relationships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9AC637-5C37-BDAE-B241-43B531C28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1949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After Preprocessing:</a:t>
            </a:r>
          </a:p>
          <a:p>
            <a:r>
              <a:rPr lang="en-US" sz="2000" dirty="0"/>
              <a:t>Clean, sequential route visualization</a:t>
            </a:r>
          </a:p>
          <a:p>
            <a:r>
              <a:rPr lang="en-US" sz="2000" dirty="0"/>
              <a:t>Accurate stop positioning</a:t>
            </a:r>
          </a:p>
          <a:p>
            <a:r>
              <a:rPr lang="en-US" sz="2000" dirty="0"/>
              <a:t>Calculated distances and travel times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E551CB-5935-4700-14D1-60F13C507BFA}"/>
              </a:ext>
            </a:extLst>
          </p:cNvPr>
          <p:cNvSpPr txBox="1"/>
          <p:nvPr/>
        </p:nvSpPr>
        <p:spPr>
          <a:xfrm>
            <a:off x="2027903" y="4008847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Impact on Model Readiness: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Clean spatial data for route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Engineered features for arrival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Structured data for CI algorithms (Genetic Algorithms, ML)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Foundation for real-time intelligence system</a:t>
            </a:r>
          </a:p>
        </p:txBody>
      </p:sp>
    </p:spTree>
    <p:extLst>
      <p:ext uri="{BB962C8B-B14F-4D97-AF65-F5344CB8AC3E}">
        <p14:creationId xmlns:p14="http://schemas.microsoft.com/office/powerpoint/2010/main" val="1712238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71E813-EC96-92A8-8E6E-BC9C5F45C44E}"/>
              </a:ext>
            </a:extLst>
          </p:cNvPr>
          <p:cNvSpPr txBox="1"/>
          <p:nvPr/>
        </p:nvSpPr>
        <p:spPr>
          <a:xfrm>
            <a:off x="894736" y="491327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CHALLENGES &amp; LESSONS LEARNED</a:t>
            </a:r>
          </a:p>
          <a:p>
            <a:endParaRPr lang="en-US" dirty="0"/>
          </a:p>
          <a:p>
            <a:r>
              <a:rPr lang="en-US" dirty="0"/>
              <a:t>Challenges Encountered:</a:t>
            </a:r>
            <a:br>
              <a:rPr lang="en-US" dirty="0"/>
            </a:br>
            <a:r>
              <a:rPr lang="en-US" dirty="0"/>
              <a:t>• Interpreting mixed coordinate formats</a:t>
            </a:r>
            <a:br>
              <a:rPr lang="en-US" dirty="0"/>
            </a:br>
            <a:r>
              <a:rPr lang="en-US" dirty="0"/>
              <a:t>• Standardizing stop names without official references</a:t>
            </a:r>
            <a:br>
              <a:rPr lang="en-US" dirty="0"/>
            </a:br>
            <a:r>
              <a:rPr lang="en-US" dirty="0"/>
              <a:t>• Handling incomplete route information</a:t>
            </a:r>
            <a:br>
              <a:rPr lang="en-US" dirty="0"/>
            </a:br>
            <a:r>
              <a:rPr lang="en-US" dirty="0"/>
              <a:t>• Ensuring spatial accuracy for distance calculations</a:t>
            </a:r>
          </a:p>
          <a:p>
            <a:r>
              <a:rPr lang="en-US" dirty="0"/>
              <a:t>Lessons Learned:</a:t>
            </a:r>
            <a:br>
              <a:rPr lang="en-US" dirty="0"/>
            </a:br>
            <a:r>
              <a:rPr lang="en-US" dirty="0"/>
              <a:t>• Data preprocessing is crucial (80% of data science work)</a:t>
            </a:r>
            <a:br>
              <a:rPr lang="en-US" dirty="0"/>
            </a:br>
            <a:r>
              <a:rPr lang="en-US" dirty="0"/>
              <a:t>• Clean, structured data enables effective CI applications</a:t>
            </a:r>
            <a:br>
              <a:rPr lang="en-US" dirty="0"/>
            </a:br>
            <a:r>
              <a:rPr lang="en-US" dirty="0"/>
              <a:t>• Domain knowledge essential for data interpretation</a:t>
            </a:r>
            <a:br>
              <a:rPr lang="en-US" dirty="0"/>
            </a:br>
            <a:r>
              <a:rPr lang="en-US" dirty="0"/>
              <a:t>• Quality preprocessing directly impacts model performance</a:t>
            </a:r>
          </a:p>
          <a:p>
            <a:r>
              <a:rPr lang="en-US" dirty="0"/>
              <a:t>Conclusion: The preprocessed dataset is now ready for:</a:t>
            </a:r>
            <a:br>
              <a:rPr lang="en-US" dirty="0"/>
            </a:br>
            <a:r>
              <a:rPr lang="en-US" dirty="0"/>
              <a:t>• Machine learning model training</a:t>
            </a:r>
            <a:br>
              <a:rPr lang="en-US" dirty="0"/>
            </a:br>
            <a:r>
              <a:rPr lang="en-US" dirty="0"/>
              <a:t>• Route optimization algorithms</a:t>
            </a:r>
            <a:br>
              <a:rPr lang="en-US" dirty="0"/>
            </a:br>
            <a:r>
              <a:rPr lang="en-US" dirty="0"/>
              <a:t>• Real-time arrival prediction systems</a:t>
            </a:r>
            <a:br>
              <a:rPr lang="en-US" dirty="0"/>
            </a:br>
            <a:r>
              <a:rPr lang="en-US" dirty="0"/>
              <a:t>• Intelligent transportation analytics</a:t>
            </a:r>
          </a:p>
        </p:txBody>
      </p:sp>
    </p:spTree>
    <p:extLst>
      <p:ext uri="{BB962C8B-B14F-4D97-AF65-F5344CB8AC3E}">
        <p14:creationId xmlns:p14="http://schemas.microsoft.com/office/powerpoint/2010/main" val="577293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0D2447-AFDD-34EC-DE23-E258C122B80F}"/>
              </a:ext>
            </a:extLst>
          </p:cNvPr>
          <p:cNvSpPr txBox="1"/>
          <p:nvPr/>
        </p:nvSpPr>
        <p:spPr>
          <a:xfrm>
            <a:off x="1327354" y="628978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CODE DEMONSTRATION STRUCTURE</a:t>
            </a:r>
          </a:p>
          <a:p>
            <a:endParaRPr lang="en-US" dirty="0"/>
          </a:p>
          <a:p>
            <a:r>
              <a:rPr lang="en-US" dirty="0"/>
              <a:t>Python Script Sections: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Data Loading &amp; Initial Assessment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Data Cleaning Operations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Data Integration &amp; Deduplication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Feature Engineering (Distance Calculations)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Data Transformation &amp; Discretization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Data Augmentation for Model Training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Visualization of Results</a:t>
            </a:r>
          </a:p>
          <a:p>
            <a:endParaRPr lang="en-US" dirty="0"/>
          </a:p>
          <a:p>
            <a:r>
              <a:rPr lang="en-US" dirty="0"/>
              <a:t>Tools &amp; Libraries:</a:t>
            </a:r>
            <a:br>
              <a:rPr lang="en-US" dirty="0"/>
            </a:br>
            <a:r>
              <a:rPr lang="en-US" dirty="0"/>
              <a:t>• Pandas for data manipulation</a:t>
            </a:r>
            <a:br>
              <a:rPr lang="en-US" dirty="0"/>
            </a:br>
            <a:r>
              <a:rPr lang="en-US" dirty="0"/>
              <a:t>• NumPy for numerical operations</a:t>
            </a:r>
            <a:br>
              <a:rPr lang="en-US" dirty="0"/>
            </a:br>
            <a:r>
              <a:rPr lang="en-US" dirty="0"/>
              <a:t>• Scikit-learn for preprocessing</a:t>
            </a:r>
            <a:br>
              <a:rPr lang="en-US" dirty="0"/>
            </a:br>
            <a:r>
              <a:rPr lang="en-US" dirty="0"/>
              <a:t>• Haversine for distance calculations</a:t>
            </a:r>
            <a:br>
              <a:rPr lang="en-US" dirty="0"/>
            </a:br>
            <a:r>
              <a:rPr lang="en-US" dirty="0"/>
              <a:t>• Matplotlib/</a:t>
            </a:r>
            <a:r>
              <a:rPr lang="en-US" dirty="0" err="1"/>
              <a:t>Plotly</a:t>
            </a:r>
            <a:r>
              <a:rPr lang="en-US" dirty="0"/>
              <a:t> for visualization</a:t>
            </a:r>
            <a:br>
              <a:rPr lang="en-US" dirty="0"/>
            </a:br>
            <a:r>
              <a:rPr lang="en-US" dirty="0"/>
              <a:t>• Folium for map-based displays</a:t>
            </a:r>
          </a:p>
        </p:txBody>
      </p:sp>
    </p:spTree>
    <p:extLst>
      <p:ext uri="{BB962C8B-B14F-4D97-AF65-F5344CB8AC3E}">
        <p14:creationId xmlns:p14="http://schemas.microsoft.com/office/powerpoint/2010/main" val="4070993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740</Words>
  <Application>Microsoft Office PowerPoint</Application>
  <PresentationFormat>Widescreen</PresentationFormat>
  <Paragraphs>123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 Display</vt:lpstr>
      <vt:lpstr>Arial</vt:lpstr>
      <vt:lpstr>Calibri</vt:lpstr>
      <vt:lpstr>Calibri Light</vt:lpstr>
      <vt:lpstr>Office Theme</vt:lpstr>
      <vt:lpstr>PowerPoint Presentation</vt:lpstr>
      <vt:lpstr>DATASET OVERVIEW</vt:lpstr>
      <vt:lpstr>1. DATA CLEANING</vt:lpstr>
      <vt:lpstr>2. DATA INTEGRATION</vt:lpstr>
      <vt:lpstr>3. DATA REDUCTION</vt:lpstr>
      <vt:lpstr>4. DATA TRANSFORMATION</vt:lpstr>
      <vt:lpstr>5. DATA DISCRETIZATION</vt:lpstr>
      <vt:lpstr>6. DATA AUGMENTATION</vt:lpstr>
      <vt:lpstr>VISUALIZATION &amp; IMPACT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MUSAZA</dc:creator>
  <cp:lastModifiedBy>PATRICK MUSAZA</cp:lastModifiedBy>
  <cp:revision>5</cp:revision>
  <dcterms:created xsi:type="dcterms:W3CDTF">2025-10-29T12:24:02Z</dcterms:created>
  <dcterms:modified xsi:type="dcterms:W3CDTF">2025-10-29T20:24:07Z</dcterms:modified>
</cp:coreProperties>
</file>